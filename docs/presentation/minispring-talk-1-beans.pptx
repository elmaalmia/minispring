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Set the contract in one sentence: by the end you will have seen everything that happens between writing @Component and holding the object.
Say that this is part one of two, and what part two covers: proxies, @Transactional and auto-configuration. Nobody should feel they are missing half a story.
Say who you are in ten seconds. The credibility comes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agenda out loud. Point at two things: the javap demo, and the error messages at the end.
Tell them about the lightning symbol in the notes: deep dives for people who already know Spring. Beginners can let those wash over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here uses @Autowired every day? Most hands go up. Then: who has read the class that processes it? Almost none.
That gap is the whole talk. Do not apologise for it: nobody reads AutowiredAnnotationBeanPostProcessor, because it is 700 lines of edge cases. Mine is 40.
Keep this slide short, thirty seconds. The energy comes from the question, not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no more. Many juniors have never seen a WAR file; many seniors deployed hundreds. Frame it as ownership: who starts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line is the callout, and it pays off twice: on the XML slide later, and in part 2 with auto-configuration.
If someone asks why XML lost: annotations put the metadata next to the code it describes. XML kept it in a file nobody opened. Both feed the same model.
Do not spend more than ninety seconds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as a reversal: before, Tomcat started and then loaded your application. Now your application starts, and then starts Tomcat. Everything else follows: one app per JVM, one container image, deploy by running a process.
If you have time for one anecdote, tell the story of a shared Tomcat with five WARs where one memory leak took down all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This is the part I added after a talk where people understood the mechanism but not the point. Do not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not at the container. Ask the room to picture this code in a real service with forty beans.
Take the four bullets one by one, they are the four pains that justify everything that follows. The last one matters more than people expect: shutdown order is exactly what @PreDestroy solves later.
Do not say 'boilerplate'. Say 'the caller has to know everything'. That is the real problem, and it sets up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to land, slowly: the class still asks for what it needs, it simply no longer decides what it gets.
The third bullet is the argument that convinces seniors: constructor injection means your tests need no framework. new OrderServiceImpl(fakeRepository, audit) and you are done. That is why field injection is discouraged — it takes that away.
Close with the callout: the pattern is the point, the container is the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rules. The first four are this talk, the last two are part 2. Say that: it tells the audience where the story stops today.
The line that lands: Spring's DefaultListableBeanFactory is 2,000 lines, but the model underneath is a map from name to object. Everything else is rules about how entries get in there, and in which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minutes, and the heart of the talk. Slow down: this is where beginners either get it or lose the thread.
The sentence to repeat three times: an annotation does nothing, something has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file in the IDE if you can, it is more convincing than a slide.
Insist: there is no behaviour anywhere in this file. Beginners assume @Component does something. It does not. It is a sticker.
Then set up the next slide: so if it does nothing, how does a class end up in the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boxes left to right, one sentence each: the sticker, the class file, the reader.
The metaphor to use out loud: the annotation is a sticker on a box, reflection is the pair of glasses, the container is the person who acts on what is written. Remove any of the three and nothing happens.
The red line at the bottom is the demo you are about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Run javap live if the room is small, otherwise play the recording. Rehearse it: the command must be one line, already typed, in a large font.
Script: compile, run javap, point at RuntimeVisibleAnnotations. Then change RUNTIME to CLASS in Component.java, recompile, run javap again: the attribute name changed. Run the app: NoSuchBeanException.
Bolt for seniors: SOURCE retention disappears at compile time entirely — that is what Lombok and annotation processors use, because they work before the class file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IF LATE] this is a reference slide; the javap demo already made the point.
Keep it to sixty seconds. The useful nuance: CLASS is the default, which is exactly the wrong default for framework authors. That is why the mistake is so common.
Bolt: Spring 6 and Quarkus read annotations at build time now, which brings us back to the SOURCE and CLASS rows. The annotations did not change; the moment they are read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turns 'framework magic' into 'a list of JDK methods'. Read the first column slowly.
Mention setAccessible in passing: the container calls constructors and methods that are not public, and that is normal — it is a deliberate, documented choice in the code.
Bolt: this is also why reflection-heavy frameworks are slow to start and hard to compile natively. Each of these calls costs, and none of them is visible to the compiler.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The table on the next slide is the one people photograph — pause and say so.
Then two zooms only, and the three slides that close the story: scopes, lifecycle,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promise out loud: photograph this slide, it is the map of the part of Spring we are covering today.
Then use the last column to make the point that annotations are not special. Everyone who wrote Spring XML in 2010 recognises init-method and scope=prototype. The container has not changed; the way we write metadata has.
Do not read every row. Read the @Component row and the @PostConstruct row, then move on.
Note for yourself: several class names are identical on both sides because I deliberately mirrored Spring's naming. It helps people navigate the real Spring source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who has already written Spring in XML? The hands tell you how much history to give.
Point at the three XML attributes that survived as annotations: init-method became @PostConstruct, destroy-method became @PreDestroy, scope became @Scope. Same model, different spelling.
Then be fair to XML: it kept configuration outside the code, which is exactly what you still want for things that change per environment. What killed it was putting the wiring there too.
Bolt: Java configuration is the interesting middle ground — it is code, so it is typed and refactorable, and it stays outside the class, so a library class you do not own can still become a bean.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IF LATE] the idea survives without the code, if you are behind.
The line that surprises people: there is no way to ask Java for the classes of a package. You ask the class loader where the folder is and you read files. Spring does the same, with more cases.
Bolt: this is also why my scanner does not see classes inside jars, and why Spring Boot's auto-configuration uses an index file instead of scanning — which is a part 2 story.
Mention the sorting: a one-line decision that makes startup deterministic and tests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bullet answers a question juniors always have: why do I see @Autowired in old code but not in new code? Because with a single constructor it became unnecessary in Spring 4.3.
Read the error message out loud, slowly. Then say: this is a design decision, not a detail. Spring's version of this message is famously unhelpful, and it costs the ecosystem thousands of hours.
Bolt: parameter names only survive compilation with the -parameters flag. Without it you get arg0, which is why the message would be useless.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callout is the part worth the slide. Explain why: the singleton is built once, so its constructor runs once, so it receives exactly one prototype and keeps it for ever.
The fix in Spring: inject an ObjectProvider or a Provider and ask for a fresh instance each time. In my container, ask the context. Say it in one sentence, do not go further.
Two tests in the repository state both rules: returnsANewPrototypeOnEveryLookup and injectsAPrototypeIntoASingletonOnlyOnce.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fourth pain from the wiring-by-hand slide: who closes what, and in which order. Point back to it.
Reverse order is not a detail: a repository must still work while the service that uses it is shutting down. Spring does exactly the same.
Bolt: the container keeps the raw bean for @PreDestroy, not the proxy, because a JDK proxy only exposes interface methods. That is a part 2 detail, drop it if nobody is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interview question, and now you can answer it from the mechanism rather than from memory.
How the chain is printed: the container keeps the beans being created in an insertion-ordered set. When one is requested while still in that set, the set read from that bean onwards is the cycle.
If someone says Spring handles cycles fine: it does, for field injection, and Spring Boot 2.6 turned that off by default. The reason is exactly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slide. Walk it once, quickly, naming the annotation that matters at each step.
Then point at steps 7 and 8, and say: this is where part 2 starts. The bean is built, and something is about to replace it.
[CUT IF LATE] it repeats what they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sentences, then stop talking.
The call to action that works: clone it and read the commit history in order, one concept per commit.
Announce part 2 in one sentence, then open the floor. Expected questions: field injection, why no CGLIB, is it production-ready (no,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731520" y="1234440"/>
            <a:ext cx="7772400" cy="365760"/>
          </a:xfrm>
          <a:prstGeom prst="rect">
            <a:avLst/>
          </a:prstGeom>
          <a:noFill/>
          <a:ln/>
        </p:spPr>
        <p:txBody>
          <a:bodyPr wrap="square" lIns="0" tIns="0" rIns="0" bIns="0" rtlCol="0" anchor="ctr"/>
          <a:lstStyle/>
          <a:p>
            <a:pPr indent="0" marL="0">
              <a:buNone/>
            </a:pPr>
            <a:r>
              <a:rPr lang="en-US" sz="1600" dirty="0">
                <a:solidFill>
                  <a:srgbClr val="2F9E44"/>
                </a:solidFill>
                <a:latin typeface="Calibri" pitchFamily="34" charset="0"/>
                <a:ea typeface="Calibri" pitchFamily="34" charset="-122"/>
                <a:cs typeface="Calibri" pitchFamily="34" charset="-120"/>
              </a:rPr>
              <a:t>Spring is not magic  ·  part 1 of 2</a:t>
            </a:r>
            <a:endParaRPr lang="en-US" sz="1600" dirty="0"/>
          </a:p>
        </p:txBody>
      </p:sp>
      <p:sp>
        <p:nvSpPr>
          <p:cNvPr id="3" name="Text 1"/>
          <p:cNvSpPr txBox="1"/>
          <p:nvPr/>
        </p:nvSpPr>
        <p:spPr>
          <a:xfrm>
            <a:off x="731520" y="1645920"/>
            <a:ext cx="77724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a bean is born</a:t>
            </a:r>
            <a:endParaRPr lang="en-US" sz="4000" dirty="0"/>
          </a:p>
        </p:txBody>
      </p:sp>
      <p:sp>
        <p:nvSpPr>
          <p:cNvPr id="4" name="Text 2"/>
          <p:cNvSpPr txBox="1"/>
          <p:nvPr/>
        </p:nvSpPr>
        <p:spPr>
          <a:xfrm>
            <a:off x="731520" y="2606040"/>
            <a:ext cx="7772400" cy="457200"/>
          </a:xfrm>
          <a:prstGeom prst="rect">
            <a:avLst/>
          </a:prstGeom>
          <a:noFill/>
          <a:ln/>
        </p:spPr>
        <p:txBody>
          <a:bodyPr wrap="square" lIns="0" tIns="0" rIns="0" bIns="0" rtlCol="0" anchor="ctr"/>
          <a:lstStyle/>
          <a:p>
            <a:pPr indent="0" marL="0">
              <a:buNone/>
            </a:pPr>
            <a:r>
              <a:rPr lang="en-US" sz="1800" dirty="0">
                <a:solidFill>
                  <a:srgbClr val="9FB3C8"/>
                </a:solidFill>
                <a:latin typeface="Calibri" pitchFamily="34" charset="0"/>
                <a:ea typeface="Calibri" pitchFamily="34" charset="-122"/>
                <a:cs typeface="Calibri" pitchFamily="34" charset="-120"/>
              </a:rPr>
              <a:t>Scanning, injection, scopes, lifecycle — the whole path from @Component to your object</a:t>
            </a:r>
            <a:endParaRPr lang="en-US" sz="1800" dirty="0"/>
          </a:p>
        </p:txBody>
      </p:sp>
      <p:sp>
        <p:nvSpPr>
          <p:cNvPr id="5" name="Shape 3"/>
          <p:cNvSpPr/>
          <p:nvPr/>
        </p:nvSpPr>
        <p:spPr>
          <a:xfrm>
            <a:off x="731520" y="3383280"/>
            <a:ext cx="4206240" cy="502920"/>
          </a:xfrm>
          <a:prstGeom prst="roundRect">
            <a:avLst>
              <a:gd name="adj" fmla="val 18182"/>
            </a:avLst>
          </a:prstGeom>
          <a:solidFill>
            <a:srgbClr val="2F9E44"/>
          </a:solidFill>
          <a:ln/>
        </p:spPr>
      </p:sp>
      <p:sp>
        <p:nvSpPr>
          <p:cNvPr id="6" name="Text 4"/>
          <p:cNvSpPr txBox="1"/>
          <p:nvPr/>
        </p:nvSpPr>
        <p:spPr>
          <a:xfrm>
            <a:off x="731520" y="3383280"/>
            <a:ext cx="420624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github.com/ELMAALMIA/minispring</a:t>
            </a:r>
            <a:endParaRPr lang="en-US" sz="1300" dirty="0"/>
          </a:p>
        </p:txBody>
      </p:sp>
      <p:sp>
        <p:nvSpPr>
          <p:cNvPr id="7" name="Text 5"/>
          <p:cNvSpPr txBox="1"/>
          <p:nvPr/>
        </p:nvSpPr>
        <p:spPr>
          <a:xfrm>
            <a:off x="731520" y="4114800"/>
            <a:ext cx="7772400" cy="365760"/>
          </a:xfrm>
          <a:prstGeom prst="rect">
            <a:avLst/>
          </a:prstGeom>
          <a:noFill/>
          <a:ln/>
        </p:spPr>
        <p:txBody>
          <a:bodyPr wrap="square" lIns="0" tIns="0" rIns="0" bIns="0" rtlCol="0" anchor="ctr"/>
          <a:lstStyle/>
          <a:p>
            <a:pPr indent="0" marL="0">
              <a:buNone/>
            </a:pPr>
            <a:r>
              <a:rPr lang="en-US" sz="1400" dirty="0">
                <a:solidFill>
                  <a:srgbClr val="7C93A8"/>
                </a:solidFill>
                <a:latin typeface="Calibri" pitchFamily="34" charset="0"/>
                <a:ea typeface="Calibri" pitchFamily="34" charset="-122"/>
                <a:cs typeface="Calibri" pitchFamily="34" charset="-120"/>
              </a:rPr>
              <a:t>Ayoub EL Maalmi  ·  Java &amp; Spring Boot  ·  45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Where we are going</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Six steps, from what Spring is to a fully built bean</a:t>
            </a:r>
            <a:endParaRPr lang="en-US" sz="1500" dirty="0"/>
          </a:p>
        </p:txBody>
      </p:sp>
      <p:sp>
        <p:nvSpPr>
          <p:cNvPr id="4" name="Shape 2"/>
          <p:cNvSpPr/>
          <p:nvPr/>
        </p:nvSpPr>
        <p:spPr>
          <a:xfrm>
            <a:off x="502920" y="1600200"/>
            <a:ext cx="384048" cy="384048"/>
          </a:xfrm>
          <a:prstGeom prst="ellipse">
            <a:avLst/>
          </a:prstGeom>
          <a:solidFill>
            <a:srgbClr val="2F9E44"/>
          </a:solidFill>
          <a:ln/>
        </p:spPr>
      </p:sp>
      <p:sp>
        <p:nvSpPr>
          <p:cNvPr id="5" name="Text 3"/>
          <p:cNvSpPr txBox="1"/>
          <p:nvPr/>
        </p:nvSpPr>
        <p:spPr>
          <a:xfrm>
            <a:off x="502920" y="1600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33272" y="156362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Spring, then Spring Boot</a:t>
            </a:r>
            <a:endParaRPr lang="en-US" sz="1500" dirty="0"/>
          </a:p>
        </p:txBody>
      </p:sp>
      <p:sp>
        <p:nvSpPr>
          <p:cNvPr id="7" name="Text 5"/>
          <p:cNvSpPr txBox="1"/>
          <p:nvPr/>
        </p:nvSpPr>
        <p:spPr>
          <a:xfrm>
            <a:off x="1033272" y="1837944"/>
            <a:ext cx="3383280" cy="45720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WAR, JAR, who owns the server</a:t>
            </a:r>
            <a:endParaRPr lang="en-US" sz="1200" dirty="0"/>
          </a:p>
        </p:txBody>
      </p:sp>
      <p:sp>
        <p:nvSpPr>
          <p:cNvPr id="8" name="Shape 6"/>
          <p:cNvSpPr/>
          <p:nvPr/>
        </p:nvSpPr>
        <p:spPr>
          <a:xfrm>
            <a:off x="502920" y="2560320"/>
            <a:ext cx="384048" cy="384048"/>
          </a:xfrm>
          <a:prstGeom prst="ellipse">
            <a:avLst/>
          </a:prstGeom>
          <a:solidFill>
            <a:srgbClr val="2F9E44"/>
          </a:solidFill>
          <a:ln/>
        </p:spPr>
      </p:sp>
      <p:sp>
        <p:nvSpPr>
          <p:cNvPr id="9" name="Text 7"/>
          <p:cNvSpPr txBox="1"/>
          <p:nvPr/>
        </p:nvSpPr>
        <p:spPr>
          <a:xfrm>
            <a:off x="50292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33272" y="252374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Why injection at all</a:t>
            </a:r>
            <a:endParaRPr lang="en-US" sz="1500" dirty="0"/>
          </a:p>
        </p:txBody>
      </p:sp>
      <p:sp>
        <p:nvSpPr>
          <p:cNvPr id="11" name="Text 9"/>
          <p:cNvSpPr txBox="1"/>
          <p:nvPr/>
        </p:nvSpPr>
        <p:spPr>
          <a:xfrm>
            <a:off x="1033272" y="2798064"/>
            <a:ext cx="3383280" cy="45720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who chooses the implementation</a:t>
            </a:r>
            <a:endParaRPr lang="en-US" sz="1200" dirty="0"/>
          </a:p>
        </p:txBody>
      </p:sp>
      <p:sp>
        <p:nvSpPr>
          <p:cNvPr id="12" name="Shape 10"/>
          <p:cNvSpPr/>
          <p:nvPr/>
        </p:nvSpPr>
        <p:spPr>
          <a:xfrm>
            <a:off x="502920" y="3520440"/>
            <a:ext cx="384048" cy="384048"/>
          </a:xfrm>
          <a:prstGeom prst="ellipse">
            <a:avLst/>
          </a:prstGeom>
          <a:solidFill>
            <a:srgbClr val="2F9E44"/>
          </a:solidFill>
          <a:ln/>
        </p:spPr>
      </p:sp>
      <p:sp>
        <p:nvSpPr>
          <p:cNvPr id="13" name="Text 11"/>
          <p:cNvSpPr txBox="1"/>
          <p:nvPr/>
        </p:nvSpPr>
        <p:spPr>
          <a:xfrm>
            <a:off x="50292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33272" y="348386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What an annotation really is</a:t>
            </a:r>
            <a:endParaRPr lang="en-US" sz="1500" dirty="0"/>
          </a:p>
        </p:txBody>
      </p:sp>
      <p:sp>
        <p:nvSpPr>
          <p:cNvPr id="15" name="Text 13"/>
          <p:cNvSpPr txBox="1"/>
          <p:nvPr/>
        </p:nvSpPr>
        <p:spPr>
          <a:xfrm>
            <a:off x="1033272" y="3758184"/>
            <a:ext cx="3383280" cy="45720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bytecode, javap, reflection</a:t>
            </a:r>
            <a:endParaRPr lang="en-US" sz="1200" dirty="0"/>
          </a:p>
        </p:txBody>
      </p:sp>
      <p:sp>
        <p:nvSpPr>
          <p:cNvPr id="16" name="Shape 14"/>
          <p:cNvSpPr/>
          <p:nvPr/>
        </p:nvSpPr>
        <p:spPr>
          <a:xfrm>
            <a:off x="4709160" y="1600200"/>
            <a:ext cx="384048" cy="384048"/>
          </a:xfrm>
          <a:prstGeom prst="ellipse">
            <a:avLst/>
          </a:prstGeom>
          <a:solidFill>
            <a:srgbClr val="2E3A47"/>
          </a:solidFill>
          <a:ln/>
        </p:spPr>
      </p:sp>
      <p:sp>
        <p:nvSpPr>
          <p:cNvPr id="17" name="Text 15"/>
          <p:cNvSpPr txBox="1"/>
          <p:nvPr/>
        </p:nvSpPr>
        <p:spPr>
          <a:xfrm>
            <a:off x="4709160" y="1600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5239512" y="156362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Who reads which annotation</a:t>
            </a:r>
            <a:endParaRPr lang="en-US" sz="1500" dirty="0"/>
          </a:p>
        </p:txBody>
      </p:sp>
      <p:sp>
        <p:nvSpPr>
          <p:cNvPr id="19" name="Text 17"/>
          <p:cNvSpPr txBox="1"/>
          <p:nvPr/>
        </p:nvSpPr>
        <p:spPr>
          <a:xfrm>
            <a:off x="5239512" y="1837944"/>
            <a:ext cx="3383280" cy="45720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minispring, Spring, and XML</a:t>
            </a:r>
            <a:endParaRPr lang="en-US" sz="1200" dirty="0"/>
          </a:p>
        </p:txBody>
      </p:sp>
      <p:sp>
        <p:nvSpPr>
          <p:cNvPr id="20" name="Shape 18"/>
          <p:cNvSpPr/>
          <p:nvPr/>
        </p:nvSpPr>
        <p:spPr>
          <a:xfrm>
            <a:off x="4709160" y="2560320"/>
            <a:ext cx="384048" cy="384048"/>
          </a:xfrm>
          <a:prstGeom prst="ellipse">
            <a:avLst/>
          </a:prstGeom>
          <a:solidFill>
            <a:srgbClr val="2E3A47"/>
          </a:solidFill>
          <a:ln/>
        </p:spPr>
      </p:sp>
      <p:sp>
        <p:nvSpPr>
          <p:cNvPr id="21" name="Text 19"/>
          <p:cNvSpPr txBox="1"/>
          <p:nvPr/>
        </p:nvSpPr>
        <p:spPr>
          <a:xfrm>
            <a:off x="470916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5239512" y="252374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Creating the bean</a:t>
            </a:r>
            <a:endParaRPr lang="en-US" sz="1500" dirty="0"/>
          </a:p>
        </p:txBody>
      </p:sp>
      <p:sp>
        <p:nvSpPr>
          <p:cNvPr id="23" name="Text 21"/>
          <p:cNvSpPr txBox="1"/>
          <p:nvPr/>
        </p:nvSpPr>
        <p:spPr>
          <a:xfrm>
            <a:off x="5239512" y="2798064"/>
            <a:ext cx="3383280" cy="45720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constructor, scopes, lifecycle, cycles</a:t>
            </a:r>
            <a:endParaRPr lang="en-US" sz="1200" dirty="0"/>
          </a:p>
        </p:txBody>
      </p:sp>
      <p:sp>
        <p:nvSpPr>
          <p:cNvPr id="24" name="Shape 22"/>
          <p:cNvSpPr/>
          <p:nvPr/>
        </p:nvSpPr>
        <p:spPr>
          <a:xfrm>
            <a:off x="4709160" y="3520440"/>
            <a:ext cx="384048" cy="384048"/>
          </a:xfrm>
          <a:prstGeom prst="ellipse">
            <a:avLst/>
          </a:prstGeom>
          <a:solidFill>
            <a:srgbClr val="2E3A47"/>
          </a:solidFill>
          <a:ln/>
        </p:spPr>
      </p:sp>
      <p:sp>
        <p:nvSpPr>
          <p:cNvPr id="25" name="Text 23"/>
          <p:cNvSpPr txBox="1"/>
          <p:nvPr/>
        </p:nvSpPr>
        <p:spPr>
          <a:xfrm>
            <a:off x="470916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5239512" y="3483864"/>
            <a:ext cx="3383280" cy="27432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Takeaways</a:t>
            </a:r>
            <a:endParaRPr lang="en-US" sz="1500" dirty="0"/>
          </a:p>
        </p:txBody>
      </p:sp>
      <p:sp>
        <p:nvSpPr>
          <p:cNvPr id="27" name="Text 25"/>
          <p:cNvSpPr txBox="1"/>
          <p:nvPr/>
        </p:nvSpPr>
        <p:spPr>
          <a:xfrm>
            <a:off x="5239512" y="3758184"/>
            <a:ext cx="3383280" cy="457200"/>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and what part 2 covers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You have written this a thousand times</a:t>
            </a:r>
            <a:endParaRPr lang="en-US" sz="3000" dirty="0"/>
          </a:p>
        </p:txBody>
      </p:sp>
      <p:sp>
        <p:nvSpPr>
          <p:cNvPr id="3" name="Shape 1"/>
          <p:cNvSpPr/>
          <p:nvPr/>
        </p:nvSpPr>
        <p:spPr>
          <a:xfrm>
            <a:off x="457200" y="1371600"/>
            <a:ext cx="4754880" cy="2011680"/>
          </a:xfrm>
          <a:prstGeom prst="roundRect">
            <a:avLst>
              <a:gd name="adj" fmla="val 2727"/>
            </a:avLst>
          </a:prstGeom>
          <a:solidFill>
            <a:srgbClr val="F1F3F5"/>
          </a:solidFill>
          <a:ln w="12700">
            <a:solidFill>
              <a:srgbClr val="DEE2E6"/>
            </a:solidFill>
            <a:prstDash val="solid"/>
          </a:ln>
        </p:spPr>
      </p:sp>
      <p:sp>
        <p:nvSpPr>
          <p:cNvPr id="4" name="Text 2"/>
          <p:cNvSpPr txBox="1"/>
          <p:nvPr/>
        </p:nvSpPr>
        <p:spPr>
          <a:xfrm>
            <a:off x="621792" y="1481328"/>
            <a:ext cx="4425696" cy="1792224"/>
          </a:xfrm>
          <a:prstGeom prst="rect">
            <a:avLst/>
          </a:prstGeom>
          <a:noFill/>
          <a:ln/>
        </p:spPr>
        <p:txBody>
          <a:bodyPr wrap="square" lIns="0" tIns="0" rIns="0" bIns="0" rtlCol="0" anchor="ctr"/>
          <a:lstStyle/>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@Service</a:t>
            </a: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public class OrderService {</a:t>
            </a:r>
            <a:endParaRPr lang="en-US" sz="1500" dirty="0"/>
          </a:p>
          <a:p>
            <a:pPr indent="0" marL="0">
              <a:lnSpc>
                <a:spcPct val="115000"/>
              </a:lnSpc>
              <a:buNone/>
            </a:pP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    @Autowired</a:t>
            </a: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    private OrderRepository repository;</a:t>
            </a:r>
            <a:endParaRPr lang="en-US" sz="1500" dirty="0"/>
          </a:p>
          <a:p>
            <a:pPr indent="0" marL="0">
              <a:lnSpc>
                <a:spcPct val="115000"/>
              </a:lnSpc>
              <a:buNone/>
            </a:pPr>
            <a:r>
              <a:rPr lang="en-US" sz="1500" dirty="0">
                <a:solidFill>
                  <a:srgbClr val="22303C"/>
                </a:solidFill>
                <a:latin typeface="Courier New" pitchFamily="34" charset="0"/>
                <a:ea typeface="Courier New" pitchFamily="34" charset="-122"/>
                <a:cs typeface="Courier New" pitchFamily="34" charset="-120"/>
              </a:rPr>
              <a:t>}</a:t>
            </a:r>
            <a:endParaRPr lang="en-US" sz="1500" dirty="0"/>
          </a:p>
        </p:txBody>
      </p:sp>
      <p:sp>
        <p:nvSpPr>
          <p:cNvPr id="5" name="Text 3"/>
          <p:cNvSpPr txBox="1"/>
          <p:nvPr/>
        </p:nvSpPr>
        <p:spPr>
          <a:xfrm>
            <a:off x="5486400" y="1554480"/>
            <a:ext cx="3291840" cy="457200"/>
          </a:xfrm>
          <a:prstGeom prst="rect">
            <a:avLst/>
          </a:prstGeom>
          <a:noFill/>
          <a:ln/>
        </p:spPr>
        <p:txBody>
          <a:bodyPr wrap="square" lIns="0" tIns="0" rIns="0" bIns="0" rtlCol="0" anchor="ctr"/>
          <a:lstStyle/>
          <a:p>
            <a:pPr indent="0" marL="0">
              <a:buNone/>
            </a:pPr>
            <a:r>
              <a:rPr lang="en-US" sz="2200" b="1" dirty="0">
                <a:solidFill>
                  <a:srgbClr val="22303C"/>
                </a:solidFill>
                <a:latin typeface="Cambria" pitchFamily="34" charset="0"/>
                <a:ea typeface="Cambria" pitchFamily="34" charset="-122"/>
                <a:cs typeface="Cambria" pitchFamily="34" charset="-120"/>
              </a:rPr>
              <a:t>Who creates this object?</a:t>
            </a:r>
            <a:endParaRPr lang="en-US" sz="2200" dirty="0"/>
          </a:p>
        </p:txBody>
      </p:sp>
      <p:sp>
        <p:nvSpPr>
          <p:cNvPr id="6" name="Text 4"/>
          <p:cNvSpPr txBox="1"/>
          <p:nvPr/>
        </p:nvSpPr>
        <p:spPr>
          <a:xfrm>
            <a:off x="5486400" y="2057400"/>
            <a:ext cx="3291840" cy="73152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And how does it know what to put inside?</a:t>
            </a:r>
            <a:endParaRPr lang="en-US" sz="1600" dirty="0"/>
          </a:p>
        </p:txBody>
      </p:sp>
      <p:sp>
        <p:nvSpPr>
          <p:cNvPr id="7" name="Shape 5"/>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Today we read the answer, line by line. It is not magic, it is about 1,200 lines.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Spring, then Spring Boot</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What actually changed between the two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Twenty years, one model</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source of metadata changed. The model never did.</a:t>
            </a:r>
            <a:endParaRPr lang="en-US" sz="1500" dirty="0"/>
          </a:p>
        </p:txBody>
      </p:sp>
      <p:sp>
        <p:nvSpPr>
          <p:cNvPr id="4" name="Shape 2"/>
          <p:cNvSpPr/>
          <p:nvPr/>
        </p:nvSpPr>
        <p:spPr>
          <a:xfrm>
            <a:off x="457200" y="1737360"/>
            <a:ext cx="1554480" cy="1371600"/>
          </a:xfrm>
          <a:prstGeom prst="roundRect">
            <a:avLst>
              <a:gd name="adj" fmla="val 5333"/>
            </a:avLst>
          </a:prstGeom>
          <a:solidFill>
            <a:srgbClr val="F1F3F5"/>
          </a:solidFill>
          <a:ln w="12700">
            <a:solidFill>
              <a:srgbClr val="DEE2E6"/>
            </a:solidFill>
            <a:prstDash val="solid"/>
          </a:ln>
        </p:spPr>
      </p:sp>
      <p:sp>
        <p:nvSpPr>
          <p:cNvPr id="5" name="Text 3"/>
          <p:cNvSpPr txBox="1"/>
          <p:nvPr/>
        </p:nvSpPr>
        <p:spPr>
          <a:xfrm>
            <a:off x="457200"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2003</a:t>
            </a:r>
            <a:endParaRPr lang="en-US" sz="1700" dirty="0"/>
          </a:p>
        </p:txBody>
      </p:sp>
      <p:sp>
        <p:nvSpPr>
          <p:cNvPr id="6" name="Text 4"/>
          <p:cNvSpPr txBox="1"/>
          <p:nvPr/>
        </p:nvSpPr>
        <p:spPr>
          <a:xfrm>
            <a:off x="457200"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1.0</a:t>
            </a:r>
            <a:endParaRPr lang="en-US" sz="1200" dirty="0"/>
          </a:p>
        </p:txBody>
      </p:sp>
      <p:sp>
        <p:nvSpPr>
          <p:cNvPr id="7" name="Text 5"/>
          <p:cNvSpPr txBox="1"/>
          <p:nvPr/>
        </p:nvSpPr>
        <p:spPr>
          <a:xfrm>
            <a:off x="530352"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XML: &lt;bean&gt;</a:t>
            </a:r>
            <a:endParaRPr lang="en-US" sz="1000" dirty="0"/>
          </a:p>
        </p:txBody>
      </p:sp>
      <p:sp>
        <p:nvSpPr>
          <p:cNvPr id="8" name="Shape 6"/>
          <p:cNvSpPr/>
          <p:nvPr/>
        </p:nvSpPr>
        <p:spPr>
          <a:xfrm>
            <a:off x="2157984" y="1737360"/>
            <a:ext cx="1554480" cy="1371600"/>
          </a:xfrm>
          <a:prstGeom prst="roundRect">
            <a:avLst>
              <a:gd name="adj" fmla="val 5333"/>
            </a:avLst>
          </a:prstGeom>
          <a:solidFill>
            <a:srgbClr val="F1F3F5"/>
          </a:solidFill>
          <a:ln w="12700">
            <a:solidFill>
              <a:srgbClr val="DEE2E6"/>
            </a:solidFill>
            <a:prstDash val="solid"/>
          </a:ln>
        </p:spPr>
      </p:sp>
      <p:sp>
        <p:nvSpPr>
          <p:cNvPr id="9" name="Text 7"/>
          <p:cNvSpPr txBox="1"/>
          <p:nvPr/>
        </p:nvSpPr>
        <p:spPr>
          <a:xfrm>
            <a:off x="2157984"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2007</a:t>
            </a:r>
            <a:endParaRPr lang="en-US" sz="1700" dirty="0"/>
          </a:p>
        </p:txBody>
      </p:sp>
      <p:sp>
        <p:nvSpPr>
          <p:cNvPr id="10" name="Text 8"/>
          <p:cNvSpPr txBox="1"/>
          <p:nvPr/>
        </p:nvSpPr>
        <p:spPr>
          <a:xfrm>
            <a:off x="2157984"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2.5</a:t>
            </a:r>
            <a:endParaRPr lang="en-US" sz="1200" dirty="0"/>
          </a:p>
        </p:txBody>
      </p:sp>
      <p:sp>
        <p:nvSpPr>
          <p:cNvPr id="11" name="Text 9"/>
          <p:cNvSpPr txBox="1"/>
          <p:nvPr/>
        </p:nvSpPr>
        <p:spPr>
          <a:xfrm>
            <a:off x="2231136"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@Component, @Autowired</a:t>
            </a:r>
            <a:endParaRPr lang="en-US" sz="1000" dirty="0"/>
          </a:p>
        </p:txBody>
      </p:sp>
      <p:sp>
        <p:nvSpPr>
          <p:cNvPr id="12" name="Shape 10"/>
          <p:cNvSpPr/>
          <p:nvPr/>
        </p:nvSpPr>
        <p:spPr>
          <a:xfrm>
            <a:off x="3858768" y="1737360"/>
            <a:ext cx="1554480" cy="1371600"/>
          </a:xfrm>
          <a:prstGeom prst="roundRect">
            <a:avLst>
              <a:gd name="adj" fmla="val 5333"/>
            </a:avLst>
          </a:prstGeom>
          <a:solidFill>
            <a:srgbClr val="F1F3F5"/>
          </a:solidFill>
          <a:ln w="12700">
            <a:solidFill>
              <a:srgbClr val="DEE2E6"/>
            </a:solidFill>
            <a:prstDash val="solid"/>
          </a:ln>
        </p:spPr>
      </p:sp>
      <p:sp>
        <p:nvSpPr>
          <p:cNvPr id="13" name="Text 11"/>
          <p:cNvSpPr txBox="1"/>
          <p:nvPr/>
        </p:nvSpPr>
        <p:spPr>
          <a:xfrm>
            <a:off x="3858768"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2009</a:t>
            </a:r>
            <a:endParaRPr lang="en-US" sz="1700" dirty="0"/>
          </a:p>
        </p:txBody>
      </p:sp>
      <p:sp>
        <p:nvSpPr>
          <p:cNvPr id="14" name="Text 12"/>
          <p:cNvSpPr txBox="1"/>
          <p:nvPr/>
        </p:nvSpPr>
        <p:spPr>
          <a:xfrm>
            <a:off x="3858768"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3.0</a:t>
            </a:r>
            <a:endParaRPr lang="en-US" sz="1200" dirty="0"/>
          </a:p>
        </p:txBody>
      </p:sp>
      <p:sp>
        <p:nvSpPr>
          <p:cNvPr id="15" name="Text 13"/>
          <p:cNvSpPr txBox="1"/>
          <p:nvPr/>
        </p:nvSpPr>
        <p:spPr>
          <a:xfrm>
            <a:off x="3931920"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@Configuration, @Bean</a:t>
            </a:r>
            <a:endParaRPr lang="en-US" sz="1000" dirty="0"/>
          </a:p>
        </p:txBody>
      </p:sp>
      <p:sp>
        <p:nvSpPr>
          <p:cNvPr id="16" name="Shape 14"/>
          <p:cNvSpPr/>
          <p:nvPr/>
        </p:nvSpPr>
        <p:spPr>
          <a:xfrm>
            <a:off x="5559552" y="1737360"/>
            <a:ext cx="1554480" cy="1371600"/>
          </a:xfrm>
          <a:prstGeom prst="roundRect">
            <a:avLst>
              <a:gd name="adj" fmla="val 5333"/>
            </a:avLst>
          </a:prstGeom>
          <a:solidFill>
            <a:srgbClr val="2F9E44"/>
          </a:solidFill>
          <a:ln w="12700">
            <a:solidFill>
              <a:srgbClr val="2F9E44"/>
            </a:solidFill>
            <a:prstDash val="solid"/>
          </a:ln>
        </p:spPr>
      </p:sp>
      <p:sp>
        <p:nvSpPr>
          <p:cNvPr id="17" name="Text 15"/>
          <p:cNvSpPr txBox="1"/>
          <p:nvPr/>
        </p:nvSpPr>
        <p:spPr>
          <a:xfrm>
            <a:off x="5559552" y="1828800"/>
            <a:ext cx="1554480" cy="3200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2014</a:t>
            </a:r>
            <a:endParaRPr lang="en-US" sz="1700" dirty="0"/>
          </a:p>
        </p:txBody>
      </p:sp>
      <p:sp>
        <p:nvSpPr>
          <p:cNvPr id="18" name="Text 16"/>
          <p:cNvSpPr txBox="1"/>
          <p:nvPr/>
        </p:nvSpPr>
        <p:spPr>
          <a:xfrm>
            <a:off x="5559552" y="2176272"/>
            <a:ext cx="1554480" cy="274320"/>
          </a:xfrm>
          <a:prstGeom prst="rect">
            <a:avLst/>
          </a:prstGeom>
          <a:noFill/>
          <a:ln/>
        </p:spPr>
        <p:txBody>
          <a:bodyPr wrap="square" lIns="0" tIns="0" rIns="0" bIns="0" rtlCol="0" anchor="ctr"/>
          <a:lstStyle/>
          <a:p>
            <a:pPr algn="ctr" indent="0" marL="0">
              <a:buNone/>
            </a:pPr>
            <a:r>
              <a:rPr lang="en-US" sz="1200" dirty="0">
                <a:solidFill>
                  <a:srgbClr val="E8F5E9"/>
                </a:solidFill>
                <a:latin typeface="Calibri" pitchFamily="34" charset="0"/>
                <a:ea typeface="Calibri" pitchFamily="34" charset="-122"/>
                <a:cs typeface="Calibri" pitchFamily="34" charset="-120"/>
              </a:rPr>
              <a:t>Spring Boot</a:t>
            </a:r>
            <a:endParaRPr lang="en-US" sz="1200" dirty="0"/>
          </a:p>
        </p:txBody>
      </p:sp>
      <p:sp>
        <p:nvSpPr>
          <p:cNvPr id="19" name="Text 17"/>
          <p:cNvSpPr txBox="1"/>
          <p:nvPr/>
        </p:nvSpPr>
        <p:spPr>
          <a:xfrm>
            <a:off x="5632704" y="2468880"/>
            <a:ext cx="1408176" cy="54864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auto-configuration</a:t>
            </a:r>
            <a:endParaRPr lang="en-US" sz="1000" dirty="0"/>
          </a:p>
        </p:txBody>
      </p:sp>
      <p:sp>
        <p:nvSpPr>
          <p:cNvPr id="20" name="Shape 18"/>
          <p:cNvSpPr/>
          <p:nvPr/>
        </p:nvSpPr>
        <p:spPr>
          <a:xfrm>
            <a:off x="7260336" y="1737360"/>
            <a:ext cx="1554480" cy="1371600"/>
          </a:xfrm>
          <a:prstGeom prst="roundRect">
            <a:avLst>
              <a:gd name="adj" fmla="val 5333"/>
            </a:avLst>
          </a:prstGeom>
          <a:solidFill>
            <a:srgbClr val="F1F3F5"/>
          </a:solidFill>
          <a:ln w="12700">
            <a:solidFill>
              <a:srgbClr val="DEE2E6"/>
            </a:solidFill>
            <a:prstDash val="solid"/>
          </a:ln>
        </p:spPr>
      </p:sp>
      <p:sp>
        <p:nvSpPr>
          <p:cNvPr id="21" name="Text 19"/>
          <p:cNvSpPr txBox="1"/>
          <p:nvPr/>
        </p:nvSpPr>
        <p:spPr>
          <a:xfrm>
            <a:off x="7260336" y="1828800"/>
            <a:ext cx="1554480" cy="320040"/>
          </a:xfrm>
          <a:prstGeom prst="rect">
            <a:avLst/>
          </a:prstGeom>
          <a:noFill/>
          <a:ln/>
        </p:spPr>
        <p:txBody>
          <a:bodyPr wrap="square" lIns="0" tIns="0" rIns="0" bIns="0" rtlCol="0" anchor="ctr"/>
          <a:lstStyle/>
          <a:p>
            <a:pPr algn="ctr" indent="0" marL="0">
              <a:buNone/>
            </a:pPr>
            <a:r>
              <a:rPr lang="en-US" sz="1700" b="1" dirty="0">
                <a:solidFill>
                  <a:srgbClr val="22303C"/>
                </a:solidFill>
                <a:latin typeface="Cambria" pitchFamily="34" charset="0"/>
                <a:ea typeface="Cambria" pitchFamily="34" charset="-122"/>
                <a:cs typeface="Cambria" pitchFamily="34" charset="-120"/>
              </a:rPr>
              <a:t>2022</a:t>
            </a:r>
            <a:endParaRPr lang="en-US" sz="1700" dirty="0"/>
          </a:p>
        </p:txBody>
      </p:sp>
      <p:sp>
        <p:nvSpPr>
          <p:cNvPr id="22" name="Text 20"/>
          <p:cNvSpPr txBox="1"/>
          <p:nvPr/>
        </p:nvSpPr>
        <p:spPr>
          <a:xfrm>
            <a:off x="7260336" y="2176272"/>
            <a:ext cx="1554480" cy="27432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Spring 6</a:t>
            </a:r>
            <a:endParaRPr lang="en-US" sz="1200" dirty="0"/>
          </a:p>
        </p:txBody>
      </p:sp>
      <p:sp>
        <p:nvSpPr>
          <p:cNvPr id="23" name="Text 21"/>
          <p:cNvSpPr txBox="1"/>
          <p:nvPr/>
        </p:nvSpPr>
        <p:spPr>
          <a:xfrm>
            <a:off x="7333488" y="2468880"/>
            <a:ext cx="1408176" cy="548640"/>
          </a:xfrm>
          <a:prstGeom prst="rect">
            <a:avLst/>
          </a:prstGeom>
          <a:noFill/>
          <a:ln/>
        </p:spPr>
        <p:txBody>
          <a:bodyPr wrap="square" lIns="0" tIns="0" rIns="0" bIns="0" rtlCol="0" anchor="ctr"/>
          <a:lstStyle/>
          <a:p>
            <a:pPr algn="ctr" indent="0" marL="0">
              <a:buNone/>
            </a:pPr>
            <a:r>
              <a:rPr lang="en-US" sz="1000" dirty="0">
                <a:solidFill>
                  <a:srgbClr val="22303C"/>
                </a:solidFill>
                <a:latin typeface="Courier New" pitchFamily="34" charset="0"/>
                <a:ea typeface="Courier New" pitchFamily="34" charset="-122"/>
                <a:cs typeface="Courier New" pitchFamily="34" charset="-120"/>
              </a:rPr>
              <a:t>AOT, native images</a:t>
            </a:r>
            <a:endParaRPr lang="en-US" sz="1000" dirty="0"/>
          </a:p>
        </p:txBody>
      </p:sp>
      <p:sp>
        <p:nvSpPr>
          <p:cNvPr id="24" name="Shape 22"/>
          <p:cNvSpPr/>
          <p:nvPr/>
        </p:nvSpPr>
        <p:spPr>
          <a:xfrm>
            <a:off x="457200" y="3566160"/>
            <a:ext cx="8229600" cy="594360"/>
          </a:xfrm>
          <a:prstGeom prst="roundRect">
            <a:avLst>
              <a:gd name="adj" fmla="val 12308"/>
            </a:avLst>
          </a:prstGeom>
          <a:solidFill>
            <a:srgbClr val="FFFFFF"/>
          </a:solidFill>
          <a:ln w="25400">
            <a:solidFill>
              <a:srgbClr val="2F9E44"/>
            </a:solidFill>
            <a:prstDash val="solid"/>
          </a:ln>
        </p:spPr>
      </p:sp>
      <p:sp>
        <p:nvSpPr>
          <p:cNvPr id="25" name="Text 23"/>
          <p:cNvSpPr txBox="1"/>
          <p:nvPr/>
        </p:nvSpPr>
        <p:spPr>
          <a:xfrm>
            <a:off x="640080" y="356616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Whatever the source — XML, annotations, Java, auto-configuration — the container sees one thing: a BeanDefinition.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ayoub\Desktop\spring-app\docs\presentation\diagrams\d3-war-vs-jar.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injection at all</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problem before the solution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Before the container: you wire it yourself</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Everybody has written this</a:t>
            </a:r>
            <a:endParaRPr lang="en-US" sz="1500" dirty="0"/>
          </a:p>
        </p:txBody>
      </p:sp>
      <p:sp>
        <p:nvSpPr>
          <p:cNvPr id="4" name="Shape 2"/>
          <p:cNvSpPr/>
          <p:nvPr/>
        </p:nvSpPr>
        <p:spPr>
          <a:xfrm>
            <a:off x="457200" y="1371600"/>
            <a:ext cx="8229600" cy="1371600"/>
          </a:xfrm>
          <a:prstGeom prst="roundRect">
            <a:avLst>
              <a:gd name="adj" fmla="val 4000"/>
            </a:avLst>
          </a:prstGeom>
          <a:solidFill>
            <a:srgbClr val="F1F3F5"/>
          </a:solidFill>
          <a:ln w="12700">
            <a:solidFill>
              <a:srgbClr val="DEE2E6"/>
            </a:solidFill>
            <a:prstDash val="solid"/>
          </a:ln>
        </p:spPr>
      </p:sp>
      <p:sp>
        <p:nvSpPr>
          <p:cNvPr id="5" name="Text 3"/>
          <p:cNvSpPr txBox="1"/>
          <p:nvPr/>
        </p:nvSpPr>
        <p:spPr>
          <a:xfrm>
            <a:off x="621792" y="1481328"/>
            <a:ext cx="7900416" cy="115214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repository = new InMemoryOrderRepository();</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audit      = new AuditService();</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service    = new OrderServiceImpl(repository, audit, publisher);</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var controller = new OrderController(service);</a:t>
            </a:r>
            <a:endParaRPr lang="en-US" sz="1300" dirty="0"/>
          </a:p>
        </p:txBody>
      </p:sp>
      <p:sp>
        <p:nvSpPr>
          <p:cNvPr id="6" name="Text 4"/>
          <p:cNvSpPr txBox="1"/>
          <p:nvPr/>
        </p:nvSpPr>
        <p:spPr>
          <a:xfrm>
            <a:off x="502920" y="2880360"/>
            <a:ext cx="8229600" cy="11887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It works — until the graph has forty objects instead of four</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Every caller has to know the whole graph, just to build one object</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Swapping an implementation means editing every place that says new</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And someone has to decide who gets closed, in which order</a:t>
            </a:r>
            <a:endParaRPr lang="en-US" sz="1500" dirty="0"/>
          </a:p>
        </p:txBody>
      </p:sp>
      <p:sp>
        <p:nvSpPr>
          <p:cNvPr id="7" name="Shape 5"/>
          <p:cNvSpPr/>
          <p:nvPr/>
        </p:nvSpPr>
        <p:spPr>
          <a:xfrm>
            <a:off x="457200" y="4160520"/>
            <a:ext cx="8229600" cy="594360"/>
          </a:xfrm>
          <a:prstGeom prst="roundRect">
            <a:avLst>
              <a:gd name="adj" fmla="val 12308"/>
            </a:avLst>
          </a:prstGeom>
          <a:solidFill>
            <a:srgbClr val="FFFFFF"/>
          </a:solidFill>
          <a:ln w="25400">
            <a:solidFill>
              <a:srgbClr val="E8590C"/>
            </a:solidFill>
            <a:prstDash val="solid"/>
          </a:ln>
        </p:spPr>
      </p:sp>
      <p:sp>
        <p:nvSpPr>
          <p:cNvPr id="8" name="Text 6"/>
          <p:cNvSpPr txBox="1"/>
          <p:nvPr/>
        </p:nvSpPr>
        <p:spPr>
          <a:xfrm>
            <a:off x="640080" y="416052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The problem was never typing new. It is that the caller has to know everything.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What you actually gain</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It is not fewer lines. It is who chooses.</a:t>
            </a:r>
            <a:endParaRPr lang="en-US" sz="1500" dirty="0"/>
          </a:p>
        </p:txBody>
      </p:sp>
      <p:sp>
        <p:nvSpPr>
          <p:cNvPr id="4" name="Shape 2"/>
          <p:cNvSpPr/>
          <p:nvPr/>
        </p:nvSpPr>
        <p:spPr>
          <a:xfrm>
            <a:off x="457200" y="1371600"/>
            <a:ext cx="8229600" cy="2194560"/>
          </a:xfrm>
          <a:prstGeom prst="roundRect">
            <a:avLst>
              <a:gd name="adj" fmla="val 2500"/>
            </a:avLst>
          </a:prstGeom>
          <a:solidFill>
            <a:srgbClr val="F1F3F5"/>
          </a:solidFill>
          <a:ln w="12700">
            <a:solidFill>
              <a:srgbClr val="DEE2E6"/>
            </a:solidFill>
            <a:prstDash val="solid"/>
          </a:ln>
        </p:spPr>
      </p:sp>
      <p:sp>
        <p:nvSpPr>
          <p:cNvPr id="5" name="Text 3"/>
          <p:cNvSpPr txBox="1"/>
          <p:nvPr/>
        </p:nvSpPr>
        <p:spPr>
          <a:xfrm>
            <a:off x="621792" y="1481328"/>
            <a:ext cx="7900416" cy="1975104"/>
          </a:xfrm>
          <a:prstGeom prst="rect">
            <a:avLst/>
          </a:prstGeom>
          <a:noFill/>
          <a:ln/>
        </p:spPr>
        <p:txBody>
          <a:bodyPr wrap="square" lIns="0" tIns="0" rIns="0" bIns="0" rtlCol="0" anchor="ctr"/>
          <a:lstStyle/>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@Component</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class OrderServiceImpl implements OrderService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OrderServiceImpl(OrderRepository repository, AuditService audit) { ...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a:t>
            </a:r>
            <a:endParaRPr lang="en-US" sz="1300" dirty="0"/>
          </a:p>
          <a:p>
            <a:pPr indent="0" marL="0">
              <a:lnSpc>
                <a:spcPct val="115000"/>
              </a:lnSpc>
              <a:buNone/>
            </a:pP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try (var context = AnnotationApplicationContext.scan("com.example")) {</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    context.getBean(OrderController.class);   // the graph is built for you</a:t>
            </a:r>
            <a:endParaRPr lang="en-US" sz="1300" dirty="0"/>
          </a:p>
          <a:p>
            <a:pPr indent="0" marL="0">
              <a:lnSpc>
                <a:spcPct val="115000"/>
              </a:lnSpc>
              <a:buNone/>
            </a:pPr>
            <a:r>
              <a:rPr lang="en-US" sz="1300" dirty="0">
                <a:solidFill>
                  <a:srgbClr val="22303C"/>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502920" y="3611880"/>
            <a:ext cx="8229600" cy="9144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The class still asks for what it needs: nothing is hidden, it is all in the constructor</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But it no longer chooses which implementation it gets — that is the inversion of control</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So a test builds it with a fake repository, in one line, with no framework at all</a:t>
            </a:r>
            <a:endParaRPr lang="en-US" sz="1400" dirty="0"/>
          </a:p>
        </p:txBody>
      </p:sp>
      <p:sp>
        <p:nvSpPr>
          <p:cNvPr id="7" name="Shape 5"/>
          <p:cNvSpPr/>
          <p:nvPr/>
        </p:nvSpPr>
        <p:spPr>
          <a:xfrm>
            <a:off x="457200" y="452628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452628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Dependency injection is a design decision. The container is only the tool that carries it out.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A container is a Map, plus rules</a:t>
            </a:r>
            <a:endParaRPr lang="en-US" sz="3000" dirty="0"/>
          </a:p>
        </p:txBody>
      </p:sp>
      <p:sp>
        <p:nvSpPr>
          <p:cNvPr id="3" name="Shape 1"/>
          <p:cNvSpPr/>
          <p:nvPr/>
        </p:nvSpPr>
        <p:spPr>
          <a:xfrm>
            <a:off x="457200" y="1325880"/>
            <a:ext cx="3931920" cy="914400"/>
          </a:xfrm>
          <a:prstGeom prst="roundRect">
            <a:avLst>
              <a:gd name="adj" fmla="val 8000"/>
            </a:avLst>
          </a:prstGeom>
          <a:solidFill>
            <a:srgbClr val="1B2430"/>
          </a:solidFill>
          <a:ln/>
        </p:spPr>
      </p:sp>
      <p:sp>
        <p:nvSpPr>
          <p:cNvPr id="4" name="Text 2"/>
          <p:cNvSpPr txBox="1"/>
          <p:nvPr/>
        </p:nvSpPr>
        <p:spPr>
          <a:xfrm>
            <a:off x="457200" y="1325880"/>
            <a:ext cx="3931920" cy="914400"/>
          </a:xfrm>
          <a:prstGeom prst="rect">
            <a:avLst/>
          </a:prstGeom>
          <a:noFill/>
          <a:ln/>
        </p:spPr>
        <p:txBody>
          <a:bodyPr wrap="square" lIns="0" tIns="0" rIns="0" bIns="0" rtlCol="0" anchor="ctr"/>
          <a:lstStyle/>
          <a:p>
            <a:pPr algn="ctr" indent="0" marL="0">
              <a:buNone/>
            </a:pPr>
            <a:r>
              <a:rPr lang="en-US" sz="2000" dirty="0">
                <a:solidFill>
                  <a:srgbClr val="FFFFFF"/>
                </a:solidFill>
                <a:latin typeface="Courier New" pitchFamily="34" charset="0"/>
                <a:ea typeface="Courier New" pitchFamily="34" charset="-122"/>
                <a:cs typeface="Courier New" pitchFamily="34" charset="-120"/>
              </a:rPr>
              <a:t>Map&lt;String, Object&gt;</a:t>
            </a:r>
            <a:endParaRPr lang="en-US" sz="2000" dirty="0"/>
          </a:p>
        </p:txBody>
      </p:sp>
      <p:sp>
        <p:nvSpPr>
          <p:cNvPr id="5" name="Text 3"/>
          <p:cNvSpPr txBox="1"/>
          <p:nvPr/>
        </p:nvSpPr>
        <p:spPr>
          <a:xfrm>
            <a:off x="4663440" y="1371600"/>
            <a:ext cx="4023360" cy="82296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interesting part is not the Map. It is the rules that fill it:</a:t>
            </a:r>
            <a:endParaRPr lang="en-US" sz="1500" dirty="0"/>
          </a:p>
        </p:txBody>
      </p:sp>
      <p:sp>
        <p:nvSpPr>
          <p:cNvPr id="6" name="Text 4"/>
          <p:cNvSpPr txBox="1"/>
          <p:nvPr/>
        </p:nvSpPr>
        <p:spPr>
          <a:xfrm>
            <a:off x="502920" y="2377440"/>
            <a:ext cx="8229600" cy="173736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Find the classes to manage</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Describe them before creating them</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Create each one after its dependencies</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Run lifecycle callbacks at the right moment</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Let something wrap a bean before it is handed out   (part 2)</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Decide whether a bean should exist at all   (part 2)</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an annotation really is</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The part nobody explains, and everything depends 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An annotation is an interface with no code</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real file from the project</a:t>
            </a:r>
            <a:endParaRPr lang="en-US" sz="1500" dirty="0"/>
          </a:p>
        </p:txBody>
      </p:sp>
      <p:sp>
        <p:nvSpPr>
          <p:cNvPr id="4" name="Shape 2"/>
          <p:cNvSpPr/>
          <p:nvPr/>
        </p:nvSpPr>
        <p:spPr>
          <a:xfrm>
            <a:off x="457200" y="1371600"/>
            <a:ext cx="4937760" cy="2194560"/>
          </a:xfrm>
          <a:prstGeom prst="roundRect">
            <a:avLst>
              <a:gd name="adj" fmla="val 2500"/>
            </a:avLst>
          </a:prstGeom>
          <a:solidFill>
            <a:srgbClr val="F1F3F5"/>
          </a:solidFill>
          <a:ln w="12700">
            <a:solidFill>
              <a:srgbClr val="DEE2E6"/>
            </a:solidFill>
            <a:prstDash val="solid"/>
          </a:ln>
        </p:spPr>
      </p:sp>
      <p:sp>
        <p:nvSpPr>
          <p:cNvPr id="5" name="Text 3"/>
          <p:cNvSpPr txBox="1"/>
          <p:nvPr/>
        </p:nvSpPr>
        <p:spPr>
          <a:xfrm>
            <a:off x="621792" y="1481328"/>
            <a:ext cx="4608576" cy="1975104"/>
          </a:xfrm>
          <a:prstGeom prst="rect">
            <a:avLst/>
          </a:prstGeom>
          <a:noFill/>
          <a:ln/>
        </p:spPr>
        <p:txBody>
          <a:bodyPr wrap="square" lIns="0" tIns="0" rIns="0" bIns="0" rtlCol="0" anchor="ctr"/>
          <a:lstStyle/>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@Documented</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@Retention(RetentionPolicy.RUNTIME)</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@Target(ElementType.TYPE)</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public @interface Component {</a:t>
            </a:r>
            <a:endParaRPr lang="en-US" sz="1400" dirty="0"/>
          </a:p>
          <a:p>
            <a:pPr indent="0" marL="0">
              <a:lnSpc>
                <a:spcPct val="115000"/>
              </a:lnSpc>
              <a:buNone/>
            </a:pP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    String value() default "";</a:t>
            </a:r>
            <a:endParaRPr lang="en-US" sz="1400" dirty="0"/>
          </a:p>
          <a:p>
            <a:pPr indent="0" marL="0">
              <a:lnSpc>
                <a:spcPct val="115000"/>
              </a:lnSpc>
              <a:buNone/>
            </a:pPr>
            <a:r>
              <a:rPr lang="en-US" sz="1400" dirty="0">
                <a:solidFill>
                  <a:srgbClr val="22303C"/>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5669280" y="1463040"/>
            <a:ext cx="3108960" cy="365760"/>
          </a:xfrm>
          <a:prstGeom prst="rect">
            <a:avLst/>
          </a:prstGeom>
          <a:noFill/>
          <a:ln/>
        </p:spPr>
        <p:txBody>
          <a:bodyPr wrap="square" lIns="0" tIns="0" rIns="0" bIns="0" rtlCol="0" anchor="ctr"/>
          <a:lstStyle/>
          <a:p>
            <a:pPr indent="0" marL="0">
              <a:buNone/>
            </a:pPr>
            <a:r>
              <a:rPr lang="en-US" sz="2000" b="1" dirty="0">
                <a:solidFill>
                  <a:srgbClr val="22303C"/>
                </a:solidFill>
                <a:latin typeface="Cambria" pitchFamily="34" charset="0"/>
                <a:ea typeface="Cambria" pitchFamily="34" charset="-122"/>
                <a:cs typeface="Cambria" pitchFamily="34" charset="-120"/>
              </a:rPr>
              <a:t>Six lines.</a:t>
            </a:r>
            <a:endParaRPr lang="en-US" sz="2000" dirty="0"/>
          </a:p>
        </p:txBody>
      </p:sp>
      <p:sp>
        <p:nvSpPr>
          <p:cNvPr id="7" name="Text 5"/>
          <p:cNvSpPr txBox="1"/>
          <p:nvPr/>
        </p:nvSpPr>
        <p:spPr>
          <a:xfrm>
            <a:off x="5669280" y="1920240"/>
            <a:ext cx="3108960" cy="155448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No code runs. No class is created. It only says: someone might be interested in this class.</a:t>
            </a:r>
            <a:endParaRPr lang="en-US" sz="1400" dirty="0"/>
          </a:p>
          <a:p>
            <a:pPr indent="0" marL="0">
              <a:buNone/>
            </a:pPr>
            <a:endParaRPr lang="en-US" sz="1400" dirty="0"/>
          </a:p>
          <a:p>
            <a:pPr indent="0" marL="0">
              <a:buNone/>
            </a:pPr>
            <a:r>
              <a:rPr lang="en-US" sz="1400" dirty="0">
                <a:solidFill>
                  <a:srgbClr val="5B6B7A"/>
                </a:solidFill>
                <a:latin typeface="Calibri" pitchFamily="34" charset="0"/>
                <a:ea typeface="Calibri" pitchFamily="34" charset="-122"/>
                <a:cs typeface="Calibri" pitchFamily="34" charset="-120"/>
              </a:rPr>
              <a:t>The interesting part is the two lines above it.</a:t>
            </a:r>
            <a:endParaRPr lang="en-US" sz="1400" dirty="0"/>
          </a:p>
        </p:txBody>
      </p:sp>
      <p:sp>
        <p:nvSpPr>
          <p:cNvPr id="8" name="Shape 6"/>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9" name="Text 7"/>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@interface, not interface. The compiler turns it into metadata stored in the class file.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ayoub\Desktop\spring-app\docs\presentation\diagrams\d2-annotation.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Proof: javap, and one word changed</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The demo that makes it click</a:t>
            </a:r>
            <a:endParaRPr lang="en-US" sz="1500" dirty="0"/>
          </a:p>
        </p:txBody>
      </p:sp>
      <p:sp>
        <p:nvSpPr>
          <p:cNvPr id="4" name="Shape 2"/>
          <p:cNvSpPr/>
          <p:nvPr/>
        </p:nvSpPr>
        <p:spPr>
          <a:xfrm>
            <a:off x="457200" y="1371600"/>
            <a:ext cx="4114800" cy="1554480"/>
          </a:xfrm>
          <a:prstGeom prst="roundRect">
            <a:avLst>
              <a:gd name="adj" fmla="val 3529"/>
            </a:avLst>
          </a:prstGeom>
          <a:solidFill>
            <a:srgbClr val="F1F3F5"/>
          </a:solidFill>
          <a:ln w="12700">
            <a:solidFill>
              <a:srgbClr val="DEE2E6"/>
            </a:solidFill>
            <a:prstDash val="solid"/>
          </a:ln>
        </p:spPr>
      </p:sp>
      <p:sp>
        <p:nvSpPr>
          <p:cNvPr id="5" name="Text 3"/>
          <p:cNvSpPr txBox="1"/>
          <p:nvPr/>
        </p:nvSpPr>
        <p:spPr>
          <a:xfrm>
            <a:off x="621792" y="1481328"/>
            <a:ext cx="3785616" cy="133502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javap -v AuditService.class</a:t>
            </a:r>
            <a:endParaRPr lang="en-US" sz="1100" dirty="0"/>
          </a:p>
          <a:p>
            <a:pPr indent="0" marL="0">
              <a:lnSpc>
                <a:spcPct val="115000"/>
              </a:lnSpc>
              <a:buNone/>
            </a:pP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RuntimeVisibleAnnotations:</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0: #14()</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io.minispring.container.annotation.Component</a:t>
            </a:r>
            <a:endParaRPr lang="en-US" sz="1100" dirty="0"/>
          </a:p>
        </p:txBody>
      </p:sp>
      <p:sp>
        <p:nvSpPr>
          <p:cNvPr id="6" name="Text 4"/>
          <p:cNvSpPr txBox="1"/>
          <p:nvPr/>
        </p:nvSpPr>
        <p:spPr>
          <a:xfrm>
            <a:off x="457200" y="3017520"/>
            <a:ext cx="4114800" cy="320040"/>
          </a:xfrm>
          <a:prstGeom prst="rect">
            <a:avLst/>
          </a:prstGeom>
          <a:noFill/>
          <a:ln/>
        </p:spPr>
        <p:txBody>
          <a:bodyPr wrap="square" lIns="0" tIns="0" rIns="0" bIns="0" rtlCol="0" anchor="ctr"/>
          <a:lstStyle/>
          <a:p>
            <a:pPr algn="ctr" indent="0" marL="0">
              <a:buNone/>
            </a:pPr>
            <a:r>
              <a:rPr lang="en-US" sz="1400" b="1" dirty="0">
                <a:solidFill>
                  <a:srgbClr val="2F9E44"/>
                </a:solidFill>
                <a:latin typeface="Calibri" pitchFamily="34" charset="0"/>
                <a:ea typeface="Calibri" pitchFamily="34" charset="-122"/>
                <a:cs typeface="Calibri" pitchFamily="34" charset="-120"/>
              </a:rPr>
              <a:t>RUNTIME</a:t>
            </a:r>
            <a:endParaRPr lang="en-US" sz="1400" dirty="0"/>
          </a:p>
        </p:txBody>
      </p:sp>
      <p:sp>
        <p:nvSpPr>
          <p:cNvPr id="7" name="Shape 5"/>
          <p:cNvSpPr/>
          <p:nvPr/>
        </p:nvSpPr>
        <p:spPr>
          <a:xfrm>
            <a:off x="4663440" y="1371600"/>
            <a:ext cx="4114800" cy="1554480"/>
          </a:xfrm>
          <a:prstGeom prst="roundRect">
            <a:avLst>
              <a:gd name="adj" fmla="val 3529"/>
            </a:avLst>
          </a:prstGeom>
          <a:solidFill>
            <a:srgbClr val="F1F3F5"/>
          </a:solidFill>
          <a:ln w="12700">
            <a:solidFill>
              <a:srgbClr val="DEE2E6"/>
            </a:solidFill>
            <a:prstDash val="solid"/>
          </a:ln>
        </p:spPr>
      </p:sp>
      <p:sp>
        <p:nvSpPr>
          <p:cNvPr id="8" name="Text 6"/>
          <p:cNvSpPr txBox="1"/>
          <p:nvPr/>
        </p:nvSpPr>
        <p:spPr>
          <a:xfrm>
            <a:off x="4828032" y="1481328"/>
            <a:ext cx="3785616" cy="133502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javap -v AuditService.class</a:t>
            </a:r>
            <a:endParaRPr lang="en-US" sz="1100" dirty="0"/>
          </a:p>
          <a:p>
            <a:pPr indent="0" marL="0">
              <a:lnSpc>
                <a:spcPct val="115000"/>
              </a:lnSpc>
              <a:buNone/>
            </a:pP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RuntimeInvisibleAnnotations:</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0: #14()</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    io.minispring.container.annotation.Component</a:t>
            </a:r>
            <a:endParaRPr lang="en-US" sz="1100" dirty="0"/>
          </a:p>
        </p:txBody>
      </p:sp>
      <p:sp>
        <p:nvSpPr>
          <p:cNvPr id="9" name="Text 7"/>
          <p:cNvSpPr txBox="1"/>
          <p:nvPr/>
        </p:nvSpPr>
        <p:spPr>
          <a:xfrm>
            <a:off x="4663440" y="3017520"/>
            <a:ext cx="4114800" cy="320040"/>
          </a:xfrm>
          <a:prstGeom prst="rect">
            <a:avLst/>
          </a:prstGeom>
          <a:noFill/>
          <a:ln/>
        </p:spPr>
        <p:txBody>
          <a:bodyPr wrap="square" lIns="0" tIns="0" rIns="0" bIns="0" rtlCol="0" anchor="ctr"/>
          <a:lstStyle/>
          <a:p>
            <a:pPr algn="ctr" indent="0" marL="0">
              <a:buNone/>
            </a:pPr>
            <a:r>
              <a:rPr lang="en-US" sz="1400" b="1" dirty="0">
                <a:solidFill>
                  <a:srgbClr val="E8590C"/>
                </a:solidFill>
                <a:latin typeface="Calibri" pitchFamily="34" charset="0"/>
                <a:ea typeface="Calibri" pitchFamily="34" charset="-122"/>
                <a:cs typeface="Calibri" pitchFamily="34" charset="-120"/>
              </a:rPr>
              <a:t>CLASS — the default</a:t>
            </a:r>
            <a:endParaRPr lang="en-US" sz="1400" dirty="0"/>
          </a:p>
        </p:txBody>
      </p:sp>
      <p:sp>
        <p:nvSpPr>
          <p:cNvPr id="10" name="Shape 8"/>
          <p:cNvSpPr/>
          <p:nvPr/>
        </p:nvSpPr>
        <p:spPr>
          <a:xfrm>
            <a:off x="457200" y="3840480"/>
            <a:ext cx="8229600" cy="594360"/>
          </a:xfrm>
          <a:prstGeom prst="roundRect">
            <a:avLst>
              <a:gd name="adj" fmla="val 12308"/>
            </a:avLst>
          </a:prstGeom>
          <a:solidFill>
            <a:srgbClr val="FFFFFF"/>
          </a:solidFill>
          <a:ln w="25400">
            <a:solidFill>
              <a:srgbClr val="E8590C"/>
            </a:solidFill>
            <a:prstDash val="solid"/>
          </a:ln>
        </p:spPr>
      </p:sp>
      <p:sp>
        <p:nvSpPr>
          <p:cNvPr id="11" name="Text 9"/>
          <p:cNvSpPr txBox="1"/>
          <p:nvPr/>
        </p:nvSpPr>
        <p:spPr>
          <a:xfrm>
            <a:off x="640080" y="384048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One word, and the scanner finds nothing — with no error message. Everyone hits this once.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The three retentions, and who uses them</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554480"/>
                <a:gridCol w="1920240"/>
                <a:gridCol w="2377440"/>
                <a:gridCol w="237744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Retention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Lives until</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by</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SOURCE</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compiler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annotation processors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@Override, Lombok</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class file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bytecode tools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nullability annotations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b="1" dirty="0">
                          <a:solidFill>
                            <a:srgbClr val="2F9E44"/>
                          </a:solidFill>
                          <a:latin typeface="Courier New" pitchFamily="34" charset="0"/>
                          <a:ea typeface="Courier New" pitchFamily="34" charset="-122"/>
                          <a:cs typeface="Courier New" pitchFamily="34" charset="-120"/>
                        </a:rPr>
                        <a:t>RUNTIME</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for ever</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reflection, at run time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@Component, @Autowired</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4" name="Text 1"/>
          <p:cNvSpPr txBox="1"/>
          <p:nvPr/>
        </p:nvSpPr>
        <p:spPr>
          <a:xfrm>
            <a:off x="457200" y="3200400"/>
            <a:ext cx="8229600" cy="548640"/>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@Target says where the sticker may be put: a class, a method, a parameter. The compiler enforces it, nothing else does.</a:t>
            </a:r>
            <a:endParaRPr lang="en-US" sz="1500" dirty="0"/>
          </a:p>
        </p:txBody>
      </p:sp>
      <p:sp>
        <p:nvSpPr>
          <p:cNvPr id="5" name="Shape 2"/>
          <p:cNvSpPr/>
          <p:nvPr/>
        </p:nvSpPr>
        <p:spPr>
          <a:xfrm>
            <a:off x="457200" y="393192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A framework that reads annotations at run time needs RUNTIME. That is the whole rule.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The reflection API, as used by the container</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Six calls. That is the whole toolbox.</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3200400"/>
                <a:gridCol w="2834640"/>
                <a:gridCol w="2194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call</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in minispring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Class.forName(n, false, cl)</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load a class without initialising it</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ClasspathScanner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type.isAnnotationPresent(..)</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read the sticker</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ClasspathScanner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type.getDeclaredConstructors()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find the constructor to use</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BeanDefinitionReader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constructor.newInstance(args)</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create the bean</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BeanFactory</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method.invoke(bean)</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run @PostConstruct</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BeanFactory</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Proxy.newProxyInstance(..)</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wrap the bean  (part 2)</a:t>
                      </a:r>
                      <a:endParaRPr lang="en-US" sz="11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1100" dirty="0">
                          <a:solidFill>
                            <a:srgbClr val="22303C"/>
                          </a:solidFill>
                          <a:latin typeface="Courier New" pitchFamily="34" charset="0"/>
                          <a:ea typeface="Courier New" pitchFamily="34" charset="-122"/>
                          <a:cs typeface="Courier New" pitchFamily="34" charset="-120"/>
                        </a:rPr>
                        <a:t>TransactionalProcessor</a:t>
                      </a:r>
                      <a:endParaRPr lang="en-US" sz="11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11480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11480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If you know these six calls, you can write a dependency injection container.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430"/>
        </a:solidFill>
      </p:bgPr>
    </p:bg>
    <p:spTree>
      <p:nvGrpSpPr>
        <p:cNvPr id="1" name=""/>
        <p:cNvGrpSpPr/>
        <p:nvPr/>
      </p:nvGrpSpPr>
      <p:grpSpPr>
        <a:xfrm>
          <a:off x="0" y="0"/>
          <a:ext cx="0" cy="0"/>
          <a:chOff x="0" y="0"/>
          <a:chExt cx="0" cy="0"/>
        </a:xfrm>
      </p:grpSpPr>
      <p:sp>
        <p:nvSpPr>
          <p:cNvPr id="2" name="Shape 0"/>
          <p:cNvSpPr/>
          <p:nvPr/>
        </p:nvSpPr>
        <p:spPr>
          <a:xfrm>
            <a:off x="822960" y="1920240"/>
            <a:ext cx="1005840" cy="1005840"/>
          </a:xfrm>
          <a:prstGeom prst="ellipse">
            <a:avLst/>
          </a:prstGeom>
          <a:solidFill>
            <a:srgbClr val="2F9E44"/>
          </a:solidFill>
          <a:ln/>
        </p:spPr>
      </p:sp>
      <p:sp>
        <p:nvSpPr>
          <p:cNvPr id="3" name="Text 1"/>
          <p:cNvSpPr txBox="1"/>
          <p:nvPr/>
        </p:nvSpPr>
        <p:spPr>
          <a:xfrm>
            <a:off x="822960" y="1920240"/>
            <a:ext cx="1005840" cy="10058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2103120" y="1965960"/>
            <a:ext cx="6400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Who reads which annotation</a:t>
            </a:r>
            <a:endParaRPr lang="en-US" sz="3000" dirty="0"/>
          </a:p>
        </p:txBody>
      </p:sp>
      <p:sp>
        <p:nvSpPr>
          <p:cNvPr id="5" name="Text 3"/>
          <p:cNvSpPr txBox="1"/>
          <p:nvPr/>
        </p:nvSpPr>
        <p:spPr>
          <a:xfrm>
            <a:off x="2103120" y="2606040"/>
            <a:ext cx="6400800" cy="457200"/>
          </a:xfrm>
          <a:prstGeom prst="rect">
            <a:avLst/>
          </a:prstGeom>
          <a:noFill/>
          <a:ln/>
        </p:spPr>
        <p:txBody>
          <a:bodyPr wrap="square" lIns="0" tIns="0" rIns="0" bIns="0" rtlCol="0" anchor="ctr"/>
          <a:lstStyle/>
          <a:p>
            <a:pPr indent="0" marL="0">
              <a:buNone/>
            </a:pPr>
            <a:r>
              <a:rPr lang="en-US" sz="1600" dirty="0">
                <a:solidFill>
                  <a:srgbClr val="C7D2DD"/>
                </a:solidFill>
                <a:latin typeface="Calibri" pitchFamily="34" charset="0"/>
                <a:ea typeface="Calibri" pitchFamily="34" charset="-122"/>
                <a:cs typeface="Calibri" pitchFamily="34" charset="-120"/>
              </a:rPr>
              <a:t>minispring, Spring, and the XML we used to write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Who reads what</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Same model, three ways to feed it</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920240"/>
                <a:gridCol w="1920240"/>
                <a:gridCol w="2560320"/>
                <a:gridCol w="1828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Annotation</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 by, in minispring</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Spring class</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XML, before</a:t>
                      </a:r>
                      <a:endParaRPr lang="en-US" sz="1200" dirty="0">
                        <a:latin typeface="Calibri" charset="0"/>
                        <a:ea typeface="Calibri" charset="0"/>
                        <a:cs typeface="Calibri"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solidFill>
                      <a:srgbClr val="2E3A47"/>
                    </a:solidFill>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@Component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ClasspathScanner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ClassPathBeanDefinitionScanner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&lt;context:component-scan&gt;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@Autowired</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BeanDefinitionReader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AutowiredAnnotation...Processor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&lt;constructor-arg ref&gt;</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@Qualifier @Primary</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DependencyResolver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QualifierAnnotation...Resolver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&lt;qualifier&gt;, primary=</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@Scope</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BeanDefinitionReader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ScopeMetadataResolver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scope="prototype"</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@PostConstruct @PreDestroy</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LifecycleMethods</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CommonAnnotation...Processor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init-method=, destroy-method=</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r h="310896">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@Configuration @Bean</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BeanDefinitionReader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ConfigurationClassPostProcessor</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c>
                  <a:txBody>
                    <a:bodyPr/>
                    <a:lstStyle/>
                    <a:p>
                      <a:pPr indent="0" marL="0">
                        <a:buNone/>
                      </a:pPr>
                      <a:r>
                        <a:rPr lang="en-US" sz="900" dirty="0">
                          <a:solidFill>
                            <a:srgbClr val="22303C"/>
                          </a:solidFill>
                          <a:latin typeface="Courier New" pitchFamily="34" charset="0"/>
                          <a:ea typeface="Courier New" pitchFamily="34" charset="-122"/>
                          <a:cs typeface="Courier New" pitchFamily="34" charset="-120"/>
                        </a:rPr>
                        <a:t>factory-bean, factory-method</a:t>
                      </a:r>
                      <a:endParaRPr lang="en-US" sz="900" dirty="0">
                        <a:latin typeface="Courier New" charset="0"/>
                        <a:ea typeface="Courier New" charset="0"/>
                        <a:cs typeface="Courier New" charset="0"/>
                      </a:endParaRPr>
                    </a:p>
                  </a:txBody>
                  <a:tcPr marL="54864" marR="54864" marT="54864" marB="54864" anchor="ctr">
                    <a:lnL w="12700" cap="flat" cmpd="sng" algn="ctr">
                      <a:solidFill>
                        <a:srgbClr val="E9ECEF"/>
                      </a:solidFill>
                      <a:prstDash val="solid"/>
                      <a:round/>
                      <a:headEnd type="none" w="med" len="med"/>
                      <a:tailEnd type="none" w="med" len="med"/>
                    </a:lnL>
                    <a:lnR w="12700" cap="flat" cmpd="sng" algn="ctr">
                      <a:solidFill>
                        <a:srgbClr val="E9ECEF"/>
                      </a:solidFill>
                      <a:prstDash val="solid"/>
                      <a:round/>
                      <a:headEnd type="none" w="med" len="med"/>
                      <a:tailEnd type="none" w="med" len="med"/>
                    </a:lnR>
                    <a:lnT w="12700" cap="flat" cmpd="sng" algn="ctr">
                      <a:solidFill>
                        <a:srgbClr val="E9ECEF"/>
                      </a:solidFill>
                      <a:prstDash val="solid"/>
                      <a:round/>
                      <a:headEnd type="none" w="med" len="med"/>
                      <a:tailEnd type="none" w="med" len="med"/>
                    </a:lnT>
                    <a:lnB w="12700" cap="flat" cmpd="sng" algn="ctr">
                      <a:solidFill>
                        <a:srgbClr val="E9ECEF"/>
                      </a:solidFill>
                      <a:prstDash val="solid"/>
                      <a:round/>
                      <a:headEnd type="none" w="med" len="med"/>
                      <a:tailEnd type="none" w="med" len="med"/>
                    </a:lnB>
                  </a:tcPr>
                </a:tc>
              </a:tr>
            </a:tbl>
          </a:graphicData>
        </a:graphic>
      </p:graphicFrame>
      <p:sp>
        <p:nvSpPr>
          <p:cNvPr id="5" name="Shape 2"/>
          <p:cNvSpPr/>
          <p:nvPr/>
        </p:nvSpPr>
        <p:spPr>
          <a:xfrm>
            <a:off x="457200" y="4206240"/>
            <a:ext cx="8229600" cy="594360"/>
          </a:xfrm>
          <a:prstGeom prst="roundRect">
            <a:avLst>
              <a:gd name="adj" fmla="val 12308"/>
            </a:avLst>
          </a:prstGeom>
          <a:solidFill>
            <a:srgbClr val="FFFFFF"/>
          </a:solidFill>
          <a:ln w="25400">
            <a:solidFill>
              <a:srgbClr val="2F9E44"/>
            </a:solidFill>
            <a:prstDash val="solid"/>
          </a:ln>
        </p:spPr>
      </p:sp>
      <p:sp>
        <p:nvSpPr>
          <p:cNvPr id="6" name="Text 3"/>
          <p:cNvSpPr txBox="1"/>
          <p:nvPr/>
        </p:nvSpPr>
        <p:spPr>
          <a:xfrm>
            <a:off x="640080" y="420624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annotation is never the mechanism. It is one of three ways to write the same BeanDefinition.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The same bean, written three ways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Different syntax, identical BeanDefinition</a:t>
            </a:r>
            <a:endParaRPr lang="en-US" sz="1500" dirty="0"/>
          </a:p>
        </p:txBody>
      </p:sp>
      <p:sp>
        <p:nvSpPr>
          <p:cNvPr id="4" name="Text 2"/>
          <p:cNvSpPr txBox="1"/>
          <p:nvPr/>
        </p:nvSpPr>
        <p:spPr>
          <a:xfrm>
            <a:off x="457200" y="1325880"/>
            <a:ext cx="4023360" cy="228600"/>
          </a:xfrm>
          <a:prstGeom prst="rect">
            <a:avLst/>
          </a:prstGeom>
          <a:noFill/>
          <a:ln/>
        </p:spPr>
        <p:txBody>
          <a:bodyPr wrap="square" lIns="0" tIns="0" rIns="0" bIns="0" rtlCol="0" anchor="ctr"/>
          <a:lstStyle/>
          <a:p>
            <a:pPr indent="0" marL="0">
              <a:buNone/>
            </a:pPr>
            <a:r>
              <a:rPr lang="en-US" sz="1300" b="1" dirty="0">
                <a:solidFill>
                  <a:srgbClr val="5B6B7A"/>
                </a:solidFill>
                <a:latin typeface="Calibri" pitchFamily="34" charset="0"/>
                <a:ea typeface="Calibri" pitchFamily="34" charset="-122"/>
                <a:cs typeface="Calibri" pitchFamily="34" charset="-120"/>
              </a:rPr>
              <a:t>2008 — XML</a:t>
            </a:r>
            <a:endParaRPr lang="en-US" sz="1300" dirty="0"/>
          </a:p>
        </p:txBody>
      </p:sp>
      <p:sp>
        <p:nvSpPr>
          <p:cNvPr id="5" name="Shape 3"/>
          <p:cNvSpPr/>
          <p:nvPr/>
        </p:nvSpPr>
        <p:spPr>
          <a:xfrm>
            <a:off x="457200" y="1554480"/>
            <a:ext cx="4023360" cy="2651760"/>
          </a:xfrm>
          <a:prstGeom prst="roundRect">
            <a:avLst>
              <a:gd name="adj" fmla="val 2069"/>
            </a:avLst>
          </a:prstGeom>
          <a:solidFill>
            <a:srgbClr val="F1F3F5"/>
          </a:solidFill>
          <a:ln w="12700">
            <a:solidFill>
              <a:srgbClr val="DEE2E6"/>
            </a:solidFill>
            <a:prstDash val="solid"/>
          </a:ln>
        </p:spPr>
      </p:sp>
      <p:sp>
        <p:nvSpPr>
          <p:cNvPr id="6" name="Text 4"/>
          <p:cNvSpPr txBox="1"/>
          <p:nvPr/>
        </p:nvSpPr>
        <p:spPr>
          <a:xfrm>
            <a:off x="621792" y="1664208"/>
            <a:ext cx="3694176" cy="2432304"/>
          </a:xfrm>
          <a:prstGeom prst="rect">
            <a:avLst/>
          </a:prstGeom>
          <a:noFill/>
          <a:ln/>
        </p:spPr>
        <p:txBody>
          <a:bodyPr wrap="square" lIns="0" tIns="0" rIns="0" bIns="0" rtlCol="0" anchor="ctr"/>
          <a:lstStyle/>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&lt;bean id="orderService"</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class="shop.OrderServiceImpl"&gt;</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&lt;constructor-arg ref="orderRepository"/&gt;</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&lt;/bean&gt;</a:t>
            </a:r>
            <a:endParaRPr lang="en-US" sz="900" dirty="0"/>
          </a:p>
          <a:p>
            <a:pPr indent="0" marL="0">
              <a:lnSpc>
                <a:spcPct val="115000"/>
              </a:lnSpc>
              <a:buNone/>
            </a:pP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&lt;bean id="orderRepository"</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class="shop.InMemoryOrderRepository"</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init-method="open"</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destroy-method="close"</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scope="singleton"/&gt;</a:t>
            </a:r>
            <a:endParaRPr lang="en-US" sz="900" dirty="0"/>
          </a:p>
        </p:txBody>
      </p:sp>
      <p:sp>
        <p:nvSpPr>
          <p:cNvPr id="7" name="Text 5"/>
          <p:cNvSpPr txBox="1"/>
          <p:nvPr/>
        </p:nvSpPr>
        <p:spPr>
          <a:xfrm>
            <a:off x="4663440" y="1298448"/>
            <a:ext cx="4023360" cy="228600"/>
          </a:xfrm>
          <a:prstGeom prst="rect">
            <a:avLst/>
          </a:prstGeom>
          <a:noFill/>
          <a:ln/>
        </p:spPr>
        <p:txBody>
          <a:bodyPr wrap="square" lIns="0" tIns="0" rIns="0" bIns="0" rtlCol="0" anchor="ctr"/>
          <a:lstStyle/>
          <a:p>
            <a:pPr indent="0" marL="0">
              <a:buNone/>
            </a:pPr>
            <a:r>
              <a:rPr lang="en-US" sz="1300" b="1" dirty="0">
                <a:solidFill>
                  <a:srgbClr val="2F9E44"/>
                </a:solidFill>
                <a:latin typeface="Calibri" pitchFamily="34" charset="0"/>
                <a:ea typeface="Calibri" pitchFamily="34" charset="-122"/>
                <a:cs typeface="Calibri" pitchFamily="34" charset="-120"/>
              </a:rPr>
              <a:t>Today — annotations</a:t>
            </a:r>
            <a:endParaRPr lang="en-US" sz="1300" dirty="0"/>
          </a:p>
        </p:txBody>
      </p:sp>
      <p:sp>
        <p:nvSpPr>
          <p:cNvPr id="8" name="Shape 6"/>
          <p:cNvSpPr/>
          <p:nvPr/>
        </p:nvSpPr>
        <p:spPr>
          <a:xfrm>
            <a:off x="4663440" y="1554480"/>
            <a:ext cx="4023360" cy="1051560"/>
          </a:xfrm>
          <a:prstGeom prst="roundRect">
            <a:avLst>
              <a:gd name="adj" fmla="val 5217"/>
            </a:avLst>
          </a:prstGeom>
          <a:solidFill>
            <a:srgbClr val="F1F3F5"/>
          </a:solidFill>
          <a:ln w="12700">
            <a:solidFill>
              <a:srgbClr val="DEE2E6"/>
            </a:solidFill>
            <a:prstDash val="solid"/>
          </a:ln>
        </p:spPr>
      </p:sp>
      <p:sp>
        <p:nvSpPr>
          <p:cNvPr id="9" name="Text 7"/>
          <p:cNvSpPr txBox="1"/>
          <p:nvPr/>
        </p:nvSpPr>
        <p:spPr>
          <a:xfrm>
            <a:off x="4828032" y="1664208"/>
            <a:ext cx="3694176" cy="832104"/>
          </a:xfrm>
          <a:prstGeom prst="rect">
            <a:avLst/>
          </a:prstGeom>
          <a:noFill/>
          <a:ln/>
        </p:spPr>
        <p:txBody>
          <a:bodyPr wrap="square" lIns="0" tIns="0" rIns="0" bIns="0" rtlCol="0" anchor="ctr"/>
          <a:lstStyle/>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@Component</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class OrderServiceImpl implements OrderService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OrderServiceImpl(OrderRepository repo) {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a:t>
            </a:r>
            <a:endParaRPr lang="en-US" sz="900" dirty="0"/>
          </a:p>
        </p:txBody>
      </p:sp>
      <p:sp>
        <p:nvSpPr>
          <p:cNvPr id="10" name="Text 8"/>
          <p:cNvSpPr txBox="1"/>
          <p:nvPr/>
        </p:nvSpPr>
        <p:spPr>
          <a:xfrm>
            <a:off x="4663440" y="2743200"/>
            <a:ext cx="4023360" cy="228600"/>
          </a:xfrm>
          <a:prstGeom prst="rect">
            <a:avLst/>
          </a:prstGeom>
          <a:noFill/>
          <a:ln/>
        </p:spPr>
        <p:txBody>
          <a:bodyPr wrap="square" lIns="0" tIns="0" rIns="0" bIns="0" rtlCol="0" anchor="ctr"/>
          <a:lstStyle/>
          <a:p>
            <a:pPr indent="0" marL="0">
              <a:buNone/>
            </a:pPr>
            <a:r>
              <a:rPr lang="en-US" sz="1300" b="1" dirty="0">
                <a:solidFill>
                  <a:srgbClr val="2F9E44"/>
                </a:solidFill>
                <a:latin typeface="Calibri" pitchFamily="34" charset="0"/>
                <a:ea typeface="Calibri" pitchFamily="34" charset="-122"/>
                <a:cs typeface="Calibri" pitchFamily="34" charset="-120"/>
              </a:rPr>
              <a:t>Today — Java configuration</a:t>
            </a:r>
            <a:endParaRPr lang="en-US" sz="1300" dirty="0"/>
          </a:p>
        </p:txBody>
      </p:sp>
      <p:sp>
        <p:nvSpPr>
          <p:cNvPr id="11" name="Shape 9"/>
          <p:cNvSpPr/>
          <p:nvPr/>
        </p:nvSpPr>
        <p:spPr>
          <a:xfrm>
            <a:off x="4663440" y="2999232"/>
            <a:ext cx="4023360" cy="1207008"/>
          </a:xfrm>
          <a:prstGeom prst="roundRect">
            <a:avLst>
              <a:gd name="adj" fmla="val 4545"/>
            </a:avLst>
          </a:prstGeom>
          <a:solidFill>
            <a:srgbClr val="F1F3F5"/>
          </a:solidFill>
          <a:ln w="12700">
            <a:solidFill>
              <a:srgbClr val="DEE2E6"/>
            </a:solidFill>
            <a:prstDash val="solid"/>
          </a:ln>
        </p:spPr>
      </p:sp>
      <p:sp>
        <p:nvSpPr>
          <p:cNvPr id="12" name="Text 10"/>
          <p:cNvSpPr txBox="1"/>
          <p:nvPr/>
        </p:nvSpPr>
        <p:spPr>
          <a:xfrm>
            <a:off x="4828032" y="3108960"/>
            <a:ext cx="3694176" cy="987552"/>
          </a:xfrm>
          <a:prstGeom prst="rect">
            <a:avLst/>
          </a:prstGeom>
          <a:noFill/>
          <a:ln/>
        </p:spPr>
        <p:txBody>
          <a:bodyPr wrap="square" lIns="0" tIns="0" rIns="0" bIns="0" rtlCol="0" anchor="ctr"/>
          <a:lstStyle/>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@Configuration</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class AppConfig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@Bean</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OrderService orderService(OrderRepository r)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return new OrderServiceImpl(r);</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    }</a:t>
            </a:r>
            <a:endParaRPr lang="en-US" sz="900" dirty="0"/>
          </a:p>
          <a:p>
            <a:pPr indent="0" marL="0">
              <a:lnSpc>
                <a:spcPct val="115000"/>
              </a:lnSpc>
              <a:buNone/>
            </a:pPr>
            <a:r>
              <a:rPr lang="en-US" sz="900" dirty="0">
                <a:solidFill>
                  <a:srgbClr val="22303C"/>
                </a:solidFill>
                <a:latin typeface="Courier New" pitchFamily="34" charset="0"/>
                <a:ea typeface="Courier New" pitchFamily="34" charset="-122"/>
                <a:cs typeface="Courier New" pitchFamily="34" charset="-120"/>
              </a:rPr>
              <a:t>}</a:t>
            </a:r>
            <a:endParaRPr lang="en-US" sz="900" dirty="0"/>
          </a:p>
        </p:txBody>
      </p:sp>
      <p:sp>
        <p:nvSpPr>
          <p:cNvPr id="13" name="Shape 11"/>
          <p:cNvSpPr/>
          <p:nvPr/>
        </p:nvSpPr>
        <p:spPr>
          <a:xfrm>
            <a:off x="457200" y="4343400"/>
            <a:ext cx="8229600" cy="594360"/>
          </a:xfrm>
          <a:prstGeom prst="roundRect">
            <a:avLst>
              <a:gd name="adj" fmla="val 12308"/>
            </a:avLst>
          </a:prstGeom>
          <a:solidFill>
            <a:srgbClr val="FFFFFF"/>
          </a:solidFill>
          <a:ln w="25400">
            <a:solidFill>
              <a:srgbClr val="2F9E44"/>
            </a:solidFill>
            <a:prstDash val="solid"/>
          </a:ln>
        </p:spPr>
      </p:sp>
      <p:sp>
        <p:nvSpPr>
          <p:cNvPr id="14" name="Text 12"/>
          <p:cNvSpPr txBox="1"/>
          <p:nvPr/>
        </p:nvSpPr>
        <p:spPr>
          <a:xfrm>
            <a:off x="640080" y="434340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container reads all three into the same object. XML did not disappear because it was wrong, but because the metadata sat far from the code.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Zoom 1 — finding the classes</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Java has no API to list the classes of a package</a:t>
            </a:r>
            <a:endParaRPr lang="en-US" sz="1500" dirty="0"/>
          </a:p>
        </p:txBody>
      </p:sp>
      <p:sp>
        <p:nvSpPr>
          <p:cNvPr id="4" name="Shape 2"/>
          <p:cNvSpPr/>
          <p:nvPr/>
        </p:nvSpPr>
        <p:spPr>
          <a:xfrm>
            <a:off x="457200" y="1371600"/>
            <a:ext cx="8229600" cy="1691640"/>
          </a:xfrm>
          <a:prstGeom prst="roundRect">
            <a:avLst>
              <a:gd name="adj" fmla="val 3243"/>
            </a:avLst>
          </a:prstGeom>
          <a:solidFill>
            <a:srgbClr val="F1F3F5"/>
          </a:solidFill>
          <a:ln w="12700">
            <a:solidFill>
              <a:srgbClr val="DEE2E6"/>
            </a:solidFill>
            <a:prstDash val="solid"/>
          </a:ln>
        </p:spPr>
      </p:sp>
      <p:sp>
        <p:nvSpPr>
          <p:cNvPr id="5" name="Text 3"/>
          <p:cNvSpPr txBox="1"/>
          <p:nvPr/>
        </p:nvSpPr>
        <p:spPr>
          <a:xfrm>
            <a:off x="621792" y="1481328"/>
            <a:ext cx="7900416" cy="147218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private static boolean isInstantiableComponent(Class&lt;?&gt; type) {</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int modifiers = type.getModifiers();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return isComponent(type)</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&amp;&amp; !type.isInterface()</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&amp;&amp; !Modifier.isAbstract(modifiers)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            &amp;&amp; (!type.isMemberClass() || Modifier.isStatic(modifiers));</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a:t>
            </a:r>
            <a:endParaRPr lang="en-US" sz="1200" dirty="0"/>
          </a:p>
        </p:txBody>
      </p:sp>
      <p:sp>
        <p:nvSpPr>
          <p:cNvPr id="6" name="Text 4"/>
          <p:cNvSpPr txBox="1"/>
          <p:nvPr/>
        </p:nvSpPr>
        <p:spPr>
          <a:xfrm>
            <a:off x="502920" y="3154680"/>
            <a:ext cx="8229600" cy="10058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Ask the ClassLoader for the package directory, then walk it with Files.walk</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Load with Class.forName(name, false, loader): finding must not run static initialisers</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Sort the result, so that startup order never depends on the file system</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Zoom 2 — choosing a constructor, then a bean</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Two rules, and an error message that does the teaching</a:t>
            </a:r>
            <a:endParaRPr lang="en-US" sz="1500" dirty="0"/>
          </a:p>
        </p:txBody>
      </p:sp>
      <p:sp>
        <p:nvSpPr>
          <p:cNvPr id="4" name="Text 2"/>
          <p:cNvSpPr txBox="1"/>
          <p:nvPr/>
        </p:nvSpPr>
        <p:spPr>
          <a:xfrm>
            <a:off x="502920" y="1371600"/>
            <a:ext cx="8229600" cy="128016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One constructor: use it, no annotation needed — that is why @Autowired disappeared from modern Spring code</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Several: use the one marked @Autowired; several marked, or none: fail, and list the candidates</a:t>
            </a:r>
            <a:endParaRPr lang="en-US" sz="1500" dirty="0"/>
          </a:p>
          <a:p>
            <a:pPr marL="342900" indent="-342900">
              <a:spcAft>
                <a:spcPts val="800"/>
              </a:spcAft>
              <a:buSzPct val="100000"/>
              <a:buChar char="•"/>
            </a:pPr>
            <a:r>
              <a:rPr lang="en-US" sz="1500" dirty="0">
                <a:solidFill>
                  <a:srgbClr val="22303C"/>
                </a:solidFill>
                <a:latin typeface="Calibri" pitchFamily="34" charset="0"/>
                <a:ea typeface="Calibri" pitchFamily="34" charset="-122"/>
                <a:cs typeface="Calibri" pitchFamily="34" charset="-120"/>
              </a:rPr>
              <a:t>Then, per parameter: type match, then @Qualifier by name, then @Primary. Never a guess.</a:t>
            </a:r>
            <a:endParaRPr lang="en-US" sz="1500" dirty="0"/>
          </a:p>
        </p:txBody>
      </p:sp>
      <p:sp>
        <p:nvSpPr>
          <p:cNvPr id="5" name="Shape 3"/>
          <p:cNvSpPr/>
          <p:nvPr/>
        </p:nvSpPr>
        <p:spPr>
          <a:xfrm>
            <a:off x="457200" y="2743200"/>
            <a:ext cx="8229600" cy="1051560"/>
          </a:xfrm>
          <a:prstGeom prst="roundRect">
            <a:avLst>
              <a:gd name="adj" fmla="val 5217"/>
            </a:avLst>
          </a:prstGeom>
          <a:solidFill>
            <a:srgbClr val="F1F3F5"/>
          </a:solidFill>
          <a:ln w="12700">
            <a:solidFill>
              <a:srgbClr val="DEE2E6"/>
            </a:solidFill>
            <a:prstDash val="solid"/>
          </a:ln>
        </p:spPr>
      </p:sp>
      <p:sp>
        <p:nvSpPr>
          <p:cNvPr id="6" name="Text 4"/>
          <p:cNvSpPr txBox="1"/>
          <p:nvPr/>
        </p:nvSpPr>
        <p:spPr>
          <a:xfrm>
            <a:off x="621792" y="2852928"/>
            <a:ext cx="7900416" cy="83210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2 beans of type com.example.PaymentGateway match, required by</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parameter 'gateway' of bean 'checkout': [stripeGateway, paypalGateway].</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Mark one with @Primary, or choose one with @Qualifier("name").</a:t>
            </a:r>
            <a:endParaRPr lang="en-US" sz="1100" dirty="0"/>
          </a:p>
        </p:txBody>
      </p:sp>
      <p:sp>
        <p:nvSpPr>
          <p:cNvPr id="7" name="Shape 5"/>
          <p:cNvSpPr/>
          <p:nvPr/>
        </p:nvSpPr>
        <p:spPr>
          <a:xfrm>
            <a:off x="457200" y="397764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397764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An error message that names the parameter and every candidate is worth more than a page of documentation.</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3000" b="1" dirty="0">
                <a:solidFill>
                  <a:srgbClr val="22303C"/>
                </a:solidFill>
                <a:latin typeface="Cambria" pitchFamily="34" charset="0"/>
                <a:ea typeface="Cambria" pitchFamily="34" charset="-122"/>
                <a:cs typeface="Cambria" pitchFamily="34" charset="-120"/>
              </a:rPr>
              <a:t>Scopes: how many instances exist</a:t>
            </a:r>
            <a:endParaRPr lang="en-US" sz="30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One shared, or one per request</a:t>
            </a:r>
            <a:endParaRPr lang="en-US" sz="1500" dirty="0"/>
          </a:p>
        </p:txBody>
      </p:sp>
      <p:sp>
        <p:nvSpPr>
          <p:cNvPr id="4" name="Shape 2"/>
          <p:cNvSpPr/>
          <p:nvPr/>
        </p:nvSpPr>
        <p:spPr>
          <a:xfrm>
            <a:off x="457200" y="1371600"/>
            <a:ext cx="8229600" cy="1508760"/>
          </a:xfrm>
          <a:prstGeom prst="roundRect">
            <a:avLst>
              <a:gd name="adj" fmla="val 3636"/>
            </a:avLst>
          </a:prstGeom>
          <a:solidFill>
            <a:srgbClr val="F1F3F5"/>
          </a:solidFill>
          <a:ln w="12700">
            <a:solidFill>
              <a:srgbClr val="DEE2E6"/>
            </a:solidFill>
            <a:prstDash val="solid"/>
          </a:ln>
        </p:spPr>
      </p:sp>
      <p:sp>
        <p:nvSpPr>
          <p:cNvPr id="5" name="Text 3"/>
          <p:cNvSpPr txBox="1"/>
          <p:nvPr/>
        </p:nvSpPr>
        <p:spPr>
          <a:xfrm>
            <a:off x="621792" y="1481328"/>
            <a:ext cx="7900416" cy="128930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@Component                              // one instance, created at startup</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class Cache { }</a:t>
            </a:r>
            <a:endParaRPr lang="en-US" sz="1200" dirty="0"/>
          </a:p>
          <a:p>
            <a:pPr indent="0" marL="0">
              <a:lnSpc>
                <a:spcPct val="115000"/>
              </a:lnSpc>
              <a:buNone/>
            </a:pP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@Component @Scope(ScopeType.PROTOTYPE)  // a new one on every lookup</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class ShoppingCart { }</a:t>
            </a:r>
            <a:endParaRPr lang="en-US" sz="1200" dirty="0"/>
          </a:p>
        </p:txBody>
      </p:sp>
      <p:sp>
        <p:nvSpPr>
          <p:cNvPr id="6" name="Text 4"/>
          <p:cNvSpPr txBox="1"/>
          <p:nvPr/>
        </p:nvSpPr>
        <p:spPr>
          <a:xfrm>
            <a:off x="502920" y="2971800"/>
            <a:ext cx="8229600" cy="10515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Singletons are created at startup, so a wiring mistake fails then — not at three in the morning</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A prototype is created on every request, and the container keeps no reference to it</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Which is why a prototype never receives @PreDestroy: nobody is holding it for you</a:t>
            </a:r>
            <a:endParaRPr lang="en-US" sz="1400" dirty="0"/>
          </a:p>
        </p:txBody>
      </p:sp>
      <p:sp>
        <p:nvSpPr>
          <p:cNvPr id="7" name="Shape 5"/>
          <p:cNvSpPr/>
          <p:nvPr/>
        </p:nvSpPr>
        <p:spPr>
          <a:xfrm>
            <a:off x="457200" y="4114800"/>
            <a:ext cx="8229600" cy="594360"/>
          </a:xfrm>
          <a:prstGeom prst="roundRect">
            <a:avLst>
              <a:gd name="adj" fmla="val 12308"/>
            </a:avLst>
          </a:prstGeom>
          <a:solidFill>
            <a:srgbClr val="FFFFFF"/>
          </a:solidFill>
          <a:ln w="25400">
            <a:solidFill>
              <a:srgbClr val="E8590C"/>
            </a:solidFill>
            <a:prstDash val="solid"/>
          </a:ln>
        </p:spPr>
      </p:sp>
      <p:sp>
        <p:nvSpPr>
          <p:cNvPr id="8" name="Text 6"/>
          <p:cNvSpPr txBox="1"/>
          <p:nvPr/>
        </p:nvSpPr>
        <p:spPr>
          <a:xfrm>
            <a:off x="640080" y="4114800"/>
            <a:ext cx="7863840" cy="5943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A prototype injected into a singleton is created once, and once only. Same in Spring, and it surprises everyone.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The lifecycle: after injection, before the end</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Order is the whole feature</a:t>
            </a:r>
            <a:endParaRPr lang="en-US" sz="1500" dirty="0"/>
          </a:p>
        </p:txBody>
      </p:sp>
      <p:sp>
        <p:nvSpPr>
          <p:cNvPr id="4" name="Shape 2"/>
          <p:cNvSpPr/>
          <p:nvPr/>
        </p:nvSpPr>
        <p:spPr>
          <a:xfrm>
            <a:off x="457200" y="1371600"/>
            <a:ext cx="8229600" cy="1508760"/>
          </a:xfrm>
          <a:prstGeom prst="roundRect">
            <a:avLst>
              <a:gd name="adj" fmla="val 3636"/>
            </a:avLst>
          </a:prstGeom>
          <a:solidFill>
            <a:srgbClr val="F1F3F5"/>
          </a:solidFill>
          <a:ln w="12700">
            <a:solidFill>
              <a:srgbClr val="DEE2E6"/>
            </a:solidFill>
            <a:prstDash val="solid"/>
          </a:ln>
        </p:spPr>
      </p:sp>
      <p:sp>
        <p:nvSpPr>
          <p:cNvPr id="5" name="Text 3"/>
          <p:cNvSpPr txBox="1"/>
          <p:nvPr/>
        </p:nvSpPr>
        <p:spPr>
          <a:xfrm>
            <a:off x="621792" y="1481328"/>
            <a:ext cx="7900416" cy="1289304"/>
          </a:xfrm>
          <a:prstGeom prst="rect">
            <a:avLst/>
          </a:prstGeom>
          <a:noFill/>
          <a:ln/>
        </p:spPr>
        <p:txBody>
          <a:bodyPr wrap="square" lIns="0" tIns="0" rIns="0" bIns="0" rtlCol="0" anchor="ctr"/>
          <a:lstStyle/>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init service with repository true      &lt;- @PostConstruct, after injection</a:t>
            </a:r>
            <a:endParaRPr lang="en-US" sz="1200" dirty="0"/>
          </a:p>
          <a:p>
            <a:pPr indent="0" marL="0">
              <a:lnSpc>
                <a:spcPct val="115000"/>
              </a:lnSpc>
              <a:buNone/>
            </a:pP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destroy controller                     &lt;- close(), in reverse creation order</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destroy service</a:t>
            </a:r>
            <a:endParaRPr lang="en-US" sz="1200" dirty="0"/>
          </a:p>
          <a:p>
            <a:pPr indent="0" marL="0">
              <a:lnSpc>
                <a:spcPct val="115000"/>
              </a:lnSpc>
              <a:buNone/>
            </a:pPr>
            <a:r>
              <a:rPr lang="en-US" sz="1200" dirty="0">
                <a:solidFill>
                  <a:srgbClr val="22303C"/>
                </a:solidFill>
                <a:latin typeface="Courier New" pitchFamily="34" charset="0"/>
                <a:ea typeface="Courier New" pitchFamily="34" charset="-122"/>
                <a:cs typeface="Courier New" pitchFamily="34" charset="-120"/>
              </a:rPr>
              <a:t>destroy repository</a:t>
            </a:r>
            <a:endParaRPr lang="en-US" sz="1200" dirty="0"/>
          </a:p>
        </p:txBody>
      </p:sp>
      <p:sp>
        <p:nvSpPr>
          <p:cNvPr id="6" name="Text 4"/>
          <p:cNvSpPr txBox="1"/>
          <p:nvPr/>
        </p:nvSpPr>
        <p:spPr>
          <a:xfrm>
            <a:off x="502920" y="2971800"/>
            <a:ext cx="8229600" cy="12801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@PostConstruct runs after injection, so the dependencies are usable — that is its only purpose</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close() destroys in reverse creation order, so a bean dies before what it depends on</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A failing @PreDestroy is logged, and the other beans are still closed</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If startup fails halfway, what was already created is destroyed before the error propagates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713232"/>
          </a:xfrm>
          <a:prstGeom prst="rect">
            <a:avLst/>
          </a:prstGeom>
          <a:noFill/>
          <a:ln/>
        </p:spPr>
        <p:txBody>
          <a:bodyPr wrap="square" lIns="0" tIns="0" rIns="0" bIns="0" rtlCol="0" anchor="t"/>
          <a:lstStyle/>
          <a:p>
            <a:pPr indent="0" marL="0">
              <a:buNone/>
            </a:pPr>
            <a:r>
              <a:rPr lang="en-US" sz="2600" b="1" dirty="0">
                <a:solidFill>
                  <a:srgbClr val="22303C"/>
                </a:solidFill>
                <a:latin typeface="Cambria" pitchFamily="34" charset="0"/>
                <a:ea typeface="Cambria" pitchFamily="34" charset="-122"/>
                <a:cs typeface="Cambria" pitchFamily="34" charset="-120"/>
              </a:rPr>
              <a:t>Circular dependencies: why a constructor cannot</a:t>
            </a:r>
            <a:endParaRPr lang="en-US" sz="26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500" dirty="0">
                <a:solidFill>
                  <a:srgbClr val="5B6B7A"/>
                </a:solidFill>
                <a:latin typeface="Calibri" pitchFamily="34" charset="0"/>
                <a:ea typeface="Calibri" pitchFamily="34" charset="-122"/>
                <a:cs typeface="Calibri" pitchFamily="34" charset="-120"/>
              </a:rPr>
              <a:t>And why that is good news</a:t>
            </a:r>
            <a:endParaRPr lang="en-US" sz="1500" dirty="0"/>
          </a:p>
        </p:txBody>
      </p:sp>
      <p:sp>
        <p:nvSpPr>
          <p:cNvPr id="4" name="Shape 2"/>
          <p:cNvSpPr/>
          <p:nvPr/>
        </p:nvSpPr>
        <p:spPr>
          <a:xfrm>
            <a:off x="457200" y="1371600"/>
            <a:ext cx="8229600" cy="1783080"/>
          </a:xfrm>
          <a:prstGeom prst="roundRect">
            <a:avLst>
              <a:gd name="adj" fmla="val 3077"/>
            </a:avLst>
          </a:prstGeom>
          <a:solidFill>
            <a:srgbClr val="F1F3F5"/>
          </a:solidFill>
          <a:ln w="12700">
            <a:solidFill>
              <a:srgbClr val="DEE2E6"/>
            </a:solidFill>
            <a:prstDash val="solid"/>
          </a:ln>
        </p:spPr>
      </p:sp>
      <p:sp>
        <p:nvSpPr>
          <p:cNvPr id="5" name="Text 3"/>
          <p:cNvSpPr txBox="1"/>
          <p:nvPr/>
        </p:nvSpPr>
        <p:spPr>
          <a:xfrm>
            <a:off x="621792" y="1481328"/>
            <a:ext cx="7900416" cy="1563624"/>
          </a:xfrm>
          <a:prstGeom prst="rect">
            <a:avLst/>
          </a:prstGeom>
          <a:noFill/>
          <a:ln/>
        </p:spPr>
        <p:txBody>
          <a:bodyPr wrap="square" lIns="0" tIns="0" rIns="0" bIns="0" rtlCol="0" anchor="ctr"/>
          <a:lstStyle/>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class Chicken { Chicken(Egg egg) { } }</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class Egg     { Egg(Chicken chicken) { } }</a:t>
            </a:r>
            <a:endParaRPr lang="en-US" sz="1100" dirty="0"/>
          </a:p>
          <a:p>
            <a:pPr indent="0" marL="0">
              <a:lnSpc>
                <a:spcPct val="115000"/>
              </a:lnSpc>
              <a:buNone/>
            </a:pP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Circular dependency: rock -&gt; paper -&gt; scissors -&gt; rock. Constructor injection cannot</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create a bean before its own dependencies exist; move the shared logic into a</a:t>
            </a:r>
            <a:endParaRPr lang="en-US" sz="1100" dirty="0"/>
          </a:p>
          <a:p>
            <a:pPr indent="0" marL="0">
              <a:lnSpc>
                <a:spcPct val="115000"/>
              </a:lnSpc>
              <a:buNone/>
            </a:pPr>
            <a:r>
              <a:rPr lang="en-US" sz="1100" dirty="0">
                <a:solidFill>
                  <a:srgbClr val="22303C"/>
                </a:solidFill>
                <a:latin typeface="Courier New" pitchFamily="34" charset="0"/>
                <a:ea typeface="Courier New" pitchFamily="34" charset="-122"/>
                <a:cs typeface="Courier New" pitchFamily="34" charset="-120"/>
              </a:rPr>
              <a:t>separate bean to break the cycle.</a:t>
            </a:r>
            <a:endParaRPr lang="en-US" sz="1100" dirty="0"/>
          </a:p>
        </p:txBody>
      </p:sp>
      <p:sp>
        <p:nvSpPr>
          <p:cNvPr id="6" name="Text 4"/>
          <p:cNvSpPr txBox="1"/>
          <p:nvPr/>
        </p:nvSpPr>
        <p:spPr>
          <a:xfrm>
            <a:off x="502920" y="3246120"/>
            <a:ext cx="8229600" cy="10515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With constructors it is simply impossible: A cannot exist before B if each needs the other</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Spring resolves cycles only for field injection, by handing out a half-built object from an early cache</a:t>
            </a:r>
            <a:endParaRPr lang="en-US" sz="1400" dirty="0"/>
          </a:p>
          <a:p>
            <a:pPr marL="342900" indent="-342900">
              <a:spcAft>
                <a:spcPts val="800"/>
              </a:spcAft>
              <a:buSzPct val="100000"/>
              <a:buChar char="•"/>
            </a:pPr>
            <a:r>
              <a:rPr lang="en-US" sz="1400" dirty="0">
                <a:solidFill>
                  <a:srgbClr val="22303C"/>
                </a:solidFill>
                <a:latin typeface="Calibri" pitchFamily="34" charset="0"/>
                <a:ea typeface="Calibri" pitchFamily="34" charset="-122"/>
                <a:cs typeface="Calibri" pitchFamily="34" charset="-120"/>
              </a:rPr>
              <a:t>So a cycle is a design problem, and constructor injection is what makes it visible</a:t>
            </a:r>
            <a:endParaRPr lang="en-US" sz="1400" dirty="0"/>
          </a:p>
        </p:txBody>
      </p:sp>
      <p:sp>
        <p:nvSpPr>
          <p:cNvPr id="7" name="Shape 5"/>
          <p:cNvSpPr/>
          <p:nvPr/>
        </p:nvSpPr>
        <p:spPr>
          <a:xfrm>
            <a:off x="457200" y="4389120"/>
            <a:ext cx="8229600" cy="594360"/>
          </a:xfrm>
          <a:prstGeom prst="roundRect">
            <a:avLst>
              <a:gd name="adj" fmla="val 12308"/>
            </a:avLst>
          </a:prstGeom>
          <a:solidFill>
            <a:srgbClr val="FFFFFF"/>
          </a:solidFill>
          <a:ln w="25400">
            <a:solidFill>
              <a:srgbClr val="2F9E44"/>
            </a:solidFill>
            <a:prstDash val="solid"/>
          </a:ln>
        </p:spPr>
      </p:sp>
      <p:sp>
        <p:nvSpPr>
          <p:cNvPr id="8" name="Text 6"/>
          <p:cNvSpPr txBox="1"/>
          <p:nvPr/>
        </p:nvSpPr>
        <p:spPr>
          <a:xfrm>
            <a:off x="640080" y="4389120"/>
            <a:ext cx="7863840" cy="5943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The container refuses, and shows the whole chain. That is a feature, not a limitation.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C:\Users\ayoub\Desktop\spring-app\docs\presentation\diagrams\d1-lifecycle.png">    </p:cNvPr>
          <p:cNvPicPr>
            <a:picLocks noChangeAspect="1"/>
          </p:cNvPicPr>
          <p:nvPr/>
        </p:nvPicPr>
        <p:blipFill>
          <a:blip r:embed="rId1"/>
          <a:stretch>
            <a:fillRect/>
          </a:stretch>
        </p:blipFill>
        <p:spPr>
          <a:xfrm>
            <a:off x="457200" y="256032"/>
            <a:ext cx="8229600" cy="46268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things to take home</a:t>
            </a:r>
            <a:endParaRPr lang="en-US" sz="3000" dirty="0"/>
          </a:p>
        </p:txBody>
      </p:sp>
      <p:sp>
        <p:nvSpPr>
          <p:cNvPr id="3" name="Shape 1"/>
          <p:cNvSpPr/>
          <p:nvPr/>
        </p:nvSpPr>
        <p:spPr>
          <a:xfrm>
            <a:off x="640080" y="1371600"/>
            <a:ext cx="457200" cy="457200"/>
          </a:xfrm>
          <a:prstGeom prst="ellipse">
            <a:avLst/>
          </a:prstGeom>
          <a:solidFill>
            <a:srgbClr val="2F9E44"/>
          </a:solidFill>
          <a:ln/>
        </p:spPr>
      </p:sp>
      <p:sp>
        <p:nvSpPr>
          <p:cNvPr id="4" name="Text 2"/>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80160" y="132588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An annotation does nothing</a:t>
            </a:r>
            <a:endParaRPr lang="en-US" sz="1800" dirty="0"/>
          </a:p>
        </p:txBody>
      </p:sp>
      <p:sp>
        <p:nvSpPr>
          <p:cNvPr id="6" name="Text 4"/>
          <p:cNvSpPr txBox="1"/>
          <p:nvPr/>
        </p:nvSpPr>
        <p:spPr>
          <a:xfrm>
            <a:off x="1280160" y="1645920"/>
            <a:ext cx="7315200" cy="41148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Something has to read it. javap showed you exactly what that something reads.</a:t>
            </a:r>
            <a:endParaRPr lang="en-US" sz="1300" dirty="0"/>
          </a:p>
        </p:txBody>
      </p:sp>
      <p:sp>
        <p:nvSpPr>
          <p:cNvPr id="7" name="Shape 5"/>
          <p:cNvSpPr/>
          <p:nvPr/>
        </p:nvSpPr>
        <p:spPr>
          <a:xfrm>
            <a:off x="640080" y="2331720"/>
            <a:ext cx="457200" cy="457200"/>
          </a:xfrm>
          <a:prstGeom prst="ellipse">
            <a:avLst/>
          </a:prstGeom>
          <a:solidFill>
            <a:srgbClr val="2F9E44"/>
          </a:solidFill>
          <a:ln/>
        </p:spPr>
      </p:sp>
      <p:sp>
        <p:nvSpPr>
          <p:cNvPr id="8" name="Text 6"/>
          <p:cNvSpPr txBox="1"/>
          <p:nvPr/>
        </p:nvSpPr>
        <p:spPr>
          <a:xfrm>
            <a:off x="640080" y="2331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80160" y="228600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container is a Map and a few rules</a:t>
            </a:r>
            <a:endParaRPr lang="en-US" sz="1800" dirty="0"/>
          </a:p>
        </p:txBody>
      </p:sp>
      <p:sp>
        <p:nvSpPr>
          <p:cNvPr id="10" name="Text 8"/>
          <p:cNvSpPr txBox="1"/>
          <p:nvPr/>
        </p:nvSpPr>
        <p:spPr>
          <a:xfrm>
            <a:off x="1280160" y="2606040"/>
            <a:ext cx="7315200" cy="41148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Definitions first, instances second. Every feature follows that order.</a:t>
            </a:r>
            <a:endParaRPr lang="en-US" sz="1300" dirty="0"/>
          </a:p>
        </p:txBody>
      </p:sp>
      <p:sp>
        <p:nvSpPr>
          <p:cNvPr id="11" name="Shape 9"/>
          <p:cNvSpPr/>
          <p:nvPr/>
        </p:nvSpPr>
        <p:spPr>
          <a:xfrm>
            <a:off x="640080" y="3291840"/>
            <a:ext cx="457200" cy="457200"/>
          </a:xfrm>
          <a:prstGeom prst="ellipse">
            <a:avLst/>
          </a:prstGeom>
          <a:solidFill>
            <a:srgbClr val="2F9E44"/>
          </a:solidFill>
          <a:ln/>
        </p:spPr>
      </p:sp>
      <p:sp>
        <p:nvSpPr>
          <p:cNvPr id="12" name="Text 10"/>
          <p:cNvSpPr txBox="1"/>
          <p:nvPr/>
        </p:nvSpPr>
        <p:spPr>
          <a:xfrm>
            <a:off x="64008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280160" y="3246120"/>
            <a:ext cx="73152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Constructor injection is a design choice</a:t>
            </a:r>
            <a:endParaRPr lang="en-US" sz="1800" dirty="0"/>
          </a:p>
        </p:txBody>
      </p:sp>
      <p:sp>
        <p:nvSpPr>
          <p:cNvPr id="14" name="Text 12"/>
          <p:cNvSpPr txBox="1"/>
          <p:nvPr/>
        </p:nvSpPr>
        <p:spPr>
          <a:xfrm>
            <a:off x="1280160" y="3566160"/>
            <a:ext cx="7315200" cy="41148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It makes your dependencies visible, and your cycles impossible to ignore.</a:t>
            </a:r>
            <a:endParaRPr lang="en-US" sz="1300" dirty="0"/>
          </a:p>
        </p:txBody>
      </p:sp>
      <p:sp>
        <p:nvSpPr>
          <p:cNvPr id="15" name="Shape 13"/>
          <p:cNvSpPr/>
          <p:nvPr/>
        </p:nvSpPr>
        <p:spPr>
          <a:xfrm>
            <a:off x="640080" y="4251960"/>
            <a:ext cx="4754880" cy="502920"/>
          </a:xfrm>
          <a:prstGeom prst="roundRect">
            <a:avLst>
              <a:gd name="adj" fmla="val 18182"/>
            </a:avLst>
          </a:prstGeom>
          <a:solidFill>
            <a:srgbClr val="2F9E44"/>
          </a:solidFill>
          <a:ln/>
        </p:spPr>
      </p:sp>
      <p:sp>
        <p:nvSpPr>
          <p:cNvPr id="16" name="Text 14"/>
          <p:cNvSpPr txBox="1"/>
          <p:nvPr/>
        </p:nvSpPr>
        <p:spPr>
          <a:xfrm>
            <a:off x="640080" y="4251960"/>
            <a:ext cx="475488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ourier New" pitchFamily="34" charset="0"/>
                <a:ea typeface="Courier New" pitchFamily="34" charset="-122"/>
                <a:cs typeface="Courier New" pitchFamily="34" charset="-120"/>
              </a:rPr>
              <a:t>github.com/ELMAALMIA/minispring</a:t>
            </a:r>
            <a:endParaRPr lang="en-US" sz="1300" dirty="0"/>
          </a:p>
        </p:txBody>
      </p:sp>
      <p:sp>
        <p:nvSpPr>
          <p:cNvPr id="17" name="Text 15"/>
          <p:cNvSpPr txBox="1"/>
          <p:nvPr/>
        </p:nvSpPr>
        <p:spPr>
          <a:xfrm>
            <a:off x="5577840" y="4279392"/>
            <a:ext cx="3108960" cy="45720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Part 2: why your @Transactional sometimes does nothing, and how @Conditional decides.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is not magic (1/2) — how a bean is born</dc:title>
  <dc:subject>PptxGenJS Presentation</dc:subject>
  <dc:creator>Ayoub EL Maalmi</dc:creator>
  <cp:lastModifiedBy>Ayoub EL Maalmi</cp:lastModifiedBy>
  <cp:revision>1</cp:revision>
  <dcterms:created xsi:type="dcterms:W3CDTF">2026-09-27T18:28:44Z</dcterms:created>
  <dcterms:modified xsi:type="dcterms:W3CDTF">2026-09-27T18:28:44Z</dcterms:modified>
</cp:coreProperties>
</file>