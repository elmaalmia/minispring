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two questions this hour answers: why does @Transactional sometimes do nothing, and why is that bean not there.
Say that part 1 is not required: the next two slides catch everyone up.
If some of the room saw part 1, thank them, then go anyway — repetition costs you two minutes and buys everyone else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recap in one picture. Walk steps 1 to 6 quickly: scan, describe, create, inject, initialise.
Then stop at step 7 and say: this is where today starts. The bean exists, it is initialised, and something is about to be allowed to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maximum. The room is either the same one as last time, or a new one: this slide has to work in both cases.
If a few people saw part 1, ask them to nod. Then say the one thing they need for today: the container builds an object, and only then does it decide what to hand over.
The diagram before this slide carries the detail. Here, say the four sentences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Do not rush this: without the post-processor, the proxy slides look like magic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comment in the code: 'or something else entirely'. That is the whole idea, and people miss it.
Spring has the same interface, with a before and an after method, and dozens of implementations. Two of them are AutowiredAnnotationBeanPostProcessor and the AOP auto-proxy creator.
The ordering point is worth ten seconds: if post-processing ran before @PostConstruct, your initialisation method would run on a proxy, and a transaction could be opened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IF LATE] it is a map, not an argument; the proxy slides carry the section on their own.
The punchline is the last row, and it is the bridge to the auto-configuration part. XML could describe beans; it could not describe a decision that depends on the classpath and on what you already declared.
If someone objects that XML had profiles: true, and profiles are the closest ancestor of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and the emotional peak of the talk. The self-invocation slide is what people will tell their colleagues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picture in words before the audience reads it: the caller does not hold your bean, it holds a proxy that implements the same interface.
The post-processor is 40 lines: find the @Transactional methods, ask the JDK for a proxy, call the transaction manager around each call.
Then pause, because the next slide is the one people will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who has already lost time on a @Transactional that did nothing? Hands go up, and you have their full attention.
Then explain with the diagram still fresh: the proxy wraps the bean from outside. Inside the bean, this is the bean. An internal call never crosses the proxy boundary.
Say the workarounds briefly: split into two beans, inject the bean into itself, or use AopContext. The first one is the honest fix.
This is the story that got the most reactions on my LinkedIn post. It is relatable, not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someone always asks after the proxy section: Spring proxies classes that have no interface, so how?
Explain the mechanism in one sentence: CGLIB writes a new class that extends yours and overrides every method to call the interceptor first.
Then the consequences, in order: no interface needed; a final class or a final, private or static method is silently never intercepted; getBean on the implementation class works because the proxy really is one; and the proxy is built without calling your constructor, using Objenesis, so its own fields stay null — it is only a switchboard in front of the real bean.
Three facts for questions: CGLIB has been repackaged inside spring-core since Spring 3.2; it is built on ASM; and it does not work in a GraalVM native image, which is part of why Spring 6 introduced AOT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This is the part that converts spectators into people who will try it tonight.
If the room is with you, do it live in the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if possible. Write the annotation, copy TransactionalProcessor, rename, run the test. Five minutes, rehearsed.
The sentence to land: every method-level annotation in Spring works this way. @Cacheable, @Retry, @Async, @PreAuthorize — same pattern, more edge cases.
Then warn them, honestly: in real projects, use the existing ones. The point is not to rewrite Spring, it is to stop being afraid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Tell the true story: this part exists because someone asked the question in a LinkedIn comment. It makes the talk feel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boxes. Insist on the first one: your beans are registered first. Everything else depends on that ordering.
Say what auto-configuration is in one sentence: a plugin that contributes bean definitions through an extension point, after you, and only for what is missing.
In my implementation the container knows nothing about it: a separate module, 300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rules are the answer to the question that started this part, and the takeaway of the whole section.
Rule two explains the warning in Spring's own documentation: @ConditionalOnMissingBean is only reliable inside an auto-configuration. Now they know why, instead of just obeying.
Bolt: @ConditionalOnClass has to name classes as strings in my version, because reading a Class attribute pointing at an absent class fails — which is exactly the case it exists for. Spring solves it by reading annotations from the bytecode with ASM. One constraint, and a dependency people never question suddenly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IF LATE] the two rules slide already carries the idea; this is the reference version.
The point to make: these five cover almost everything Spring Boot does. When you read a starter's source, you will recognise all of them.
The Condition interface itself returns a decision plus a reason, which is what makes the next slide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takeaway people can use on Monday morning, whatever framework they run.
Say it plainly: most developers debug auto-configuration by guessing. The report turns guessing into reading.
DEMO: run the three-scenario demo from the repository. Default bean, your own bean, starter switched off. Ninety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Never end a rebuild talk on a victory lap — the audience knows Spring does infinitely more. Owning that is what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without irony. The audience includes people who maintain large Spring applications; respect that.
If someone asks how to make Spring Boot start faster: lazy initialisation, fewer starters, and AOT with native images. One sentence, do not start a second talk.
Own my own limitations too: constructor injection only, JDK proxies only, no jar scanning, not thread-safe during startup. They are choices, and they are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IF LATE] the numbers are nice, not necessary.
Use them to set expectations, not to brag. If someone asks about the tests: JUnit 5 and AssertJ only, no Mockito. When a test needs a mock, the design is too coupled — that rule alone improved the container's design twice.
SonarCloud reports zero bugs, zero vulnerabilities and zero code smells, and the build fails below 90% coverage. Say it once,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sentences, then stop talking. Do not add a fourth point.
Then open the floor. Expected questions: why no CGLIB in your container; does @Transactional work on private methods (no, and now they know why); is it production-ready (no); how long did it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731520" y="1234440"/>
            <a:ext cx="7772400" cy="365760"/>
          </a:xfrm>
          <a:prstGeom prst="rect">
            <a:avLst/>
          </a:prstGeom>
          <a:noFill/>
          <a:ln/>
        </p:spPr>
        <p:txBody>
          <a:bodyPr wrap="square" lIns="0" tIns="0" rIns="0" bIns="0" rtlCol="0" anchor="ctr"/>
          <a:lstStyle/>
          <a:p>
            <a:pPr indent="0" marL="0">
              <a:buNone/>
            </a:pPr>
            <a:r>
              <a:rPr lang="en-US" sz="1600" dirty="0">
                <a:solidFill>
                  <a:srgbClr val="2F9E44"/>
                </a:solidFill>
                <a:latin typeface="Calibri" pitchFamily="34" charset="0"/>
                <a:ea typeface="Calibri" pitchFamily="34" charset="-122"/>
                <a:cs typeface="Calibri" pitchFamily="34" charset="-120"/>
              </a:rPr>
              <a:t>Spring is not magic  ·  part 2 of 2</a:t>
            </a:r>
            <a:endParaRPr lang="en-US" sz="1600" dirty="0"/>
          </a:p>
        </p:txBody>
      </p:sp>
      <p:sp>
        <p:nvSpPr>
          <p:cNvPr id="3" name="Text 1"/>
          <p:cNvSpPr txBox="1"/>
          <p:nvPr/>
        </p:nvSpPr>
        <p:spPr>
          <a:xfrm>
            <a:off x="731520" y="16459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happens to your bean</a:t>
            </a:r>
            <a:endParaRPr lang="en-US" sz="4000" dirty="0"/>
          </a:p>
        </p:txBody>
      </p:sp>
      <p:sp>
        <p:nvSpPr>
          <p:cNvPr id="4" name="Text 2"/>
          <p:cNvSpPr txBox="1"/>
          <p:nvPr/>
        </p:nvSpPr>
        <p:spPr>
          <a:xfrm>
            <a:off x="731520" y="2606040"/>
            <a:ext cx="7772400" cy="457200"/>
          </a:xfrm>
          <a:prstGeom prst="rect">
            <a:avLst/>
          </a:prstGeom>
          <a:noFill/>
          <a:ln/>
        </p:spPr>
        <p:txBody>
          <a:bodyPr wrap="square" lIns="0" tIns="0" rIns="0" bIns="0" rtlCol="0" anchor="ctr"/>
          <a:lstStyle/>
          <a:p>
            <a:pPr indent="0" marL="0">
              <a:buNone/>
            </a:pPr>
            <a:r>
              <a:rPr lang="en-US" sz="1800" dirty="0">
                <a:solidFill>
                  <a:srgbClr val="9FB3C8"/>
                </a:solidFill>
                <a:latin typeface="Calibri" pitchFamily="34" charset="0"/>
                <a:ea typeface="Calibri" pitchFamily="34" charset="-122"/>
                <a:cs typeface="Calibri" pitchFamily="34" charset="-120"/>
              </a:rPr>
              <a:t>Post-processors, proxies, @Transactional, and how auto-configuration decides</a:t>
            </a:r>
            <a:endParaRPr lang="en-US" sz="1800" dirty="0"/>
          </a:p>
        </p:txBody>
      </p:sp>
      <p:sp>
        <p:nvSpPr>
          <p:cNvPr id="5" name="Shape 3"/>
          <p:cNvSpPr/>
          <p:nvPr/>
        </p:nvSpPr>
        <p:spPr>
          <a:xfrm>
            <a:off x="731520" y="3383280"/>
            <a:ext cx="4206240" cy="502920"/>
          </a:xfrm>
          <a:prstGeom prst="roundRect">
            <a:avLst>
              <a:gd name="adj" fmla="val 18182"/>
            </a:avLst>
          </a:prstGeom>
          <a:solidFill>
            <a:srgbClr val="2F9E44"/>
          </a:solidFill>
          <a:ln/>
        </p:spPr>
      </p:sp>
      <p:sp>
        <p:nvSpPr>
          <p:cNvPr id="6" name="Text 4"/>
          <p:cNvSpPr txBox="1"/>
          <p:nvPr/>
        </p:nvSpPr>
        <p:spPr>
          <a:xfrm>
            <a:off x="731520" y="3383280"/>
            <a:ext cx="420624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Courier New" pitchFamily="34" charset="0"/>
                <a:ea typeface="Courier New" pitchFamily="34" charset="-122"/>
                <a:cs typeface="Courier New" pitchFamily="34" charset="-120"/>
              </a:rPr>
              <a:t>github.com/ELMAALMIA/minispring</a:t>
            </a:r>
            <a:endParaRPr lang="en-US" sz="1300" dirty="0"/>
          </a:p>
        </p:txBody>
      </p:sp>
      <p:sp>
        <p:nvSpPr>
          <p:cNvPr id="7" name="Text 5"/>
          <p:cNvSpPr txBox="1"/>
          <p:nvPr/>
        </p:nvSpPr>
        <p:spPr>
          <a:xfrm>
            <a:off x="731520" y="4114800"/>
            <a:ext cx="7772400" cy="365760"/>
          </a:xfrm>
          <a:prstGeom prst="rect">
            <a:avLst/>
          </a:prstGeom>
          <a:noFill/>
          <a:ln/>
        </p:spPr>
        <p:txBody>
          <a:bodyPr wrap="square" lIns="0" tIns="0" rIns="0" bIns="0" rtlCol="0" anchor="ctr"/>
          <a:lstStyle/>
          <a:p>
            <a:pPr indent="0" marL="0">
              <a:buNone/>
            </a:pPr>
            <a:r>
              <a:rPr lang="en-US" sz="1400" dirty="0">
                <a:solidFill>
                  <a:srgbClr val="7C93A8"/>
                </a:solidFill>
                <a:latin typeface="Calibri" pitchFamily="34" charset="0"/>
                <a:ea typeface="Calibri" pitchFamily="34" charset="-122"/>
                <a:cs typeface="Calibri" pitchFamily="34" charset="-120"/>
              </a:rPr>
              <a:t>Ayoub EL Maalmi  ·  Java &amp; Spring Boot  ·  45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ayoub\Desktop\spring-app\docs\presentation\diagrams\d1-lifecycle.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Where we left off</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Part 1, in four sentences</a:t>
            </a:r>
            <a:endParaRPr lang="en-US" sz="1500" dirty="0"/>
          </a:p>
        </p:txBody>
      </p:sp>
      <p:sp>
        <p:nvSpPr>
          <p:cNvPr id="4" name="Text 2"/>
          <p:cNvSpPr txBox="1"/>
          <p:nvPr/>
        </p:nvSpPr>
        <p:spPr>
          <a:xfrm>
            <a:off x="502920" y="1463040"/>
            <a:ext cx="8229600" cy="201168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22303C"/>
                </a:solidFill>
                <a:latin typeface="Calibri" pitchFamily="34" charset="0"/>
                <a:ea typeface="Calibri" pitchFamily="34" charset="-122"/>
                <a:cs typeface="Calibri" pitchFamily="34" charset="-120"/>
              </a:rPr>
              <a:t>An annotation does nothing. Something has to read it — and javap showed us exactly what it reads.</a:t>
            </a:r>
            <a:endParaRPr lang="en-US" sz="1600" dirty="0"/>
          </a:p>
          <a:p>
            <a:pPr marL="342900" indent="-342900">
              <a:spcAft>
                <a:spcPts val="800"/>
              </a:spcAft>
              <a:buSzPct val="100000"/>
              <a:buChar char="•"/>
            </a:pPr>
            <a:r>
              <a:rPr lang="en-US" sz="1600" dirty="0">
                <a:solidFill>
                  <a:srgbClr val="22303C"/>
                </a:solidFill>
                <a:latin typeface="Calibri" pitchFamily="34" charset="0"/>
                <a:ea typeface="Calibri" pitchFamily="34" charset="-122"/>
                <a:cs typeface="Calibri" pitchFamily="34" charset="-120"/>
              </a:rPr>
              <a:t>A definition describes a bean; the factory creates it after its dependencies, recursively.</a:t>
            </a:r>
            <a:endParaRPr lang="en-US" sz="1600" dirty="0"/>
          </a:p>
          <a:p>
            <a:pPr marL="342900" indent="-342900">
              <a:spcAft>
                <a:spcPts val="800"/>
              </a:spcAft>
              <a:buSzPct val="100000"/>
              <a:buChar char="•"/>
            </a:pPr>
            <a:r>
              <a:rPr lang="en-US" sz="1600" dirty="0">
                <a:solidFill>
                  <a:srgbClr val="22303C"/>
                </a:solidFill>
                <a:latin typeface="Calibri" pitchFamily="34" charset="0"/>
                <a:ea typeface="Calibri" pitchFamily="34" charset="-122"/>
                <a:cs typeface="Calibri" pitchFamily="34" charset="-120"/>
              </a:rPr>
              <a:t>Scopes decide how many exist; @PostConstruct and @PreDestroy decide when things happen.</a:t>
            </a:r>
            <a:endParaRPr lang="en-US" sz="1600" dirty="0"/>
          </a:p>
          <a:p>
            <a:pPr marL="342900" indent="-342900">
              <a:spcAft>
                <a:spcPts val="800"/>
              </a:spcAft>
              <a:buSzPct val="100000"/>
              <a:buChar char="•"/>
            </a:pPr>
            <a:r>
              <a:rPr lang="en-US" sz="1600" dirty="0">
                <a:solidFill>
                  <a:srgbClr val="22303C"/>
                </a:solidFill>
                <a:latin typeface="Calibri" pitchFamily="34" charset="0"/>
                <a:ea typeface="Calibri" pitchFamily="34" charset="-122"/>
                <a:cs typeface="Calibri" pitchFamily="34" charset="-120"/>
              </a:rPr>
              <a:t>At that point the bean is built, initialised, and about to be handed to you.</a:t>
            </a:r>
            <a:endParaRPr lang="en-US" sz="1600" dirty="0"/>
          </a:p>
        </p:txBody>
      </p:sp>
      <p:sp>
        <p:nvSpPr>
          <p:cNvPr id="5" name="Shape 3"/>
          <p:cNvSpPr/>
          <p:nvPr/>
        </p:nvSpPr>
        <p:spPr>
          <a:xfrm>
            <a:off x="457200" y="3749040"/>
            <a:ext cx="8229600" cy="594360"/>
          </a:xfrm>
          <a:prstGeom prst="roundRect">
            <a:avLst>
              <a:gd name="adj" fmla="val 12308"/>
            </a:avLst>
          </a:prstGeom>
          <a:solidFill>
            <a:srgbClr val="FFFFFF"/>
          </a:solidFill>
          <a:ln w="25400">
            <a:solidFill>
              <a:srgbClr val="2F9E44"/>
            </a:solidFill>
            <a:prstDash val="solid"/>
          </a:ln>
        </p:spPr>
      </p:sp>
      <p:sp>
        <p:nvSpPr>
          <p:cNvPr id="6" name="Text 4"/>
          <p:cNvSpPr txBox="1"/>
          <p:nvPr/>
        </p:nvSpPr>
        <p:spPr>
          <a:xfrm>
            <a:off x="640080" y="374904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Today: what happens between 'the bean is built' and 'you get it' — and who decides it should exist at all.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seam</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One method, and everything else is built on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The seam: something may replace your bean</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One method, and everything else follows</a:t>
            </a:r>
            <a:endParaRPr lang="en-US" sz="1500" dirty="0"/>
          </a:p>
        </p:txBody>
      </p:sp>
      <p:sp>
        <p:nvSpPr>
          <p:cNvPr id="4" name="Shape 2"/>
          <p:cNvSpPr/>
          <p:nvPr/>
        </p:nvSpPr>
        <p:spPr>
          <a:xfrm>
            <a:off x="457200" y="1371600"/>
            <a:ext cx="8229600" cy="1783080"/>
          </a:xfrm>
          <a:prstGeom prst="roundRect">
            <a:avLst>
              <a:gd name="adj" fmla="val 3077"/>
            </a:avLst>
          </a:prstGeom>
          <a:solidFill>
            <a:srgbClr val="F1F3F5"/>
          </a:solidFill>
          <a:ln w="12700">
            <a:solidFill>
              <a:srgbClr val="DEE2E6"/>
            </a:solidFill>
            <a:prstDash val="solid"/>
          </a:ln>
        </p:spPr>
      </p:sp>
      <p:sp>
        <p:nvSpPr>
          <p:cNvPr id="5" name="Text 3"/>
          <p:cNvSpPr txBox="1"/>
          <p:nvPr/>
        </p:nvSpPr>
        <p:spPr>
          <a:xfrm>
            <a:off x="621792" y="1481328"/>
            <a:ext cx="7900416" cy="1563624"/>
          </a:xfrm>
          <a:prstGeom prst="rect">
            <a:avLst/>
          </a:prstGeom>
          <a:noFill/>
          <a:ln/>
        </p:spPr>
        <p:txBody>
          <a:bodyPr wrap="square" lIns="0" tIns="0" rIns="0" bIns="0" rtlCol="0" anchor="ctr"/>
          <a:lstStyle/>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public interface BeanPostProcessor {</a:t>
            </a:r>
            <a:endParaRPr lang="en-US" sz="1300" dirty="0"/>
          </a:p>
          <a:p>
            <a:pPr indent="0" marL="0">
              <a:lnSpc>
                <a:spcPct val="115000"/>
              </a:lnSpc>
              <a:buNone/>
            </a:pP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default Object postProcessAfterInitialization(</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Object bean, String beanName)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return bean;          // ...or something else entirely</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502920" y="3246120"/>
            <a:ext cx="8229600" cy="10515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The container creates the post-processors first, then passes every other bean through them</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A processor may return a different object — that one line is what makes AOP possible</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It runs after @PostConstruct, so a proxy always wraps a fully initialised bean</a:t>
            </a:r>
            <a:endParaRPr lang="en-US" sz="1400" dirty="0"/>
          </a:p>
        </p:txBody>
      </p:sp>
      <p:sp>
        <p:nvSpPr>
          <p:cNvPr id="7" name="Shape 5"/>
          <p:cNvSpPr/>
          <p:nvPr/>
        </p:nvSpPr>
        <p:spPr>
          <a:xfrm>
            <a:off x="457200" y="434340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434340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Everything in this talk is built on this single method.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Who reads what, part two</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annotations that need more than a definition</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920240"/>
                <a:gridCol w="1920240"/>
                <a:gridCol w="2560320"/>
                <a:gridCol w="1828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Annotation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by, in minispring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Spring class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XML, before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@Transactional</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TransactionalProcessor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TransactionInterceptor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&lt;tx:advice&gt; + &lt;aop:config&gt;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@RestController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DispatcherServer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RequestMappingHandlerMapping</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&lt;mvc:annotation-driven&gt;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ApplicationListener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ApplicationEventMulticaster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SimpleApplicationEvent...caster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 &lt;bean&gt; implementing it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b="1" dirty="0">
                          <a:solidFill>
                            <a:srgbClr val="2F9E44"/>
                          </a:solidFill>
                          <a:latin typeface="Courier New" pitchFamily="34" charset="0"/>
                          <a:ea typeface="Courier New" pitchFamily="34" charset="-122"/>
                          <a:cs typeface="Courier New" pitchFamily="34" charset="-120"/>
                        </a:rPr>
                        <a:t>@Conditional</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ConditionEvaluator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ConditionEvaluator (same name)</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b="1" dirty="0">
                          <a:solidFill>
                            <a:srgbClr val="E8590C"/>
                          </a:solidFill>
                          <a:latin typeface="Calibri" pitchFamily="34" charset="0"/>
                          <a:ea typeface="Calibri" pitchFamily="34" charset="-122"/>
                          <a:cs typeface="Calibri" pitchFamily="34" charset="-120"/>
                        </a:rPr>
                        <a:t>no equivalent</a:t>
                      </a:r>
                      <a:endParaRPr lang="en-US" sz="9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3931920"/>
            <a:ext cx="8229600" cy="594360"/>
          </a:xfrm>
          <a:prstGeom prst="roundRect">
            <a:avLst>
              <a:gd name="adj" fmla="val 12308"/>
            </a:avLst>
          </a:prstGeom>
          <a:solidFill>
            <a:srgbClr val="FFFFFF"/>
          </a:solidFill>
          <a:ln w="25400">
            <a:solidFill>
              <a:srgbClr val="E8590C"/>
            </a:solidFill>
            <a:prstDash val="solid"/>
          </a:ln>
        </p:spPr>
      </p:sp>
      <p:sp>
        <p:nvSpPr>
          <p:cNvPr id="6" name="Text 3"/>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The last row is why Spring Boot could not have been built in the XML era.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Proxies</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The container does not always hand you your bean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ayoub\Desktop\spring-app\docs\presentation\diagrams\d4-proxy.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bug you have already hit</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most common @Transactional mistake in production</a:t>
            </a:r>
            <a:endParaRPr lang="en-US" sz="1500" dirty="0"/>
          </a:p>
        </p:txBody>
      </p:sp>
      <p:sp>
        <p:nvSpPr>
          <p:cNvPr id="4" name="Shape 2"/>
          <p:cNvSpPr/>
          <p:nvPr/>
        </p:nvSpPr>
        <p:spPr>
          <a:xfrm>
            <a:off x="457200" y="1371600"/>
            <a:ext cx="8229600" cy="1280160"/>
          </a:xfrm>
          <a:prstGeom prst="roundRect">
            <a:avLst>
              <a:gd name="adj" fmla="val 4286"/>
            </a:avLst>
          </a:prstGeom>
          <a:solidFill>
            <a:srgbClr val="F1F3F5"/>
          </a:solidFill>
          <a:ln w="12700">
            <a:solidFill>
              <a:srgbClr val="DEE2E6"/>
            </a:solidFill>
            <a:prstDash val="solid"/>
          </a:ln>
        </p:spPr>
      </p:sp>
      <p:sp>
        <p:nvSpPr>
          <p:cNvPr id="5" name="Text 3"/>
          <p:cNvSpPr txBox="1"/>
          <p:nvPr/>
        </p:nvSpPr>
        <p:spPr>
          <a:xfrm>
            <a:off x="621792" y="1481328"/>
            <a:ext cx="7900416" cy="1060704"/>
          </a:xfrm>
          <a:prstGeom prst="rect">
            <a:avLst/>
          </a:prstGeom>
          <a:noFill/>
          <a:ln/>
        </p:spPr>
        <p:txBody>
          <a:bodyPr wrap="square" lIns="0" tIns="0" rIns="0" bIns="0" rtlCol="0" anchor="ctr"/>
          <a:lstStyle/>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@Override</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public void placeAll(List&lt;String&gt; items)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items.forEach(this::placeOrder);   // "this" is the bean, not the proxy</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 -&gt; no transaction, and no warning</a:t>
            </a:r>
            <a:endParaRPr lang="en-US" sz="1300" dirty="0"/>
          </a:p>
        </p:txBody>
      </p:sp>
      <p:sp>
        <p:nvSpPr>
          <p:cNvPr id="6" name="Text 4"/>
          <p:cNvSpPr txBox="1"/>
          <p:nvPr/>
        </p:nvSpPr>
        <p:spPr>
          <a:xfrm>
            <a:off x="457200" y="2788920"/>
            <a:ext cx="8229600" cy="27432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The test that pins it down:</a:t>
            </a:r>
            <a:endParaRPr lang="en-US" sz="1400" dirty="0"/>
          </a:p>
        </p:txBody>
      </p:sp>
      <p:sp>
        <p:nvSpPr>
          <p:cNvPr id="7" name="Shape 5"/>
          <p:cNvSpPr/>
          <p:nvPr/>
        </p:nvSpPr>
        <p:spPr>
          <a:xfrm>
            <a:off x="457200" y="3108960"/>
            <a:ext cx="8229600" cy="502920"/>
          </a:xfrm>
          <a:prstGeom prst="roundRect">
            <a:avLst>
              <a:gd name="adj" fmla="val 10909"/>
            </a:avLst>
          </a:prstGeom>
          <a:solidFill>
            <a:srgbClr val="F1F3F5"/>
          </a:solidFill>
          <a:ln w="12700">
            <a:solidFill>
              <a:srgbClr val="DEE2E6"/>
            </a:solidFill>
            <a:prstDash val="solid"/>
          </a:ln>
        </p:spPr>
      </p:sp>
      <p:sp>
        <p:nvSpPr>
          <p:cNvPr id="8" name="Text 6"/>
          <p:cNvSpPr txBox="1"/>
          <p:nvPr/>
        </p:nvSpPr>
        <p:spPr>
          <a:xfrm>
            <a:off x="621792" y="3218688"/>
            <a:ext cx="7900416" cy="28346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void selfInvocationBypassesTheProxyAndStartsNoTransaction() { ... }</a:t>
            </a:r>
            <a:endParaRPr lang="en-US" sz="1200" dirty="0"/>
          </a:p>
        </p:txBody>
      </p:sp>
      <p:sp>
        <p:nvSpPr>
          <p:cNvPr id="9" name="Shape 7"/>
          <p:cNvSpPr/>
          <p:nvPr/>
        </p:nvSpPr>
        <p:spPr>
          <a:xfrm>
            <a:off x="457200" y="3840480"/>
            <a:ext cx="8229600" cy="594360"/>
          </a:xfrm>
          <a:prstGeom prst="roundRect">
            <a:avLst>
              <a:gd name="adj" fmla="val 12308"/>
            </a:avLst>
          </a:prstGeom>
          <a:solidFill>
            <a:srgbClr val="FFFFFF"/>
          </a:solidFill>
          <a:ln w="25400">
            <a:solidFill>
              <a:srgbClr val="E8590C"/>
            </a:solidFill>
            <a:prstDash val="solid"/>
          </a:ln>
        </p:spPr>
      </p:sp>
      <p:sp>
        <p:nvSpPr>
          <p:cNvPr id="10" name="Text 8"/>
          <p:cNvSpPr txBox="1"/>
          <p:nvPr/>
        </p:nvSpPr>
        <p:spPr>
          <a:xfrm>
            <a:off x="640080" y="384048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Same behaviour in Spring, with JDK proxies and with CGLIB. Fifteen lines of your own code explain a day of debugging.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Spring's other proxy: a generated subclass</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Same idea, different trick — and it is what makes @Configuration work</a:t>
            </a:r>
            <a:endParaRPr lang="en-US" sz="1500" dirty="0"/>
          </a:p>
        </p:txBody>
      </p:sp>
      <p:sp>
        <p:nvSpPr>
          <p:cNvPr id="4" name="Shape 2"/>
          <p:cNvSpPr/>
          <p:nvPr/>
        </p:nvSpPr>
        <p:spPr>
          <a:xfrm>
            <a:off x="457200" y="1371600"/>
            <a:ext cx="8229600" cy="548640"/>
          </a:xfrm>
          <a:prstGeom prst="roundRect">
            <a:avLst>
              <a:gd name="adj" fmla="val 10000"/>
            </a:avLst>
          </a:prstGeom>
          <a:solidFill>
            <a:srgbClr val="F1F3F5"/>
          </a:solidFill>
          <a:ln w="12700">
            <a:solidFill>
              <a:srgbClr val="DEE2E6"/>
            </a:solidFill>
            <a:prstDash val="solid"/>
          </a:ln>
        </p:spPr>
      </p:sp>
      <p:sp>
        <p:nvSpPr>
          <p:cNvPr id="5" name="Text 3"/>
          <p:cNvSpPr txBox="1"/>
          <p:nvPr/>
        </p:nvSpPr>
        <p:spPr>
          <a:xfrm>
            <a:off x="621792" y="1481328"/>
            <a:ext cx="7900416" cy="329184"/>
          </a:xfrm>
          <a:prstGeom prst="rect">
            <a:avLst/>
          </a:prstGeom>
          <a:noFill/>
          <a:ln/>
        </p:spPr>
        <p:txBody>
          <a:bodyPr wrap="square" lIns="0" tIns="0" rIns="0" bIns="0" rtlCol="0" anchor="ctr"/>
          <a:lstStyle/>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OrderServiceImpl$$SpringCGLIB$$0  extends  OrderServiceImpl</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914400"/>
        </p:xfrm>
        <a:graphic>
          <a:graphicData uri="http://schemas.openxmlformats.org/drawingml/2006/table">
            <a:tbl>
              <a:tblPr/>
              <a:tblGrid>
                <a:gridCol w="1737360"/>
                <a:gridCol w="3108960"/>
                <a:gridCol w="3383280"/>
              </a:tblGrid>
              <a:tr h="310896">
                <a:tc>
                  <a:txBody>
                    <a:bodyPr/>
                    <a:lstStyle/>
                    <a:p>
                      <a:pPr indent="0" marL="0">
                        <a:buNone/>
                      </a:pP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JDK dynamic proxy (minispring)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CGLIB subclass (Spring Boot default)</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How</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implements the interfaces</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extends the class, overrides its methods</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Requires</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an interface</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a class and methods that are not final</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getBean(Impl.class)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fails: the proxy is not that type</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works: the proxy is a subclass</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Built by</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the JDK</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bytecode generated at run time, with ASM</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Self-invocation</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bypassed</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bypassed too — nothing changes</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7" name="Shape 4"/>
          <p:cNvSpPr/>
          <p:nvPr/>
        </p:nvSpPr>
        <p:spPr>
          <a:xfrm>
            <a:off x="457200" y="4160520"/>
            <a:ext cx="8229600" cy="594360"/>
          </a:xfrm>
          <a:prstGeom prst="roundRect">
            <a:avLst>
              <a:gd name="adj" fmla="val 12308"/>
            </a:avLst>
          </a:prstGeom>
          <a:solidFill>
            <a:srgbClr val="FFFFFF"/>
          </a:solidFill>
          <a:ln w="25400">
            <a:solidFill>
              <a:srgbClr val="2F9E44"/>
            </a:solidFill>
            <a:prstDash val="solid"/>
          </a:ln>
        </p:spPr>
      </p:sp>
      <p:sp>
        <p:nvSpPr>
          <p:cNvPr id="8" name="Text 5"/>
          <p:cNvSpPr txBox="1"/>
          <p:nvPr/>
        </p:nvSpPr>
        <p:spPr>
          <a:xfrm>
            <a:off x="640080" y="41605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It also rewrites @Configuration classes, so one @Bean method calling another returns the singleton. That is the one thing minispring cannot do.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Invent your own annotation</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The moment this stops being someone else's framework</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@Timed, in three steps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same pattern as @Transactional</a:t>
            </a:r>
            <a:endParaRPr lang="en-US" sz="1500" dirty="0"/>
          </a:p>
        </p:txBody>
      </p:sp>
      <p:sp>
        <p:nvSpPr>
          <p:cNvPr id="4" name="Shape 2"/>
          <p:cNvSpPr/>
          <p:nvPr/>
        </p:nvSpPr>
        <p:spPr>
          <a:xfrm>
            <a:off x="457200" y="1325880"/>
            <a:ext cx="8229600" cy="685800"/>
          </a:xfrm>
          <a:prstGeom prst="roundRect">
            <a:avLst>
              <a:gd name="adj" fmla="val 8000"/>
            </a:avLst>
          </a:prstGeom>
          <a:solidFill>
            <a:srgbClr val="F1F3F5"/>
          </a:solidFill>
          <a:ln w="12700">
            <a:solidFill>
              <a:srgbClr val="DEE2E6"/>
            </a:solidFill>
            <a:prstDash val="solid"/>
          </a:ln>
        </p:spPr>
      </p:sp>
      <p:sp>
        <p:nvSpPr>
          <p:cNvPr id="5" name="Text 3"/>
          <p:cNvSpPr txBox="1"/>
          <p:nvPr/>
        </p:nvSpPr>
        <p:spPr>
          <a:xfrm>
            <a:off x="621792" y="1435608"/>
            <a:ext cx="7900416" cy="46634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@Retention(RUNTIME) @Target(METHOD)</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public @interface Timed { }</a:t>
            </a:r>
            <a:endParaRPr lang="en-US" sz="1200" dirty="0"/>
          </a:p>
        </p:txBody>
      </p:sp>
      <p:sp>
        <p:nvSpPr>
          <p:cNvPr id="6" name="Text 4"/>
          <p:cNvSpPr txBox="1"/>
          <p:nvPr/>
        </p:nvSpPr>
        <p:spPr>
          <a:xfrm>
            <a:off x="457200" y="2057400"/>
            <a:ext cx="3657600" cy="256032"/>
          </a:xfrm>
          <a:prstGeom prst="rect">
            <a:avLst/>
          </a:prstGeom>
          <a:noFill/>
          <a:ln/>
        </p:spPr>
        <p:txBody>
          <a:bodyPr wrap="square" lIns="0" tIns="0" rIns="0" bIns="0" rtlCol="0" anchor="ctr"/>
          <a:lstStyle/>
          <a:p>
            <a:pPr indent="0" marL="0">
              <a:buNone/>
            </a:pPr>
            <a:r>
              <a:rPr lang="en-US" sz="1200" b="1" dirty="0">
                <a:solidFill>
                  <a:srgbClr val="2F9E44"/>
                </a:solidFill>
                <a:latin typeface="Calibri" pitchFamily="34" charset="0"/>
                <a:ea typeface="Calibri" pitchFamily="34" charset="-122"/>
                <a:cs typeface="Calibri" pitchFamily="34" charset="-120"/>
              </a:rPr>
              <a:t>1. The sticker</a:t>
            </a:r>
            <a:endParaRPr lang="en-US" sz="1200" dirty="0"/>
          </a:p>
        </p:txBody>
      </p:sp>
      <p:sp>
        <p:nvSpPr>
          <p:cNvPr id="7" name="Shape 5"/>
          <p:cNvSpPr/>
          <p:nvPr/>
        </p:nvSpPr>
        <p:spPr>
          <a:xfrm>
            <a:off x="457200" y="2377440"/>
            <a:ext cx="8229600" cy="1097280"/>
          </a:xfrm>
          <a:prstGeom prst="roundRect">
            <a:avLst>
              <a:gd name="adj" fmla="val 5000"/>
            </a:avLst>
          </a:prstGeom>
          <a:solidFill>
            <a:srgbClr val="F1F3F5"/>
          </a:solidFill>
          <a:ln w="12700">
            <a:solidFill>
              <a:srgbClr val="DEE2E6"/>
            </a:solidFill>
            <a:prstDash val="solid"/>
          </a:ln>
        </p:spPr>
      </p:sp>
      <p:sp>
        <p:nvSpPr>
          <p:cNvPr id="8" name="Text 6"/>
          <p:cNvSpPr txBox="1"/>
          <p:nvPr/>
        </p:nvSpPr>
        <p:spPr>
          <a:xfrm>
            <a:off x="621792" y="2487168"/>
            <a:ext cx="7900416" cy="87782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public Object postProcessAfterInitialization(Object bean, String name) {</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 if a method carries @Timed, return a proxy that measures the call</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return Proxy.newProxyInstance(loader, interfaces, handler);</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a:t>
            </a:r>
            <a:endParaRPr lang="en-US" sz="1200" dirty="0"/>
          </a:p>
        </p:txBody>
      </p:sp>
      <p:sp>
        <p:nvSpPr>
          <p:cNvPr id="9" name="Text 7"/>
          <p:cNvSpPr txBox="1"/>
          <p:nvPr/>
        </p:nvSpPr>
        <p:spPr>
          <a:xfrm>
            <a:off x="457200" y="3520440"/>
            <a:ext cx="8229600" cy="274320"/>
          </a:xfrm>
          <a:prstGeom prst="rect">
            <a:avLst/>
          </a:prstGeom>
          <a:noFill/>
          <a:ln/>
        </p:spPr>
        <p:txBody>
          <a:bodyPr wrap="square" lIns="0" tIns="0" rIns="0" bIns="0" rtlCol="0" anchor="ctr"/>
          <a:lstStyle/>
          <a:p>
            <a:pPr indent="0" marL="0">
              <a:buNone/>
            </a:pPr>
            <a:r>
              <a:rPr lang="en-US" sz="1200" b="1" dirty="0">
                <a:solidFill>
                  <a:srgbClr val="2F9E44"/>
                </a:solidFill>
                <a:latin typeface="Calibri" pitchFamily="34" charset="0"/>
                <a:ea typeface="Calibri" pitchFamily="34" charset="-122"/>
                <a:cs typeface="Calibri" pitchFamily="34" charset="-120"/>
              </a:rPr>
              <a:t>2. A BeanPostProcessor that wraps the bean   ·   3. A test that proves the duration is logged</a:t>
            </a:r>
            <a:endParaRPr lang="en-US" sz="1200" dirty="0"/>
          </a:p>
        </p:txBody>
      </p:sp>
      <p:sp>
        <p:nvSpPr>
          <p:cNvPr id="10" name="Shape 8"/>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11" name="Text 9"/>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Thirty lines. You have just written the mechanism behind @Cacheable, @Retry and @Async.</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Auto-configuration</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How @Conditional decides what gets wired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ayoub\Desktop\spring-app\docs\presentation\diagrams\d5-autoconfig.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Two rules, and everything follows</a:t>
            </a:r>
            <a:endParaRPr lang="en-US" sz="3000" dirty="0"/>
          </a:p>
        </p:txBody>
      </p:sp>
      <p:sp>
        <p:nvSpPr>
          <p:cNvPr id="3" name="Shape 1"/>
          <p:cNvSpPr/>
          <p:nvPr/>
        </p:nvSpPr>
        <p:spPr>
          <a:xfrm>
            <a:off x="457200" y="1371600"/>
            <a:ext cx="3977640" cy="1371600"/>
          </a:xfrm>
          <a:prstGeom prst="roundRect">
            <a:avLst>
              <a:gd name="adj" fmla="val 5333"/>
            </a:avLst>
          </a:prstGeom>
          <a:solidFill>
            <a:srgbClr val="F1F3F5"/>
          </a:solidFill>
          <a:ln w="12700">
            <a:solidFill>
              <a:srgbClr val="DEE2E6"/>
            </a:solidFill>
            <a:prstDash val="solid"/>
          </a:ln>
        </p:spPr>
      </p:sp>
      <p:sp>
        <p:nvSpPr>
          <p:cNvPr id="4" name="Text 2"/>
          <p:cNvSpPr txBox="1"/>
          <p:nvPr/>
        </p:nvSpPr>
        <p:spPr>
          <a:xfrm>
            <a:off x="640080" y="1508760"/>
            <a:ext cx="3657600" cy="640080"/>
          </a:xfrm>
          <a:prstGeom prst="rect">
            <a:avLst/>
          </a:prstGeom>
          <a:noFill/>
          <a:ln/>
        </p:spPr>
        <p:txBody>
          <a:bodyPr wrap="square" lIns="0" tIns="0" rIns="0" bIns="0" rtlCol="0" anchor="ctr"/>
          <a:lstStyle/>
          <a:p>
            <a:pPr indent="0" marL="0">
              <a:buNone/>
            </a:pPr>
            <a:r>
              <a:rPr lang="en-US" sz="1600" b="1" dirty="0">
                <a:solidFill>
                  <a:srgbClr val="22303C"/>
                </a:solidFill>
                <a:latin typeface="Calibri" pitchFamily="34" charset="0"/>
                <a:ea typeface="Calibri" pitchFamily="34" charset="-122"/>
                <a:cs typeface="Calibri" pitchFamily="34" charset="-120"/>
              </a:rPr>
              <a:t>1. Conditions read definitions,</a:t>
            </a:r>
            <a:endParaRPr lang="en-US" sz="1600" dirty="0"/>
          </a:p>
          <a:p>
            <a:pPr indent="0" marL="0">
              <a:buNone/>
            </a:pPr>
            <a:r>
              <a:rPr lang="en-US" sz="1600" b="1" dirty="0">
                <a:solidFill>
                  <a:srgbClr val="22303C"/>
                </a:solidFill>
                <a:latin typeface="Calibri" pitchFamily="34" charset="0"/>
                <a:ea typeface="Calibri" pitchFamily="34" charset="-122"/>
                <a:cs typeface="Calibri" pitchFamily="34" charset="-120"/>
              </a:rPr>
              <a:t>never instances</a:t>
            </a:r>
            <a:endParaRPr lang="en-US" sz="1600" dirty="0"/>
          </a:p>
        </p:txBody>
      </p:sp>
      <p:sp>
        <p:nvSpPr>
          <p:cNvPr id="5" name="Text 3"/>
          <p:cNvSpPr txBox="1"/>
          <p:nvPr/>
        </p:nvSpPr>
        <p:spPr>
          <a:xfrm>
            <a:off x="640080" y="2148840"/>
            <a:ext cx="3657600" cy="5486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Deciding whether a bean should exist must not create beans, or the question answers itself.</a:t>
            </a:r>
            <a:endParaRPr lang="en-US" sz="1300" dirty="0"/>
          </a:p>
        </p:txBody>
      </p:sp>
      <p:sp>
        <p:nvSpPr>
          <p:cNvPr id="6" name="Shape 4"/>
          <p:cNvSpPr/>
          <p:nvPr/>
        </p:nvSpPr>
        <p:spPr>
          <a:xfrm>
            <a:off x="4709160" y="1371600"/>
            <a:ext cx="3977640" cy="1371600"/>
          </a:xfrm>
          <a:prstGeom prst="roundRect">
            <a:avLst>
              <a:gd name="adj" fmla="val 5333"/>
            </a:avLst>
          </a:prstGeom>
          <a:solidFill>
            <a:srgbClr val="F1F3F5"/>
          </a:solidFill>
          <a:ln w="12700">
            <a:solidFill>
              <a:srgbClr val="DEE2E6"/>
            </a:solidFill>
            <a:prstDash val="solid"/>
          </a:ln>
        </p:spPr>
      </p:sp>
      <p:sp>
        <p:nvSpPr>
          <p:cNvPr id="7" name="Text 5"/>
          <p:cNvSpPr txBox="1"/>
          <p:nvPr/>
        </p:nvSpPr>
        <p:spPr>
          <a:xfrm>
            <a:off x="4892040" y="1508760"/>
            <a:ext cx="3657600" cy="640080"/>
          </a:xfrm>
          <a:prstGeom prst="rect">
            <a:avLst/>
          </a:prstGeom>
          <a:noFill/>
          <a:ln/>
        </p:spPr>
        <p:txBody>
          <a:bodyPr wrap="square" lIns="0" tIns="0" rIns="0" bIns="0" rtlCol="0" anchor="ctr"/>
          <a:lstStyle/>
          <a:p>
            <a:pPr indent="0" marL="0">
              <a:buNone/>
            </a:pPr>
            <a:r>
              <a:rPr lang="en-US" sz="1600" b="1" dirty="0">
                <a:solidFill>
                  <a:srgbClr val="22303C"/>
                </a:solidFill>
                <a:latin typeface="Calibri" pitchFamily="34" charset="0"/>
                <a:ea typeface="Calibri" pitchFamily="34" charset="-122"/>
                <a:cs typeface="Calibri" pitchFamily="34" charset="-120"/>
              </a:rPr>
              <a:t>2. Auto-configurations</a:t>
            </a:r>
            <a:endParaRPr lang="en-US" sz="1600" dirty="0"/>
          </a:p>
          <a:p>
            <a:pPr indent="0" marL="0">
              <a:buNone/>
            </a:pPr>
            <a:r>
              <a:rPr lang="en-US" sz="1600" b="1" dirty="0">
                <a:solidFill>
                  <a:srgbClr val="22303C"/>
                </a:solidFill>
                <a:latin typeface="Calibri" pitchFamily="34" charset="0"/>
                <a:ea typeface="Calibri" pitchFamily="34" charset="-122"/>
                <a:cs typeface="Calibri" pitchFamily="34" charset="-120"/>
              </a:rPr>
              <a:t>register last</a:t>
            </a:r>
            <a:endParaRPr lang="en-US" sz="1600" dirty="0"/>
          </a:p>
        </p:txBody>
      </p:sp>
      <p:sp>
        <p:nvSpPr>
          <p:cNvPr id="8" name="Text 6"/>
          <p:cNvSpPr txBox="1"/>
          <p:nvPr/>
        </p:nvSpPr>
        <p:spPr>
          <a:xfrm>
            <a:off x="4892040" y="2148840"/>
            <a:ext cx="3657600" cy="5486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Only then can @ConditionalOnMissingBean mean "unless you declared your own".</a:t>
            </a:r>
            <a:endParaRPr lang="en-US" sz="1300" dirty="0"/>
          </a:p>
        </p:txBody>
      </p:sp>
      <p:sp>
        <p:nvSpPr>
          <p:cNvPr id="9" name="Shape 7"/>
          <p:cNvSpPr/>
          <p:nvPr/>
        </p:nvSpPr>
        <p:spPr>
          <a:xfrm>
            <a:off x="457200" y="2926080"/>
            <a:ext cx="8229600" cy="960120"/>
          </a:xfrm>
          <a:prstGeom prst="roundRect">
            <a:avLst>
              <a:gd name="adj" fmla="val 5714"/>
            </a:avLst>
          </a:prstGeom>
          <a:solidFill>
            <a:srgbClr val="F1F3F5"/>
          </a:solidFill>
          <a:ln w="12700">
            <a:solidFill>
              <a:srgbClr val="DEE2E6"/>
            </a:solidFill>
            <a:prstDash val="solid"/>
          </a:ln>
        </p:spPr>
      </p:sp>
      <p:sp>
        <p:nvSpPr>
          <p:cNvPr id="10" name="Text 8"/>
          <p:cNvSpPr txBox="1"/>
          <p:nvPr/>
        </p:nvSpPr>
        <p:spPr>
          <a:xfrm>
            <a:off x="621792" y="3035808"/>
            <a:ext cx="7900416" cy="74066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@Bean</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@ConditionalOnMissingBean</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public Notifier notifier() { return message -&gt; System.out.println("NOTIFY   " + message); }</a:t>
            </a:r>
            <a:endParaRPr lang="en-US" sz="1100" dirty="0"/>
          </a:p>
        </p:txBody>
      </p:sp>
      <p:sp>
        <p:nvSpPr>
          <p:cNvPr id="11" name="Shape 9"/>
          <p:cNvSpPr/>
          <p:nvPr/>
        </p:nvSpPr>
        <p:spPr>
          <a:xfrm>
            <a:off x="457200" y="4069080"/>
            <a:ext cx="8229600" cy="594360"/>
          </a:xfrm>
          <a:prstGeom prst="roundRect">
            <a:avLst>
              <a:gd name="adj" fmla="val 12308"/>
            </a:avLst>
          </a:prstGeom>
          <a:solidFill>
            <a:srgbClr val="FFFFFF"/>
          </a:solidFill>
          <a:ln w="25400">
            <a:solidFill>
              <a:srgbClr val="E8590C"/>
            </a:solidFill>
            <a:prstDash val="solid"/>
          </a:ln>
        </p:spPr>
      </p:sp>
      <p:sp>
        <p:nvSpPr>
          <p:cNvPr id="12" name="Text 10"/>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Same classes, opposite registration order, different application. There is a test for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@ConditionalOnX family</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Each one is an ordinary @Conditional with a name</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2377440"/>
                <a:gridCol w="3108960"/>
                <a:gridCol w="27432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Annotation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Registers the bean when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is for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@ConditionalOnClass(name=)</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every named class is on the classpath</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a starter stays quiet without its library</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@ConditionalOnMissingClass</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none of them is</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fall back to another implementation</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@ConditionalOnBean(X.class)</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a bean of that type is already there</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complete what the application started</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@ConditionalOnMissingBean</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no bean of that type exists yet</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provide the default, and step aside</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@ConditionalOnProperty</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a property says so</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000" dirty="0">
                          <a:solidFill>
                            <a:srgbClr val="22303C"/>
                          </a:solidFill>
                          <a:latin typeface="Calibri" pitchFamily="34" charset="0"/>
                          <a:ea typeface="Calibri" pitchFamily="34" charset="-122"/>
                          <a:cs typeface="Calibri" pitchFamily="34" charset="-120"/>
                        </a:rPr>
                        <a:t>let people switch you off</a:t>
                      </a:r>
                      <a:endParaRPr lang="en-US" sz="10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The container knows none of them. Writing your own condition takes about a dozen lines.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"Why is my bean not there?"</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Every decision is recorded, with its reason</a:t>
            </a:r>
            <a:endParaRPr lang="en-US" sz="1500" dirty="0"/>
          </a:p>
        </p:txBody>
      </p:sp>
      <p:sp>
        <p:nvSpPr>
          <p:cNvPr id="4" name="Shape 2"/>
          <p:cNvSpPr/>
          <p:nvPr/>
        </p:nvSpPr>
        <p:spPr>
          <a:xfrm>
            <a:off x="457200" y="1371600"/>
            <a:ext cx="8229600" cy="2286000"/>
          </a:xfrm>
          <a:prstGeom prst="roundRect">
            <a:avLst>
              <a:gd name="adj" fmla="val 2400"/>
            </a:avLst>
          </a:prstGeom>
          <a:solidFill>
            <a:srgbClr val="F1F3F5"/>
          </a:solidFill>
          <a:ln w="12700">
            <a:solidFill>
              <a:srgbClr val="DEE2E6"/>
            </a:solidFill>
            <a:prstDash val="solid"/>
          </a:ln>
        </p:spPr>
      </p:sp>
      <p:sp>
        <p:nvSpPr>
          <p:cNvPr id="5" name="Text 3"/>
          <p:cNvSpPr txBox="1"/>
          <p:nvPr/>
        </p:nvSpPr>
        <p:spPr>
          <a:xfrm>
            <a:off x="621792" y="1481328"/>
            <a:ext cx="7900416" cy="206654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CONDITION EVALUATION REPORT</a:t>
            </a:r>
            <a:endParaRPr lang="en-US" sz="1200" dirty="0"/>
          </a:p>
          <a:p>
            <a:pPr indent="0" marL="0">
              <a:lnSpc>
                <a:spcPct val="115000"/>
              </a:lnSpc>
              <a:buNone/>
            </a:pP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Positive matches: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none</a:t>
            </a:r>
            <a:endParaRPr lang="en-US" sz="1200" dirty="0"/>
          </a:p>
          <a:p>
            <a:pPr indent="0" marL="0">
              <a:lnSpc>
                <a:spcPct val="115000"/>
              </a:lnSpc>
              <a:buNone/>
            </a:pP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Negative matches: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NotifierAutoConfiguration</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 property 'minispring.notifier.enabled' is 'false', expected 'true'</a:t>
            </a:r>
            <a:endParaRPr lang="en-US" sz="1200" dirty="0"/>
          </a:p>
        </p:txBody>
      </p:sp>
      <p:sp>
        <p:nvSpPr>
          <p:cNvPr id="6" name="Shape 4"/>
          <p:cNvSpPr/>
          <p:nvPr/>
        </p:nvSpPr>
        <p:spPr>
          <a:xfrm>
            <a:off x="457200" y="3840480"/>
            <a:ext cx="8229600" cy="594360"/>
          </a:xfrm>
          <a:prstGeom prst="roundRect">
            <a:avLst>
              <a:gd name="adj" fmla="val 12308"/>
            </a:avLst>
          </a:prstGeom>
          <a:solidFill>
            <a:srgbClr val="FFFFFF"/>
          </a:solidFill>
          <a:ln w="25400">
            <a:solidFill>
              <a:srgbClr val="2F9E44"/>
            </a:solidFill>
            <a:prstDash val="solid"/>
          </a:ln>
        </p:spPr>
      </p:sp>
      <p:sp>
        <p:nvSpPr>
          <p:cNvPr id="7" name="Text 5"/>
          <p:cNvSpPr txBox="1"/>
          <p:nvPr/>
        </p:nvSpPr>
        <p:spPr>
          <a:xfrm>
            <a:off x="640080" y="384048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In Spring Boot: start with --debug. In minispring: minispring.autoconfigure.report=true.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it costs</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The honest slide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100 ms against 1.7 s, and why that is fair</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same application, on both containers</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4572000"/>
                <a:gridCol w="3657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Spring Boot does this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minispring does not</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Evaluates hundreds of conditional auto-configurations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reads one small index file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Reads annotation metadata from the whole classpath with ASM</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reflects over one package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Builds an Environment from many property sources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four sources, in order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Initialises a logging system, generates CGLIB subclasses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neither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Runs a real servlet container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a 100-line HTTP dispatcher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02336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The gap is not a flaw in Spring. It is the price of the features I chose not to build.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whole thing, in numbers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So you know what 'small' means here</a:t>
            </a:r>
            <a:endParaRPr lang="en-US" sz="1500" dirty="0"/>
          </a:p>
        </p:txBody>
      </p:sp>
      <p:sp>
        <p:nvSpPr>
          <p:cNvPr id="4" name="Shape 2"/>
          <p:cNvSpPr/>
          <p:nvPr/>
        </p:nvSpPr>
        <p:spPr>
          <a:xfrm>
            <a:off x="457200" y="1737360"/>
            <a:ext cx="1874520" cy="1371600"/>
          </a:xfrm>
          <a:prstGeom prst="roundRect">
            <a:avLst>
              <a:gd name="adj" fmla="val 5333"/>
            </a:avLst>
          </a:prstGeom>
          <a:solidFill>
            <a:srgbClr val="F1F3F5"/>
          </a:solidFill>
          <a:ln w="12700">
            <a:solidFill>
              <a:srgbClr val="DEE2E6"/>
            </a:solidFill>
            <a:prstDash val="solid"/>
          </a:ln>
        </p:spPr>
      </p:sp>
      <p:sp>
        <p:nvSpPr>
          <p:cNvPr id="5" name="Text 3"/>
          <p:cNvSpPr txBox="1"/>
          <p:nvPr/>
        </p:nvSpPr>
        <p:spPr>
          <a:xfrm>
            <a:off x="457200" y="1874520"/>
            <a:ext cx="1874520" cy="685800"/>
          </a:xfrm>
          <a:prstGeom prst="rect">
            <a:avLst/>
          </a:prstGeom>
          <a:noFill/>
          <a:ln/>
        </p:spPr>
        <p:txBody>
          <a:bodyPr wrap="square" lIns="0" tIns="0" rIns="0" bIns="0" rtlCol="0" anchor="ctr"/>
          <a:lstStyle/>
          <a:p>
            <a:pPr algn="ctr" indent="0" marL="0">
              <a:buNone/>
            </a:pPr>
            <a:r>
              <a:rPr lang="en-US" sz="3000" b="1" dirty="0">
                <a:solidFill>
                  <a:srgbClr val="2F9E44"/>
                </a:solidFill>
                <a:latin typeface="Cambria" pitchFamily="34" charset="0"/>
                <a:ea typeface="Cambria" pitchFamily="34" charset="-122"/>
                <a:cs typeface="Cambria" pitchFamily="34" charset="-120"/>
              </a:rPr>
              <a:t>1,500</a:t>
            </a:r>
            <a:endParaRPr lang="en-US" sz="3000" dirty="0"/>
          </a:p>
        </p:txBody>
      </p:sp>
      <p:sp>
        <p:nvSpPr>
          <p:cNvPr id="6" name="Text 4"/>
          <p:cNvSpPr txBox="1"/>
          <p:nvPr/>
        </p:nvSpPr>
        <p:spPr>
          <a:xfrm>
            <a:off x="548640" y="2560320"/>
            <a:ext cx="16916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lines, both modules</a:t>
            </a:r>
            <a:endParaRPr lang="en-US" sz="1200" dirty="0"/>
          </a:p>
        </p:txBody>
      </p:sp>
      <p:sp>
        <p:nvSpPr>
          <p:cNvPr id="7" name="Shape 5"/>
          <p:cNvSpPr/>
          <p:nvPr/>
        </p:nvSpPr>
        <p:spPr>
          <a:xfrm>
            <a:off x="2560320" y="1737360"/>
            <a:ext cx="1874520" cy="1371600"/>
          </a:xfrm>
          <a:prstGeom prst="roundRect">
            <a:avLst>
              <a:gd name="adj" fmla="val 5333"/>
            </a:avLst>
          </a:prstGeom>
          <a:solidFill>
            <a:srgbClr val="F1F3F5"/>
          </a:solidFill>
          <a:ln w="12700">
            <a:solidFill>
              <a:srgbClr val="DEE2E6"/>
            </a:solidFill>
            <a:prstDash val="solid"/>
          </a:ln>
        </p:spPr>
      </p:sp>
      <p:sp>
        <p:nvSpPr>
          <p:cNvPr id="8" name="Text 6"/>
          <p:cNvSpPr txBox="1"/>
          <p:nvPr/>
        </p:nvSpPr>
        <p:spPr>
          <a:xfrm>
            <a:off x="2560320" y="1874520"/>
            <a:ext cx="1874520" cy="685800"/>
          </a:xfrm>
          <a:prstGeom prst="rect">
            <a:avLst/>
          </a:prstGeom>
          <a:noFill/>
          <a:ln/>
        </p:spPr>
        <p:txBody>
          <a:bodyPr wrap="square" lIns="0" tIns="0" rIns="0" bIns="0" rtlCol="0" anchor="ctr"/>
          <a:lstStyle/>
          <a:p>
            <a:pPr algn="ctr" indent="0" marL="0">
              <a:buNone/>
            </a:pPr>
            <a:r>
              <a:rPr lang="en-US" sz="3000" b="1" dirty="0">
                <a:solidFill>
                  <a:srgbClr val="2F9E44"/>
                </a:solidFill>
                <a:latin typeface="Cambria" pitchFamily="34" charset="0"/>
                <a:ea typeface="Cambria" pitchFamily="34" charset="-122"/>
                <a:cs typeface="Cambria" pitchFamily="34" charset="-120"/>
              </a:rPr>
              <a:t>0</a:t>
            </a:r>
            <a:endParaRPr lang="en-US" sz="3000" dirty="0"/>
          </a:p>
        </p:txBody>
      </p:sp>
      <p:sp>
        <p:nvSpPr>
          <p:cNvPr id="9" name="Text 7"/>
          <p:cNvSpPr txBox="1"/>
          <p:nvPr/>
        </p:nvSpPr>
        <p:spPr>
          <a:xfrm>
            <a:off x="2651760" y="2560320"/>
            <a:ext cx="16916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runtime dependencies</a:t>
            </a:r>
            <a:endParaRPr lang="en-US" sz="1200" dirty="0"/>
          </a:p>
        </p:txBody>
      </p:sp>
      <p:sp>
        <p:nvSpPr>
          <p:cNvPr id="10" name="Shape 8"/>
          <p:cNvSpPr/>
          <p:nvPr/>
        </p:nvSpPr>
        <p:spPr>
          <a:xfrm>
            <a:off x="4663440" y="1737360"/>
            <a:ext cx="1874520" cy="1371600"/>
          </a:xfrm>
          <a:prstGeom prst="roundRect">
            <a:avLst>
              <a:gd name="adj" fmla="val 5333"/>
            </a:avLst>
          </a:prstGeom>
          <a:solidFill>
            <a:srgbClr val="F1F3F5"/>
          </a:solidFill>
          <a:ln w="12700">
            <a:solidFill>
              <a:srgbClr val="DEE2E6"/>
            </a:solidFill>
            <a:prstDash val="solid"/>
          </a:ln>
        </p:spPr>
      </p:sp>
      <p:sp>
        <p:nvSpPr>
          <p:cNvPr id="11" name="Text 9"/>
          <p:cNvSpPr txBox="1"/>
          <p:nvPr/>
        </p:nvSpPr>
        <p:spPr>
          <a:xfrm>
            <a:off x="4663440" y="1874520"/>
            <a:ext cx="1874520" cy="685800"/>
          </a:xfrm>
          <a:prstGeom prst="rect">
            <a:avLst/>
          </a:prstGeom>
          <a:noFill/>
          <a:ln/>
        </p:spPr>
        <p:txBody>
          <a:bodyPr wrap="square" lIns="0" tIns="0" rIns="0" bIns="0" rtlCol="0" anchor="ctr"/>
          <a:lstStyle/>
          <a:p>
            <a:pPr algn="ctr" indent="0" marL="0">
              <a:buNone/>
            </a:pPr>
            <a:r>
              <a:rPr lang="en-US" sz="3000" b="1" dirty="0">
                <a:solidFill>
                  <a:srgbClr val="2F9E44"/>
                </a:solidFill>
                <a:latin typeface="Cambria" pitchFamily="34" charset="0"/>
                <a:ea typeface="Cambria" pitchFamily="34" charset="-122"/>
                <a:cs typeface="Cambria" pitchFamily="34" charset="-120"/>
              </a:rPr>
              <a:t>129</a:t>
            </a:r>
            <a:endParaRPr lang="en-US" sz="3000" dirty="0"/>
          </a:p>
        </p:txBody>
      </p:sp>
      <p:sp>
        <p:nvSpPr>
          <p:cNvPr id="12" name="Text 10"/>
          <p:cNvSpPr txBox="1"/>
          <p:nvPr/>
        </p:nvSpPr>
        <p:spPr>
          <a:xfrm>
            <a:off x="4754880" y="2560320"/>
            <a:ext cx="16916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tests, no mocks</a:t>
            </a:r>
            <a:endParaRPr lang="en-US" sz="1200" dirty="0"/>
          </a:p>
        </p:txBody>
      </p:sp>
      <p:sp>
        <p:nvSpPr>
          <p:cNvPr id="13" name="Shape 11"/>
          <p:cNvSpPr/>
          <p:nvPr/>
        </p:nvSpPr>
        <p:spPr>
          <a:xfrm>
            <a:off x="6766560" y="1737360"/>
            <a:ext cx="1874520" cy="1371600"/>
          </a:xfrm>
          <a:prstGeom prst="roundRect">
            <a:avLst>
              <a:gd name="adj" fmla="val 5333"/>
            </a:avLst>
          </a:prstGeom>
          <a:solidFill>
            <a:srgbClr val="F1F3F5"/>
          </a:solidFill>
          <a:ln w="12700">
            <a:solidFill>
              <a:srgbClr val="DEE2E6"/>
            </a:solidFill>
            <a:prstDash val="solid"/>
          </a:ln>
        </p:spPr>
      </p:sp>
      <p:sp>
        <p:nvSpPr>
          <p:cNvPr id="14" name="Text 12"/>
          <p:cNvSpPr txBox="1"/>
          <p:nvPr/>
        </p:nvSpPr>
        <p:spPr>
          <a:xfrm>
            <a:off x="6766560" y="1874520"/>
            <a:ext cx="1874520" cy="685800"/>
          </a:xfrm>
          <a:prstGeom prst="rect">
            <a:avLst/>
          </a:prstGeom>
          <a:noFill/>
          <a:ln/>
        </p:spPr>
        <p:txBody>
          <a:bodyPr wrap="square" lIns="0" tIns="0" rIns="0" bIns="0" rtlCol="0" anchor="ctr"/>
          <a:lstStyle/>
          <a:p>
            <a:pPr algn="ctr" indent="0" marL="0">
              <a:buNone/>
            </a:pPr>
            <a:r>
              <a:rPr lang="en-US" sz="3000" b="1" dirty="0">
                <a:solidFill>
                  <a:srgbClr val="2F9E44"/>
                </a:solidFill>
                <a:latin typeface="Cambria" pitchFamily="34" charset="0"/>
                <a:ea typeface="Cambria" pitchFamily="34" charset="-122"/>
                <a:cs typeface="Cambria" pitchFamily="34" charset="-120"/>
              </a:rPr>
              <a:t>92%</a:t>
            </a:r>
            <a:endParaRPr lang="en-US" sz="3000" dirty="0"/>
          </a:p>
        </p:txBody>
      </p:sp>
      <p:sp>
        <p:nvSpPr>
          <p:cNvPr id="15" name="Text 13"/>
          <p:cNvSpPr txBox="1"/>
          <p:nvPr/>
        </p:nvSpPr>
        <p:spPr>
          <a:xfrm>
            <a:off x="6858000" y="2560320"/>
            <a:ext cx="16916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coverage, gate at 90%</a:t>
            </a:r>
            <a:endParaRPr lang="en-US" sz="1200" dirty="0"/>
          </a:p>
        </p:txBody>
      </p:sp>
      <p:sp>
        <p:nvSpPr>
          <p:cNvPr id="16" name="Shape 14"/>
          <p:cNvSpPr/>
          <p:nvPr/>
        </p:nvSpPr>
        <p:spPr>
          <a:xfrm>
            <a:off x="457200" y="3566160"/>
            <a:ext cx="8229600" cy="594360"/>
          </a:xfrm>
          <a:prstGeom prst="roundRect">
            <a:avLst>
              <a:gd name="adj" fmla="val 12308"/>
            </a:avLst>
          </a:prstGeom>
          <a:solidFill>
            <a:srgbClr val="FFFFFF"/>
          </a:solidFill>
          <a:ln w="25400">
            <a:solidFill>
              <a:srgbClr val="2F9E44"/>
            </a:solidFill>
            <a:prstDash val="solid"/>
          </a:ln>
        </p:spPr>
      </p:sp>
      <p:sp>
        <p:nvSpPr>
          <p:cNvPr id="17" name="Text 15"/>
          <p:cNvSpPr txBox="1"/>
          <p:nvPr/>
        </p:nvSpPr>
        <p:spPr>
          <a:xfrm>
            <a:off x="640080" y="356616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Small enough that every claim in this talk can be checked in one afternoon.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640080" y="54864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things to take home</a:t>
            </a:r>
            <a:endParaRPr lang="en-US" sz="3000" dirty="0"/>
          </a:p>
        </p:txBody>
      </p:sp>
      <p:sp>
        <p:nvSpPr>
          <p:cNvPr id="3" name="Shape 1"/>
          <p:cNvSpPr/>
          <p:nvPr/>
        </p:nvSpPr>
        <p:spPr>
          <a:xfrm>
            <a:off x="640080" y="1371600"/>
            <a:ext cx="457200" cy="457200"/>
          </a:xfrm>
          <a:prstGeom prst="ellipse">
            <a:avLst/>
          </a:prstGeom>
          <a:solidFill>
            <a:srgbClr val="2F9E44"/>
          </a:solidFill>
          <a:ln/>
        </p:spPr>
      </p:sp>
      <p:sp>
        <p:nvSpPr>
          <p:cNvPr id="4" name="Text 2"/>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80160" y="132588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post-processor may hand you a different object</a:t>
            </a:r>
            <a:endParaRPr lang="en-US" sz="1800" dirty="0"/>
          </a:p>
        </p:txBody>
      </p:sp>
      <p:sp>
        <p:nvSpPr>
          <p:cNvPr id="6" name="Text 4"/>
          <p:cNvSpPr txBox="1"/>
          <p:nvPr/>
        </p:nvSpPr>
        <p:spPr>
          <a:xfrm>
            <a:off x="1280160" y="1645920"/>
            <a:ext cx="7315200" cy="41148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That single method is where @Transactional, @Cacheable and @Async come from.</a:t>
            </a:r>
            <a:endParaRPr lang="en-US" sz="1300" dirty="0"/>
          </a:p>
        </p:txBody>
      </p:sp>
      <p:sp>
        <p:nvSpPr>
          <p:cNvPr id="7" name="Shape 5"/>
          <p:cNvSpPr/>
          <p:nvPr/>
        </p:nvSpPr>
        <p:spPr>
          <a:xfrm>
            <a:off x="640080" y="2331720"/>
            <a:ext cx="457200" cy="457200"/>
          </a:xfrm>
          <a:prstGeom prst="ellipse">
            <a:avLst/>
          </a:prstGeom>
          <a:solidFill>
            <a:srgbClr val="2F9E44"/>
          </a:solidFill>
          <a:ln/>
        </p:spPr>
      </p:sp>
      <p:sp>
        <p:nvSpPr>
          <p:cNvPr id="8" name="Text 6"/>
          <p:cNvSpPr txBox="1"/>
          <p:nvPr/>
        </p:nvSpPr>
        <p:spPr>
          <a:xfrm>
            <a:off x="640080" y="2331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80160" y="228600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Self-invocation bypasses the proxy</a:t>
            </a:r>
            <a:endParaRPr lang="en-US" sz="1800" dirty="0"/>
          </a:p>
        </p:txBody>
      </p:sp>
      <p:sp>
        <p:nvSpPr>
          <p:cNvPr id="10" name="Text 8"/>
          <p:cNvSpPr txBox="1"/>
          <p:nvPr/>
        </p:nvSpPr>
        <p:spPr>
          <a:xfrm>
            <a:off x="1280160" y="2606040"/>
            <a:ext cx="7315200" cy="41148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Inside the bean, this is the bean. No proxy, no transaction, no warning.</a:t>
            </a:r>
            <a:endParaRPr lang="en-US" sz="1300" dirty="0"/>
          </a:p>
        </p:txBody>
      </p:sp>
      <p:sp>
        <p:nvSpPr>
          <p:cNvPr id="11" name="Shape 9"/>
          <p:cNvSpPr/>
          <p:nvPr/>
        </p:nvSpPr>
        <p:spPr>
          <a:xfrm>
            <a:off x="640080" y="3291840"/>
            <a:ext cx="457200" cy="457200"/>
          </a:xfrm>
          <a:prstGeom prst="ellipse">
            <a:avLst/>
          </a:prstGeom>
          <a:solidFill>
            <a:srgbClr val="2F9E44"/>
          </a:solidFill>
          <a:ln/>
        </p:spPr>
      </p:sp>
      <p:sp>
        <p:nvSpPr>
          <p:cNvPr id="12" name="Text 10"/>
          <p:cNvSpPr txBox="1"/>
          <p:nvPr/>
        </p:nvSpPr>
        <p:spPr>
          <a:xfrm>
            <a:off x="64008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280160" y="324612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Conditions read definitions, and run last</a:t>
            </a:r>
            <a:endParaRPr lang="en-US" sz="1800" dirty="0"/>
          </a:p>
        </p:txBody>
      </p:sp>
      <p:sp>
        <p:nvSpPr>
          <p:cNvPr id="14" name="Text 12"/>
          <p:cNvSpPr txBox="1"/>
          <p:nvPr/>
        </p:nvSpPr>
        <p:spPr>
          <a:xfrm>
            <a:off x="1280160" y="3566160"/>
            <a:ext cx="7315200" cy="41148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That is the only reason "unless you declared your own" can work.</a:t>
            </a:r>
            <a:endParaRPr lang="en-US" sz="1300" dirty="0"/>
          </a:p>
        </p:txBody>
      </p:sp>
      <p:sp>
        <p:nvSpPr>
          <p:cNvPr id="15" name="Shape 13"/>
          <p:cNvSpPr/>
          <p:nvPr/>
        </p:nvSpPr>
        <p:spPr>
          <a:xfrm>
            <a:off x="640080" y="4251960"/>
            <a:ext cx="4754880" cy="502920"/>
          </a:xfrm>
          <a:prstGeom prst="roundRect">
            <a:avLst>
              <a:gd name="adj" fmla="val 18182"/>
            </a:avLst>
          </a:prstGeom>
          <a:solidFill>
            <a:srgbClr val="2F9E44"/>
          </a:solidFill>
          <a:ln/>
        </p:spPr>
      </p:sp>
      <p:sp>
        <p:nvSpPr>
          <p:cNvPr id="16" name="Text 14"/>
          <p:cNvSpPr txBox="1"/>
          <p:nvPr/>
        </p:nvSpPr>
        <p:spPr>
          <a:xfrm>
            <a:off x="640080" y="4251960"/>
            <a:ext cx="475488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Courier New" pitchFamily="34" charset="0"/>
                <a:ea typeface="Courier New" pitchFamily="34" charset="-122"/>
                <a:cs typeface="Courier New" pitchFamily="34" charset="-120"/>
              </a:rPr>
              <a:t>github.com/ELMAALMIA/minispring</a:t>
            </a:r>
            <a:endParaRPr lang="en-US" sz="1300" dirty="0"/>
          </a:p>
        </p:txBody>
      </p:sp>
      <p:sp>
        <p:nvSpPr>
          <p:cNvPr id="17" name="Text 15"/>
          <p:cNvSpPr txBox="1"/>
          <p:nvPr/>
        </p:nvSpPr>
        <p:spPr>
          <a:xfrm>
            <a:off x="5577840" y="4279392"/>
            <a:ext cx="3108960" cy="45720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Read it commit by commit: one concept each, all green.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is not magic (2/2) — what happens to your bean</dc:title>
  <dc:subject>PptxGenJS Presentation</dc:subject>
  <dc:creator>Ayoub EL Maalmi</dc:creator>
  <cp:lastModifiedBy>Ayoub EL Maalmi</cp:lastModifiedBy>
  <cp:revision>1</cp:revision>
  <dcterms:created xsi:type="dcterms:W3CDTF">2026-09-27T18:28:44Z</dcterms:created>
  <dcterms:modified xsi:type="dcterms:W3CDTF">2026-09-27T18:28:44Z</dcterms:modified>
</cp:coreProperties>
</file>