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One sentence to set the contract: by the end of this talk you will have seen every piece of machinery behind @Autowired, and it is small enough to read in an afternoon.
Say who you are in ten seconds, no more. The credibility comes from the code, not from the bio.
Timing: this deck is built for 45 minutes. Parts 3, 4 and 5 are the heart; if you run late, cut part 1 to two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agenda out loud, it is boring. Point at three things only: the annotation part, the mapping table, and the moment where we write our own annotation.
Tell the audience about the lightning symbol: slides marked with a bolt are deep dives for people who already know Spring well. Beginners can let those wash over them. This is what lets one talk serve two audiences.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who here uses @Autowired every day? Most hands go up. Then: who has read the class that processes it? Almost none.
That gap is the whole talk. Do not apologise for it: nobody reads AutowiredAnnotationBeanPostProcessor, because it is 700 lines of edge cases. Mine is 40.
Keep this slide short, thirty seconds. The energy comes from the question, not from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before opening the container, we need to agree on what Spring is, and what Boot added. Five minutes, no more. Many juniors in the room have never seen a WAR file; many seniors have deployed hundreds. Serve both by framing it as a question of ownership: who starts whom.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line is the callout, and it pays off twice later: in part 4 when we compare with XML, and in part 6 with auto-configuration.
If someone asks why XML lost: annotations put the metadata next to the code it describes. XML kept it in a file nobody opened. Both feed the same model.
Do not spend more than ninety seconds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juniors will thank you for, and the one seniors will nod along to.
Say it as a reversal: before, Tomcat started and then loaded your application. Now your application starts, and then starts Tomcat. Everything else follows from that single inversion: one app per JVM, one container image, deploy by running a process.
If you have time for one anecdote, tell the story of a shared Tomcat with five WARs where one memory leak took down all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table. Pick two rows: the entry point row and the deployment row.
A question that often comes: can Spring Boot still produce a WAR? Yes, with the war packaging and SpringBootServletInitializer. It is used when a company mandates an application server. Say it, then move on.
Bolt for the seniors: the fat jar is not a normal jar. Boot uses a nested jar layout and its own class loader, because the JVM cannot read a jar inside a 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promise concrete: every code snippet in this talk is copied from the repository, not written for the slides.
Mention the constraint that shaped the project: zero runtime dependencies. It forces you to understand things instead of importing them. That is also why there is no CGLIB and no ASM, which will come back twice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now that we know where the container sits, let us define what it must do. Five minutes. This part sets the vocabulary for the rest: definition, registry, factory, post-processor.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here, not at the container. Ask the room to picture this code in a real service with forty beans.
Take the four bullets one by one, they are the four pains that justify everything that follows. The last one matters more than people expect: lifecycle and shutdown order is exactly what @PreDestroy solves later in the talk.
Do not say 'boilerplate'. Say 'the caller has to know everything'. That is the real problem, and it sets up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sentence to land, slowly: the class still asks for what it needs, it simply no longer decides what it gets.
The third bullet is the argument that convinces seniors: constructor injection means your tests need no framework. new OrderServiceImpl(fakeRepository, audit) and you are done. That is why field injection is discouraged — it takes that away.
Close with the callout: the pattern is the point, the container is the plumbing. Then move to what that plumbing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rules, six sections of the rest of the talk. Say that explicitly: this list is the table of contents of the machinery.
The line that lands: Spring's DefaultListableBeanFactory is 2,000 lines, but the model underneath is a map from name to object. Everything else is rules about how entries get in there, and in which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numbers to set expectations, not to brag. The 100 ms will come back in part 7, where we explain honestly why Spring Boot takes 1.7 seconds for the same application.
If someone asks about the 129 tests: JUnit 5 and AssertJ only, no Mockito. When a test needs a mock, the design is too coupled — that rule alone improved the container's design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and the heart of the talk. Twelve minutes. Slow down here: this is where beginners either get it or lose the thread for the next thirty minutes.
The sentence to repeat three times: an annotation does nothing. Something has to read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file in the IDE if you can, it is more convincing than a slide.
Insist: there is no behaviour anywhere in this file. Beginners assume @Component does something. It does not. It is a sticker.
Then set up the next slide: so if it does nothing, how does a class end up in the container? Let us look at what the compiler actually wrote.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three boxes left to right, one sentence each: the sticker, the class file, the reader.
The metaphor to use out loud: the annotation is a sticker on a box, reflection is the pair of glasses, the container is the person who acts on what is written. Remove any of the three and nothing happens.
The red line at the bottom is the demo you are about to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Run javap live if the room is small, otherwise play the recording. Rehearse it: the command must be one line, already typed, in a large font.
Script: compile, run javap, point at RuntimeVisibleAnnotations. Then change RUNTIME to CLASS in Component.java, recompile, run javap again: the attribute name changed. Run the app: NoSuchBeanException.
Bolt for seniors: SOURCE retention disappears at compile time entirely — that is what Lombok and annotation processors use, because they work before the class file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to sixty seconds, it is a reference slide people photograph.
The useful nuance: CLASS is the default, which is exactly the wrong default for framework authors. That is why the mistake is so common.
Bolt: Spring 6 and Quarkus read annotations at build time now, which brings us back to the SOURCE and CLASS columns. The annotations did not change; the moment they are read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buys you credibility with the senior half of the room, and it gives the junior half a story to hang the concepts on.
The punchline: every ingredient of Spring existed in the JDK. What Spring added was the assembly and the opinion.
The last row is the forward-looking one: we are now moving the reading from run time to build time, which is why native images are possible. Do not go deeper unless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turns 'framework magic' into 'a list of JDK methods'. Read the first column slowly.
Mention setAccessible in passing: the container calls constructors and methods that are not public, and that is normal — it is a deliberate, documented choice in the code, with a Sonar suppression that explains why.
Bolt: this is also why reflection-heavy frameworks are slow to start and hard to compile natively. Each of these calls costs, and none of them is visible to the compiler.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and the core of the talk. Fifteen minutes. The table on the next slide is the one people will photograph — pause on it and say so, they will get their phones out.
Then we zoom into three annotations only. Resist the urge to cover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promise out loud: photograph this slide, it is the map of the whole framework.
Then use the last column to make the point that annotations are not special. Everyone who wrote Spring XML in 2010 recognises init-method and scope=prototype. The container has not changed; the way we write metadata has.
Do not read every row. Read the @Component row and the @PostConstruct row,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punchline is the last row, and it is the bridge to part 6. XML could describe beans; it could not describe a decision that depends on the classpath and on what you already declared.
If someone objects that XML had profiles: true, and profiles are the closest ancestor of @Conditional. Say it, it shows you know the history.
Note for yourself: several class names are identical on both sides because I deliberately mirrored Spring's naming. Point it out, it helps people navigate the real Spring source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for everyone who maintains a legacy project, and there are always more of them than you think.
Point at the three XML attributes that survived as annotations: init-method became @PostConstruct, destroy-method became @PreDestroy, scope became @Scope. Same model, different spelling.
Then be fair to XML: it kept configuration outside the code, which is exactly what you still want for things that change per environment. What killed it was putting the wiring there too, far from the class it described.
Bolt: Java configuration is the interesting middle ground — it is code, so it is typed and refactorable, and it stays outside the class, so a library class you do not own can still become a bean.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that surprises people: there is no way to ask Java for the classes of a package. You ask the class loader where the folder is and you read files. Spring does the same, with more cases.
Bolt: this is also why my scanner does not see classes inside jars, and why Spring Boot's auto-configuration uses an index file instead of scanning. That link pays off in part 6.
Mention the sorting: it is a one-line decision that makes startup deterministic and tests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bullet answers a question juniors always have: why do I see @Autowired in old code but not in new code? Because with a single constructor it became unnecessary in Spring 4.3.
Read the error message out loud, slowly. Then say: this is a design decision, not a detail. Spring's version of this message is famously unhelpful, and it costs the ecosystem thousands of hours.
Bolt: parameter names only survive compilation with the -parameters flag. Without it you get arg0, which is why the message would be useless.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picture in words before the audience reads it: the caller does not hold your bean, it holds a proxy that implements the same interface.
The post-processor is 40 lines: find methods annotated @Transactional, ask the JDK for a proxy, call the transaction manager around each call.
Then pause, because the next slide is the one people will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first: who has already lost time on a @Transactional that did nothing? Hands go up, and you have their full attention.
Then explain with the diagram still fresh: the proxy wraps the bean from outside. Inside the bean, this is the bean. An internal call never crosses the proxy boundary.
Say the workarounds, briefly: split into two beans, or inject the bean into itself, or use AopContext. The first one is the honest fix.
This is the story that got the most reactions on my LinkedIn post. It is relatable, not academic.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slide. Walk it once, quickly, naming the annotation that matters at each step.
The insight worth stating: post-processing comes after @PostConstruct, so a proxy always wraps a fully initialised object. And @PreDestroy runs on the raw bean, because a JDK proxy only exposes interface methods.
If you are running late, this is the slide to skip — it repeats what they just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Eight minutes. This is the part that converts spectators into people who will try it tonight.
If the room is with you, do it live in the IDE. If not, the three slides are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if possible. Write the annotation, copy TransactionalProcessor, rename, run the test. Five minutes, rehearsed.
The sentence to land: every method-level annotation in Spring works this way. @Cacheable, @Retry, @Async, @PreAuthorize — same pattern, more edge cases.
Then warn them, honestly: in real projects, use the existing ones. The point is not to rewrite Spring, it is to stop being afraid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Six minutes. Tell the true story: this part exists because someone asked the question in a LinkedIn comment. It makes the talk feel alive, and it invites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boxes. Insist on the first one: your beans are registered first. Everything else depends on that ordering.
Say what auto-configuration is in one sentence: a plugin that contributes bean definitions through an extension point, after you, and only for what is missing.
In my implementation the container knows nothing about it: it is a separate module, 300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rules are the answer to Karim's question, and the takeaway of the whole section.
Rule two explains the warning in Spring's own documentation: @ConditionalOnMissingBean is only reliable inside an auto-configuration. Now they know why, instead of just obeying.
Bolt: @ConditionalOnClass has to name classes as strings in my version, because reading a Class attribute that points at an absent class fails — which is exactly the case it exists for. Spring solves it by reading annotations from the bytecode with ASM. One constraint, and a dependency people never question suddenly makes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practical takeaway people can use on Monday morning, whatever framework they run.
Say it plainly: most developers debug auto-configuration by guessing. The report turns guessing into reading.
Demo option: run the three-scenario demo from the repository. Default bean, your own bean, starter switched off. Ninety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Three minutes. Never end a rebuild talk on a victory lap — the audience knows Spring does infinitely more. Owning that is what makes the rest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this without irony. The audience includes people who maintain large Spring applications; respect that.
If someone asks how to make Spring Boot start faster: lazy initialisation, fewer starters, and AOT with native images. Say it in one sentence, do not start a second talk.
Also own my own limitations here: constructor injection only, JDK proxies only, no jar scanning, not thread-safe during startup. They are choices, and they are in the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sentences, then stop talking. Do not add a fourth point.
The call to action that works: clone it and read the commit history in order, each commit adds one concept with its tests.
Then open the floor. Expected questions: why no CGLIB; how do cycles work; is it production-ready (no, and say so); how long did it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30"/>
        </a:solidFill>
      </p:bgPr>
    </p:bg>
    <p:spTree>
      <p:nvGrpSpPr>
        <p:cNvPr id="1" name=""/>
        <p:cNvGrpSpPr/>
        <p:nvPr/>
      </p:nvGrpSpPr>
      <p:grpSpPr>
        <a:xfrm>
          <a:off x="0" y="0"/>
          <a:ext cx="0" cy="0"/>
          <a:chOff x="0" y="0"/>
          <a:chExt cx="0" cy="0"/>
        </a:xfrm>
      </p:grpSpPr>
      <p:sp>
        <p:nvSpPr>
          <p:cNvPr id="2" name="Text 0"/>
          <p:cNvSpPr txBox="1"/>
          <p:nvPr/>
        </p:nvSpPr>
        <p:spPr>
          <a:xfrm>
            <a:off x="731520" y="1508760"/>
            <a:ext cx="777240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Spring is not magic</a:t>
            </a:r>
            <a:endParaRPr lang="en-US" sz="4400" dirty="0"/>
          </a:p>
        </p:txBody>
      </p:sp>
      <p:sp>
        <p:nvSpPr>
          <p:cNvPr id="3" name="Text 1"/>
          <p:cNvSpPr txBox="1"/>
          <p:nvPr/>
        </p:nvSpPr>
        <p:spPr>
          <a:xfrm>
            <a:off x="731520" y="2377440"/>
            <a:ext cx="7772400" cy="457200"/>
          </a:xfrm>
          <a:prstGeom prst="rect">
            <a:avLst/>
          </a:prstGeom>
          <a:noFill/>
          <a:ln/>
        </p:spPr>
        <p:txBody>
          <a:bodyPr wrap="square" lIns="0" tIns="0" rIns="0" bIns="0" rtlCol="0" anchor="ctr"/>
          <a:lstStyle/>
          <a:p>
            <a:pPr indent="0" marL="0">
              <a:buNone/>
            </a:pPr>
            <a:r>
              <a:rPr lang="en-US" sz="2000" dirty="0">
                <a:solidFill>
                  <a:srgbClr val="9FB3C8"/>
                </a:solidFill>
                <a:latin typeface="Calibri" pitchFamily="34" charset="0"/>
                <a:ea typeface="Calibri" pitchFamily="34" charset="-122"/>
                <a:cs typeface="Calibri" pitchFamily="34" charset="-120"/>
              </a:rPr>
              <a:t>I rebuilt the container in 1,200 lines of Java 21</a:t>
            </a:r>
            <a:endParaRPr lang="en-US" sz="2000" dirty="0"/>
          </a:p>
        </p:txBody>
      </p:sp>
      <p:sp>
        <p:nvSpPr>
          <p:cNvPr id="4" name="Shape 2"/>
          <p:cNvSpPr/>
          <p:nvPr/>
        </p:nvSpPr>
        <p:spPr>
          <a:xfrm>
            <a:off x="731520" y="3200400"/>
            <a:ext cx="4206240" cy="502920"/>
          </a:xfrm>
          <a:prstGeom prst="roundRect">
            <a:avLst>
              <a:gd name="adj" fmla="val 18182"/>
            </a:avLst>
          </a:prstGeom>
          <a:solidFill>
            <a:srgbClr val="2F9E44"/>
          </a:solidFill>
          <a:ln/>
        </p:spPr>
      </p:sp>
      <p:sp>
        <p:nvSpPr>
          <p:cNvPr id="5" name="Text 3"/>
          <p:cNvSpPr txBox="1"/>
          <p:nvPr/>
        </p:nvSpPr>
        <p:spPr>
          <a:xfrm>
            <a:off x="731520" y="3200400"/>
            <a:ext cx="4206240" cy="502920"/>
          </a:xfrm>
          <a:prstGeom prst="rect">
            <a:avLst/>
          </a:prstGeom>
          <a:noFill/>
          <a:ln/>
        </p:spPr>
        <p:txBody>
          <a:bodyPr wrap="square" lIns="0" tIns="0" rIns="0" bIns="0" rtlCol="0" anchor="ctr"/>
          <a:lstStyle/>
          <a:p>
            <a:pPr algn="ctr" indent="0" marL="0">
              <a:buNone/>
            </a:pPr>
            <a:r>
              <a:rPr lang="en-US" sz="1300" dirty="0">
                <a:solidFill>
                  <a:srgbClr val="FFFFFF"/>
                </a:solidFill>
                <a:latin typeface="Courier New" pitchFamily="34" charset="0"/>
                <a:ea typeface="Courier New" pitchFamily="34" charset="-122"/>
                <a:cs typeface="Courier New" pitchFamily="34" charset="-120"/>
              </a:rPr>
              <a:t>github.com/ELMAALMIA/minispring</a:t>
            </a:r>
            <a:endParaRPr lang="en-US" sz="1300" dirty="0"/>
          </a:p>
        </p:txBody>
      </p:sp>
      <p:sp>
        <p:nvSpPr>
          <p:cNvPr id="6" name="Text 4"/>
          <p:cNvSpPr txBox="1"/>
          <p:nvPr/>
        </p:nvSpPr>
        <p:spPr>
          <a:xfrm>
            <a:off x="731520" y="3977640"/>
            <a:ext cx="7772400" cy="365760"/>
          </a:xfrm>
          <a:prstGeom prst="rect">
            <a:avLst/>
          </a:prstGeom>
          <a:noFill/>
          <a:ln/>
        </p:spPr>
        <p:txBody>
          <a:bodyPr wrap="square" lIns="0" tIns="0" rIns="0" bIns="0" rtlCol="0" anchor="ctr"/>
          <a:lstStyle/>
          <a:p>
            <a:pPr indent="0" marL="0">
              <a:buNone/>
            </a:pPr>
            <a:r>
              <a:rPr lang="en-US" sz="1400" dirty="0">
                <a:solidFill>
                  <a:srgbClr val="7C93A8"/>
                </a:solidFill>
                <a:latin typeface="Calibri" pitchFamily="34" charset="0"/>
                <a:ea typeface="Calibri" pitchFamily="34" charset="-122"/>
                <a:cs typeface="Calibri" pitchFamily="34" charset="-120"/>
              </a:rPr>
              <a:t>Ayoub EL Maalmi  ·  Java &amp; Spring Boot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3000" b="1" dirty="0">
                <a:solidFill>
                  <a:srgbClr val="22303C"/>
                </a:solidFill>
                <a:latin typeface="Cambria" pitchFamily="34" charset="0"/>
                <a:ea typeface="Cambria" pitchFamily="34" charset="-122"/>
                <a:cs typeface="Cambria" pitchFamily="34" charset="-120"/>
              </a:rPr>
              <a:t>Where we are going</a:t>
            </a:r>
            <a:endParaRPr lang="en-US" sz="30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Eight steps, from what Spring is to writing your own annotation</a:t>
            </a:r>
            <a:endParaRPr lang="en-US" sz="1500" dirty="0"/>
          </a:p>
        </p:txBody>
      </p:sp>
      <p:sp>
        <p:nvSpPr>
          <p:cNvPr id="4" name="Shape 2"/>
          <p:cNvSpPr/>
          <p:nvPr/>
        </p:nvSpPr>
        <p:spPr>
          <a:xfrm>
            <a:off x="502920" y="1508760"/>
            <a:ext cx="384048" cy="384048"/>
          </a:xfrm>
          <a:prstGeom prst="ellipse">
            <a:avLst/>
          </a:prstGeom>
          <a:solidFill>
            <a:srgbClr val="2F9E44"/>
          </a:solidFill>
          <a:ln/>
        </p:spPr>
      </p:sp>
      <p:sp>
        <p:nvSpPr>
          <p:cNvPr id="5" name="Text 3"/>
          <p:cNvSpPr txBox="1"/>
          <p:nvPr/>
        </p:nvSpPr>
        <p:spPr>
          <a:xfrm>
            <a:off x="502920" y="1508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033272" y="1472184"/>
            <a:ext cx="3383280" cy="274320"/>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Spring, then Spring Boot</a:t>
            </a:r>
            <a:endParaRPr lang="en-US" sz="1500" dirty="0"/>
          </a:p>
        </p:txBody>
      </p:sp>
      <p:sp>
        <p:nvSpPr>
          <p:cNvPr id="7" name="Text 5"/>
          <p:cNvSpPr txBox="1"/>
          <p:nvPr/>
        </p:nvSpPr>
        <p:spPr>
          <a:xfrm>
            <a:off x="1033272" y="1728216"/>
            <a:ext cx="3383280" cy="274320"/>
          </a:xfrm>
          <a:prstGeom prst="rect">
            <a:avLst/>
          </a:prstGeom>
          <a:noFill/>
          <a:ln/>
        </p:spPr>
        <p:txBody>
          <a:bodyPr wrap="square" lIns="0" tIns="0" rIns="0" bIns="0" rtlCol="0" anchor="ctr"/>
          <a:lstStyle/>
          <a:p>
            <a:pPr indent="0" marL="0">
              <a:buNone/>
            </a:pPr>
            <a:r>
              <a:rPr lang="en-US" sz="1200" dirty="0">
                <a:solidFill>
                  <a:srgbClr val="5B6B7A"/>
                </a:solidFill>
                <a:latin typeface="Calibri" pitchFamily="34" charset="0"/>
                <a:ea typeface="Calibri" pitchFamily="34" charset="-122"/>
                <a:cs typeface="Calibri" pitchFamily="34" charset="-120"/>
              </a:rPr>
              <a:t>WAR, JAR, who owns the server</a:t>
            </a:r>
            <a:endParaRPr lang="en-US" sz="1200" dirty="0"/>
          </a:p>
        </p:txBody>
      </p:sp>
      <p:sp>
        <p:nvSpPr>
          <p:cNvPr id="8" name="Shape 6"/>
          <p:cNvSpPr/>
          <p:nvPr/>
        </p:nvSpPr>
        <p:spPr>
          <a:xfrm>
            <a:off x="502920" y="2304288"/>
            <a:ext cx="384048" cy="384048"/>
          </a:xfrm>
          <a:prstGeom prst="ellipse">
            <a:avLst/>
          </a:prstGeom>
          <a:solidFill>
            <a:srgbClr val="2F9E44"/>
          </a:solidFill>
          <a:ln/>
        </p:spPr>
      </p:sp>
      <p:sp>
        <p:nvSpPr>
          <p:cNvPr id="9" name="Text 7"/>
          <p:cNvSpPr txBox="1"/>
          <p:nvPr/>
        </p:nvSpPr>
        <p:spPr>
          <a:xfrm>
            <a:off x="502920" y="23042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033272" y="2267712"/>
            <a:ext cx="3383280" cy="274320"/>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The minimum a container needs</a:t>
            </a:r>
            <a:endParaRPr lang="en-US" sz="1500" dirty="0"/>
          </a:p>
        </p:txBody>
      </p:sp>
      <p:sp>
        <p:nvSpPr>
          <p:cNvPr id="11" name="Text 9"/>
          <p:cNvSpPr txBox="1"/>
          <p:nvPr/>
        </p:nvSpPr>
        <p:spPr>
          <a:xfrm>
            <a:off x="1033272" y="2523744"/>
            <a:ext cx="3383280" cy="274320"/>
          </a:xfrm>
          <a:prstGeom prst="rect">
            <a:avLst/>
          </a:prstGeom>
          <a:noFill/>
          <a:ln/>
        </p:spPr>
        <p:txBody>
          <a:bodyPr wrap="square" lIns="0" tIns="0" rIns="0" bIns="0" rtlCol="0" anchor="ctr"/>
          <a:lstStyle/>
          <a:p>
            <a:pPr indent="0" marL="0">
              <a:buNone/>
            </a:pPr>
            <a:r>
              <a:rPr lang="en-US" sz="1200" dirty="0">
                <a:solidFill>
                  <a:srgbClr val="5B6B7A"/>
                </a:solidFill>
                <a:latin typeface="Calibri" pitchFamily="34" charset="0"/>
                <a:ea typeface="Calibri" pitchFamily="34" charset="-122"/>
                <a:cs typeface="Calibri" pitchFamily="34" charset="-120"/>
              </a:rPr>
              <a:t>a Map and a few rules</a:t>
            </a:r>
            <a:endParaRPr lang="en-US" sz="1200" dirty="0"/>
          </a:p>
        </p:txBody>
      </p:sp>
      <p:sp>
        <p:nvSpPr>
          <p:cNvPr id="12" name="Shape 10"/>
          <p:cNvSpPr/>
          <p:nvPr/>
        </p:nvSpPr>
        <p:spPr>
          <a:xfrm>
            <a:off x="502920" y="3099816"/>
            <a:ext cx="384048" cy="384048"/>
          </a:xfrm>
          <a:prstGeom prst="ellipse">
            <a:avLst/>
          </a:prstGeom>
          <a:solidFill>
            <a:srgbClr val="2F9E44"/>
          </a:solidFill>
          <a:ln/>
        </p:spPr>
      </p:sp>
      <p:sp>
        <p:nvSpPr>
          <p:cNvPr id="13" name="Text 11"/>
          <p:cNvSpPr txBox="1"/>
          <p:nvPr/>
        </p:nvSpPr>
        <p:spPr>
          <a:xfrm>
            <a:off x="502920" y="30998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033272" y="3063240"/>
            <a:ext cx="3383280" cy="274320"/>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What an annotation really is</a:t>
            </a:r>
            <a:endParaRPr lang="en-US" sz="1500" dirty="0"/>
          </a:p>
        </p:txBody>
      </p:sp>
      <p:sp>
        <p:nvSpPr>
          <p:cNvPr id="15" name="Text 13"/>
          <p:cNvSpPr txBox="1"/>
          <p:nvPr/>
        </p:nvSpPr>
        <p:spPr>
          <a:xfrm>
            <a:off x="1033272" y="3319272"/>
            <a:ext cx="3383280" cy="274320"/>
          </a:xfrm>
          <a:prstGeom prst="rect">
            <a:avLst/>
          </a:prstGeom>
          <a:noFill/>
          <a:ln/>
        </p:spPr>
        <p:txBody>
          <a:bodyPr wrap="square" lIns="0" tIns="0" rIns="0" bIns="0" rtlCol="0" anchor="ctr"/>
          <a:lstStyle/>
          <a:p>
            <a:pPr indent="0" marL="0">
              <a:buNone/>
            </a:pPr>
            <a:r>
              <a:rPr lang="en-US" sz="1200" dirty="0">
                <a:solidFill>
                  <a:srgbClr val="5B6B7A"/>
                </a:solidFill>
                <a:latin typeface="Calibri" pitchFamily="34" charset="0"/>
                <a:ea typeface="Calibri" pitchFamily="34" charset="-122"/>
                <a:cs typeface="Calibri" pitchFamily="34" charset="-120"/>
              </a:rPr>
              <a:t>bytecode, javap, reflection</a:t>
            </a:r>
            <a:endParaRPr lang="en-US" sz="1200" dirty="0"/>
          </a:p>
        </p:txBody>
      </p:sp>
      <p:sp>
        <p:nvSpPr>
          <p:cNvPr id="16" name="Shape 14"/>
          <p:cNvSpPr/>
          <p:nvPr/>
        </p:nvSpPr>
        <p:spPr>
          <a:xfrm>
            <a:off x="502920" y="3895344"/>
            <a:ext cx="384048" cy="384048"/>
          </a:xfrm>
          <a:prstGeom prst="ellipse">
            <a:avLst/>
          </a:prstGeom>
          <a:solidFill>
            <a:srgbClr val="2F9E44"/>
          </a:solidFill>
          <a:ln/>
        </p:spPr>
      </p:sp>
      <p:sp>
        <p:nvSpPr>
          <p:cNvPr id="17" name="Text 15"/>
          <p:cNvSpPr txBox="1"/>
          <p:nvPr/>
        </p:nvSpPr>
        <p:spPr>
          <a:xfrm>
            <a:off x="502920" y="38953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1033272" y="3858768"/>
            <a:ext cx="3383280" cy="274320"/>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Every annotation, and who reads it</a:t>
            </a:r>
            <a:endParaRPr lang="en-US" sz="1500" dirty="0"/>
          </a:p>
        </p:txBody>
      </p:sp>
      <p:sp>
        <p:nvSpPr>
          <p:cNvPr id="19" name="Text 17"/>
          <p:cNvSpPr txBox="1"/>
          <p:nvPr/>
        </p:nvSpPr>
        <p:spPr>
          <a:xfrm>
            <a:off x="1033272" y="4114800"/>
            <a:ext cx="3383280" cy="274320"/>
          </a:xfrm>
          <a:prstGeom prst="rect">
            <a:avLst/>
          </a:prstGeom>
          <a:noFill/>
          <a:ln/>
        </p:spPr>
        <p:txBody>
          <a:bodyPr wrap="square" lIns="0" tIns="0" rIns="0" bIns="0" rtlCol="0" anchor="ctr"/>
          <a:lstStyle/>
          <a:p>
            <a:pPr indent="0" marL="0">
              <a:buNone/>
            </a:pPr>
            <a:r>
              <a:rPr lang="en-US" sz="1200" dirty="0">
                <a:solidFill>
                  <a:srgbClr val="5B6B7A"/>
                </a:solidFill>
                <a:latin typeface="Calibri" pitchFamily="34" charset="0"/>
                <a:ea typeface="Calibri" pitchFamily="34" charset="-122"/>
                <a:cs typeface="Calibri" pitchFamily="34" charset="-120"/>
              </a:rPr>
              <a:t>minispring vs Spring vs XML</a:t>
            </a:r>
            <a:endParaRPr lang="en-US" sz="1200" dirty="0"/>
          </a:p>
        </p:txBody>
      </p:sp>
      <p:sp>
        <p:nvSpPr>
          <p:cNvPr id="20" name="Shape 18"/>
          <p:cNvSpPr/>
          <p:nvPr/>
        </p:nvSpPr>
        <p:spPr>
          <a:xfrm>
            <a:off x="4709160" y="1508760"/>
            <a:ext cx="384048" cy="384048"/>
          </a:xfrm>
          <a:prstGeom prst="ellipse">
            <a:avLst/>
          </a:prstGeom>
          <a:solidFill>
            <a:srgbClr val="2E3A47"/>
          </a:solidFill>
          <a:ln/>
        </p:spPr>
      </p:sp>
      <p:sp>
        <p:nvSpPr>
          <p:cNvPr id="21" name="Text 19"/>
          <p:cNvSpPr txBox="1"/>
          <p:nvPr/>
        </p:nvSpPr>
        <p:spPr>
          <a:xfrm>
            <a:off x="4709160" y="1508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txBox="1"/>
          <p:nvPr/>
        </p:nvSpPr>
        <p:spPr>
          <a:xfrm>
            <a:off x="5239512" y="1472184"/>
            <a:ext cx="3383280" cy="274320"/>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Invent your own annotation</a:t>
            </a:r>
            <a:endParaRPr lang="en-US" sz="1500" dirty="0"/>
          </a:p>
        </p:txBody>
      </p:sp>
      <p:sp>
        <p:nvSpPr>
          <p:cNvPr id="23" name="Text 21"/>
          <p:cNvSpPr txBox="1"/>
          <p:nvPr/>
        </p:nvSpPr>
        <p:spPr>
          <a:xfrm>
            <a:off x="5239512" y="1728216"/>
            <a:ext cx="3383280" cy="274320"/>
          </a:xfrm>
          <a:prstGeom prst="rect">
            <a:avLst/>
          </a:prstGeom>
          <a:noFill/>
          <a:ln/>
        </p:spPr>
        <p:txBody>
          <a:bodyPr wrap="square" lIns="0" tIns="0" rIns="0" bIns="0" rtlCol="0" anchor="ctr"/>
          <a:lstStyle/>
          <a:p>
            <a:pPr indent="0" marL="0">
              <a:buNone/>
            </a:pPr>
            <a:r>
              <a:rPr lang="en-US" sz="1200" dirty="0">
                <a:solidFill>
                  <a:srgbClr val="5B6B7A"/>
                </a:solidFill>
                <a:latin typeface="Calibri" pitchFamily="34" charset="0"/>
                <a:ea typeface="Calibri" pitchFamily="34" charset="-122"/>
                <a:cs typeface="Calibri" pitchFamily="34" charset="-120"/>
              </a:rPr>
              <a:t>@Timed in 30 lines</a:t>
            </a:r>
            <a:endParaRPr lang="en-US" sz="1200" dirty="0"/>
          </a:p>
        </p:txBody>
      </p:sp>
      <p:sp>
        <p:nvSpPr>
          <p:cNvPr id="24" name="Shape 22"/>
          <p:cNvSpPr/>
          <p:nvPr/>
        </p:nvSpPr>
        <p:spPr>
          <a:xfrm>
            <a:off x="4709160" y="2304288"/>
            <a:ext cx="384048" cy="384048"/>
          </a:xfrm>
          <a:prstGeom prst="ellipse">
            <a:avLst/>
          </a:prstGeom>
          <a:solidFill>
            <a:srgbClr val="2E3A47"/>
          </a:solidFill>
          <a:ln/>
        </p:spPr>
      </p:sp>
      <p:sp>
        <p:nvSpPr>
          <p:cNvPr id="25" name="Text 23"/>
          <p:cNvSpPr txBox="1"/>
          <p:nvPr/>
        </p:nvSpPr>
        <p:spPr>
          <a:xfrm>
            <a:off x="4709160" y="23042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6" name="Text 24"/>
          <p:cNvSpPr txBox="1"/>
          <p:nvPr/>
        </p:nvSpPr>
        <p:spPr>
          <a:xfrm>
            <a:off x="5239512" y="2267712"/>
            <a:ext cx="3383280" cy="274320"/>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The Boot layer</a:t>
            </a:r>
            <a:endParaRPr lang="en-US" sz="1500" dirty="0"/>
          </a:p>
        </p:txBody>
      </p:sp>
      <p:sp>
        <p:nvSpPr>
          <p:cNvPr id="27" name="Text 25"/>
          <p:cNvSpPr txBox="1"/>
          <p:nvPr/>
        </p:nvSpPr>
        <p:spPr>
          <a:xfrm>
            <a:off x="5239512" y="2523744"/>
            <a:ext cx="3383280" cy="274320"/>
          </a:xfrm>
          <a:prstGeom prst="rect">
            <a:avLst/>
          </a:prstGeom>
          <a:noFill/>
          <a:ln/>
        </p:spPr>
        <p:txBody>
          <a:bodyPr wrap="square" lIns="0" tIns="0" rIns="0" bIns="0" rtlCol="0" anchor="ctr"/>
          <a:lstStyle/>
          <a:p>
            <a:pPr indent="0" marL="0">
              <a:buNone/>
            </a:pPr>
            <a:r>
              <a:rPr lang="en-US" sz="1200" dirty="0">
                <a:solidFill>
                  <a:srgbClr val="5B6B7A"/>
                </a:solidFill>
                <a:latin typeface="Calibri" pitchFamily="34" charset="0"/>
                <a:ea typeface="Calibri" pitchFamily="34" charset="-122"/>
                <a:cs typeface="Calibri" pitchFamily="34" charset="-120"/>
              </a:rPr>
              <a:t>auto-configuration and @Conditional</a:t>
            </a:r>
            <a:endParaRPr lang="en-US" sz="1200" dirty="0"/>
          </a:p>
        </p:txBody>
      </p:sp>
      <p:sp>
        <p:nvSpPr>
          <p:cNvPr id="28" name="Shape 26"/>
          <p:cNvSpPr/>
          <p:nvPr/>
        </p:nvSpPr>
        <p:spPr>
          <a:xfrm>
            <a:off x="4709160" y="3099816"/>
            <a:ext cx="384048" cy="384048"/>
          </a:xfrm>
          <a:prstGeom prst="ellipse">
            <a:avLst/>
          </a:prstGeom>
          <a:solidFill>
            <a:srgbClr val="2E3A47"/>
          </a:solidFill>
          <a:ln/>
        </p:spPr>
      </p:sp>
      <p:sp>
        <p:nvSpPr>
          <p:cNvPr id="29" name="Text 27"/>
          <p:cNvSpPr txBox="1"/>
          <p:nvPr/>
        </p:nvSpPr>
        <p:spPr>
          <a:xfrm>
            <a:off x="4709160" y="30998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0" name="Text 28"/>
          <p:cNvSpPr txBox="1"/>
          <p:nvPr/>
        </p:nvSpPr>
        <p:spPr>
          <a:xfrm>
            <a:off x="5239512" y="3063240"/>
            <a:ext cx="3383280" cy="274320"/>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What it costs</a:t>
            </a:r>
            <a:endParaRPr lang="en-US" sz="1500" dirty="0"/>
          </a:p>
        </p:txBody>
      </p:sp>
      <p:sp>
        <p:nvSpPr>
          <p:cNvPr id="31" name="Text 29"/>
          <p:cNvSpPr txBox="1"/>
          <p:nvPr/>
        </p:nvSpPr>
        <p:spPr>
          <a:xfrm>
            <a:off x="5239512" y="3319272"/>
            <a:ext cx="3383280" cy="274320"/>
          </a:xfrm>
          <a:prstGeom prst="rect">
            <a:avLst/>
          </a:prstGeom>
          <a:noFill/>
          <a:ln/>
        </p:spPr>
        <p:txBody>
          <a:bodyPr wrap="square" lIns="0" tIns="0" rIns="0" bIns="0" rtlCol="0" anchor="ctr"/>
          <a:lstStyle/>
          <a:p>
            <a:pPr indent="0" marL="0">
              <a:buNone/>
            </a:pPr>
            <a:r>
              <a:rPr lang="en-US" sz="1200" dirty="0">
                <a:solidFill>
                  <a:srgbClr val="5B6B7A"/>
                </a:solidFill>
                <a:latin typeface="Calibri" pitchFamily="34" charset="0"/>
                <a:ea typeface="Calibri" pitchFamily="34" charset="-122"/>
                <a:cs typeface="Calibri" pitchFamily="34" charset="-120"/>
              </a:rPr>
              <a:t>honest numbers</a:t>
            </a:r>
            <a:endParaRPr lang="en-US" sz="1200" dirty="0"/>
          </a:p>
        </p:txBody>
      </p:sp>
      <p:sp>
        <p:nvSpPr>
          <p:cNvPr id="32" name="Shape 30"/>
          <p:cNvSpPr/>
          <p:nvPr/>
        </p:nvSpPr>
        <p:spPr>
          <a:xfrm>
            <a:off x="4709160" y="3895344"/>
            <a:ext cx="384048" cy="384048"/>
          </a:xfrm>
          <a:prstGeom prst="ellipse">
            <a:avLst/>
          </a:prstGeom>
          <a:solidFill>
            <a:srgbClr val="2E3A47"/>
          </a:solidFill>
          <a:ln/>
        </p:spPr>
      </p:sp>
      <p:sp>
        <p:nvSpPr>
          <p:cNvPr id="33" name="Text 31"/>
          <p:cNvSpPr txBox="1"/>
          <p:nvPr/>
        </p:nvSpPr>
        <p:spPr>
          <a:xfrm>
            <a:off x="4709160" y="38953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34" name="Text 32"/>
          <p:cNvSpPr txBox="1"/>
          <p:nvPr/>
        </p:nvSpPr>
        <p:spPr>
          <a:xfrm>
            <a:off x="5239512" y="3858768"/>
            <a:ext cx="3383280" cy="274320"/>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Takeaways</a:t>
            </a:r>
            <a:endParaRPr lang="en-US" sz="1500" dirty="0"/>
          </a:p>
        </p:txBody>
      </p:sp>
      <p:sp>
        <p:nvSpPr>
          <p:cNvPr id="35" name="Text 33"/>
          <p:cNvSpPr txBox="1"/>
          <p:nvPr/>
        </p:nvSpPr>
        <p:spPr>
          <a:xfrm>
            <a:off x="5239512" y="4114800"/>
            <a:ext cx="3383280" cy="274320"/>
          </a:xfrm>
          <a:prstGeom prst="rect">
            <a:avLst/>
          </a:prstGeom>
          <a:noFill/>
          <a:ln/>
        </p:spPr>
        <p:txBody>
          <a:bodyPr wrap="square" lIns="0" tIns="0" rIns="0" bIns="0" rtlCol="0" anchor="ctr"/>
          <a:lstStyle/>
          <a:p>
            <a:pPr indent="0" marL="0">
              <a:buNone/>
            </a:pP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3000" b="1" dirty="0">
                <a:solidFill>
                  <a:srgbClr val="22303C"/>
                </a:solidFill>
                <a:latin typeface="Cambria" pitchFamily="34" charset="0"/>
                <a:ea typeface="Cambria" pitchFamily="34" charset="-122"/>
                <a:cs typeface="Cambria" pitchFamily="34" charset="-120"/>
              </a:rPr>
              <a:t>You have written this a thousand times</a:t>
            </a:r>
            <a:endParaRPr lang="en-US" sz="3000" dirty="0"/>
          </a:p>
        </p:txBody>
      </p:sp>
      <p:sp>
        <p:nvSpPr>
          <p:cNvPr id="3" name="Shape 1"/>
          <p:cNvSpPr/>
          <p:nvPr/>
        </p:nvSpPr>
        <p:spPr>
          <a:xfrm>
            <a:off x="457200" y="1371600"/>
            <a:ext cx="4754880" cy="2011680"/>
          </a:xfrm>
          <a:prstGeom prst="roundRect">
            <a:avLst>
              <a:gd name="adj" fmla="val 2727"/>
            </a:avLst>
          </a:prstGeom>
          <a:solidFill>
            <a:srgbClr val="F1F3F5"/>
          </a:solidFill>
          <a:ln w="12700">
            <a:solidFill>
              <a:srgbClr val="DEE2E6"/>
            </a:solidFill>
            <a:prstDash val="solid"/>
          </a:ln>
        </p:spPr>
      </p:sp>
      <p:sp>
        <p:nvSpPr>
          <p:cNvPr id="4" name="Text 2"/>
          <p:cNvSpPr txBox="1"/>
          <p:nvPr/>
        </p:nvSpPr>
        <p:spPr>
          <a:xfrm>
            <a:off x="621792" y="1481328"/>
            <a:ext cx="4425696" cy="1792224"/>
          </a:xfrm>
          <a:prstGeom prst="rect">
            <a:avLst/>
          </a:prstGeom>
          <a:noFill/>
          <a:ln/>
        </p:spPr>
        <p:txBody>
          <a:bodyPr wrap="square" lIns="0" tIns="0" rIns="0" bIns="0" rtlCol="0" anchor="ctr"/>
          <a:lstStyle/>
          <a:p>
            <a:pPr indent="0" marL="0">
              <a:lnSpc>
                <a:spcPct val="115000"/>
              </a:lnSpc>
              <a:buNone/>
            </a:pPr>
            <a:r>
              <a:rPr lang="en-US" sz="1500" dirty="0">
                <a:solidFill>
                  <a:srgbClr val="22303C"/>
                </a:solidFill>
                <a:latin typeface="Courier New" pitchFamily="34" charset="0"/>
                <a:ea typeface="Courier New" pitchFamily="34" charset="-122"/>
                <a:cs typeface="Courier New" pitchFamily="34" charset="-120"/>
              </a:rPr>
              <a:t>@Service</a:t>
            </a:r>
            <a:endParaRPr lang="en-US" sz="1500" dirty="0"/>
          </a:p>
          <a:p>
            <a:pPr indent="0" marL="0">
              <a:lnSpc>
                <a:spcPct val="115000"/>
              </a:lnSpc>
              <a:buNone/>
            </a:pPr>
            <a:r>
              <a:rPr lang="en-US" sz="1500" dirty="0">
                <a:solidFill>
                  <a:srgbClr val="22303C"/>
                </a:solidFill>
                <a:latin typeface="Courier New" pitchFamily="34" charset="0"/>
                <a:ea typeface="Courier New" pitchFamily="34" charset="-122"/>
                <a:cs typeface="Courier New" pitchFamily="34" charset="-120"/>
              </a:rPr>
              <a:t>public class OrderService {</a:t>
            </a:r>
            <a:endParaRPr lang="en-US" sz="1500" dirty="0"/>
          </a:p>
          <a:p>
            <a:pPr indent="0" marL="0">
              <a:lnSpc>
                <a:spcPct val="115000"/>
              </a:lnSpc>
              <a:buNone/>
            </a:pPr>
            <a:endParaRPr lang="en-US" sz="1500" dirty="0"/>
          </a:p>
          <a:p>
            <a:pPr indent="0" marL="0">
              <a:lnSpc>
                <a:spcPct val="115000"/>
              </a:lnSpc>
              <a:buNone/>
            </a:pPr>
            <a:r>
              <a:rPr lang="en-US" sz="1500" dirty="0">
                <a:solidFill>
                  <a:srgbClr val="22303C"/>
                </a:solidFill>
                <a:latin typeface="Courier New" pitchFamily="34" charset="0"/>
                <a:ea typeface="Courier New" pitchFamily="34" charset="-122"/>
                <a:cs typeface="Courier New" pitchFamily="34" charset="-120"/>
              </a:rPr>
              <a:t>    @Autowired</a:t>
            </a:r>
            <a:endParaRPr lang="en-US" sz="1500" dirty="0"/>
          </a:p>
          <a:p>
            <a:pPr indent="0" marL="0">
              <a:lnSpc>
                <a:spcPct val="115000"/>
              </a:lnSpc>
              <a:buNone/>
            </a:pPr>
            <a:r>
              <a:rPr lang="en-US" sz="1500" dirty="0">
                <a:solidFill>
                  <a:srgbClr val="22303C"/>
                </a:solidFill>
                <a:latin typeface="Courier New" pitchFamily="34" charset="0"/>
                <a:ea typeface="Courier New" pitchFamily="34" charset="-122"/>
                <a:cs typeface="Courier New" pitchFamily="34" charset="-120"/>
              </a:rPr>
              <a:t>    private OrderRepository repository;</a:t>
            </a:r>
            <a:endParaRPr lang="en-US" sz="1500" dirty="0"/>
          </a:p>
          <a:p>
            <a:pPr indent="0" marL="0">
              <a:lnSpc>
                <a:spcPct val="115000"/>
              </a:lnSpc>
              <a:buNone/>
            </a:pPr>
            <a:r>
              <a:rPr lang="en-US" sz="1500" dirty="0">
                <a:solidFill>
                  <a:srgbClr val="22303C"/>
                </a:solidFill>
                <a:latin typeface="Courier New" pitchFamily="34" charset="0"/>
                <a:ea typeface="Courier New" pitchFamily="34" charset="-122"/>
                <a:cs typeface="Courier New" pitchFamily="34" charset="-120"/>
              </a:rPr>
              <a:t>}</a:t>
            </a:r>
            <a:endParaRPr lang="en-US" sz="1500" dirty="0"/>
          </a:p>
        </p:txBody>
      </p:sp>
      <p:sp>
        <p:nvSpPr>
          <p:cNvPr id="5" name="Text 3"/>
          <p:cNvSpPr txBox="1"/>
          <p:nvPr/>
        </p:nvSpPr>
        <p:spPr>
          <a:xfrm>
            <a:off x="5486400" y="1554480"/>
            <a:ext cx="3291840" cy="457200"/>
          </a:xfrm>
          <a:prstGeom prst="rect">
            <a:avLst/>
          </a:prstGeom>
          <a:noFill/>
          <a:ln/>
        </p:spPr>
        <p:txBody>
          <a:bodyPr wrap="square" lIns="0" tIns="0" rIns="0" bIns="0" rtlCol="0" anchor="ctr"/>
          <a:lstStyle/>
          <a:p>
            <a:pPr indent="0" marL="0">
              <a:buNone/>
            </a:pPr>
            <a:r>
              <a:rPr lang="en-US" sz="2200" b="1" dirty="0">
                <a:solidFill>
                  <a:srgbClr val="22303C"/>
                </a:solidFill>
                <a:latin typeface="Cambria" pitchFamily="34" charset="0"/>
                <a:ea typeface="Cambria" pitchFamily="34" charset="-122"/>
                <a:cs typeface="Cambria" pitchFamily="34" charset="-120"/>
              </a:rPr>
              <a:t>Who creates this object?</a:t>
            </a:r>
            <a:endParaRPr lang="en-US" sz="2200" dirty="0"/>
          </a:p>
        </p:txBody>
      </p:sp>
      <p:sp>
        <p:nvSpPr>
          <p:cNvPr id="6" name="Text 4"/>
          <p:cNvSpPr txBox="1"/>
          <p:nvPr/>
        </p:nvSpPr>
        <p:spPr>
          <a:xfrm>
            <a:off x="5486400" y="2057400"/>
            <a:ext cx="3291840" cy="731520"/>
          </a:xfrm>
          <a:prstGeom prst="rect">
            <a:avLst/>
          </a:prstGeom>
          <a:noFill/>
          <a:ln/>
        </p:spPr>
        <p:txBody>
          <a:bodyPr wrap="square" lIns="0" tIns="0" rIns="0" bIns="0" rtlCol="0" anchor="ctr"/>
          <a:lstStyle/>
          <a:p>
            <a:pPr indent="0" marL="0">
              <a:buNone/>
            </a:pPr>
            <a:r>
              <a:rPr lang="en-US" sz="1600" dirty="0">
                <a:solidFill>
                  <a:srgbClr val="5B6B7A"/>
                </a:solidFill>
                <a:latin typeface="Calibri" pitchFamily="34" charset="0"/>
                <a:ea typeface="Calibri" pitchFamily="34" charset="-122"/>
                <a:cs typeface="Calibri" pitchFamily="34" charset="-120"/>
              </a:rPr>
              <a:t>And how does it know what to put inside?</a:t>
            </a:r>
            <a:endParaRPr lang="en-US" sz="1600" dirty="0"/>
          </a:p>
        </p:txBody>
      </p:sp>
      <p:sp>
        <p:nvSpPr>
          <p:cNvPr id="7" name="Shape 5"/>
          <p:cNvSpPr/>
          <p:nvPr/>
        </p:nvSpPr>
        <p:spPr>
          <a:xfrm>
            <a:off x="457200" y="3931920"/>
            <a:ext cx="8229600" cy="594360"/>
          </a:xfrm>
          <a:prstGeom prst="roundRect">
            <a:avLst>
              <a:gd name="adj" fmla="val 12308"/>
            </a:avLst>
          </a:prstGeom>
          <a:solidFill>
            <a:srgbClr val="FFFFFF"/>
          </a:solidFill>
          <a:ln w="25400">
            <a:solidFill>
              <a:srgbClr val="2F9E44"/>
            </a:solidFill>
            <a:prstDash val="solid"/>
          </a:ln>
        </p:spPr>
      </p:sp>
      <p:sp>
        <p:nvSpPr>
          <p:cNvPr id="8" name="Text 6"/>
          <p:cNvSpPr txBox="1"/>
          <p:nvPr/>
        </p:nvSpPr>
        <p:spPr>
          <a:xfrm>
            <a:off x="640080" y="3931920"/>
            <a:ext cx="7863840" cy="594360"/>
          </a:xfrm>
          <a:prstGeom prst="rect">
            <a:avLst/>
          </a:prstGeom>
          <a:noFill/>
          <a:ln/>
        </p:spPr>
        <p:txBody>
          <a:bodyPr wrap="square" lIns="0" tIns="0" rIns="0" bIns="0" rtlCol="0" anchor="ctr"/>
          <a:lstStyle/>
          <a:p>
            <a:pPr indent="0" marL="0">
              <a:buNone/>
            </a:pPr>
            <a:r>
              <a:rPr lang="en-US" sz="1500" b="1" dirty="0">
                <a:solidFill>
                  <a:srgbClr val="2F9E44"/>
                </a:solidFill>
                <a:latin typeface="Calibri" pitchFamily="34" charset="0"/>
                <a:ea typeface="Calibri" pitchFamily="34" charset="-122"/>
                <a:cs typeface="Calibri" pitchFamily="34" charset="-120"/>
              </a:rPr>
              <a:t>Today we read the answer, line by line. It is not magic, it is about 1,200 lines.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430"/>
        </a:solidFill>
      </p:bgPr>
    </p:bg>
    <p:spTree>
      <p:nvGrpSpPr>
        <p:cNvPr id="1" name=""/>
        <p:cNvGrpSpPr/>
        <p:nvPr/>
      </p:nvGrpSpPr>
      <p:grpSpPr>
        <a:xfrm>
          <a:off x="0" y="0"/>
          <a:ext cx="0" cy="0"/>
          <a:chOff x="0" y="0"/>
          <a:chExt cx="0" cy="0"/>
        </a:xfrm>
      </p:grpSpPr>
      <p:sp>
        <p:nvSpPr>
          <p:cNvPr id="2" name="Shape 0"/>
          <p:cNvSpPr/>
          <p:nvPr/>
        </p:nvSpPr>
        <p:spPr>
          <a:xfrm>
            <a:off x="822960" y="1920240"/>
            <a:ext cx="1005840" cy="1005840"/>
          </a:xfrm>
          <a:prstGeom prst="ellipse">
            <a:avLst/>
          </a:prstGeom>
          <a:solidFill>
            <a:srgbClr val="2F9E44"/>
          </a:solidFill>
          <a:ln/>
        </p:spPr>
      </p:sp>
      <p:sp>
        <p:nvSpPr>
          <p:cNvPr id="3" name="Text 1"/>
          <p:cNvSpPr txBox="1"/>
          <p:nvPr/>
        </p:nvSpPr>
        <p:spPr>
          <a:xfrm>
            <a:off x="822960" y="1920240"/>
            <a:ext cx="1005840" cy="10058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4" name="Text 2"/>
          <p:cNvSpPr txBox="1"/>
          <p:nvPr/>
        </p:nvSpPr>
        <p:spPr>
          <a:xfrm>
            <a:off x="2103120" y="1965960"/>
            <a:ext cx="6400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Spring, then Spring Boot</a:t>
            </a:r>
            <a:endParaRPr lang="en-US" sz="3000" dirty="0"/>
          </a:p>
        </p:txBody>
      </p:sp>
      <p:sp>
        <p:nvSpPr>
          <p:cNvPr id="5" name="Text 3"/>
          <p:cNvSpPr txBox="1"/>
          <p:nvPr/>
        </p:nvSpPr>
        <p:spPr>
          <a:xfrm>
            <a:off x="2103120" y="2606040"/>
            <a:ext cx="6400800" cy="457200"/>
          </a:xfrm>
          <a:prstGeom prst="rect">
            <a:avLst/>
          </a:prstGeom>
          <a:noFill/>
          <a:ln/>
        </p:spPr>
        <p:txBody>
          <a:bodyPr wrap="square" lIns="0" tIns="0" rIns="0" bIns="0" rtlCol="0" anchor="ctr"/>
          <a:lstStyle/>
          <a:p>
            <a:pPr indent="0" marL="0">
              <a:buNone/>
            </a:pPr>
            <a:r>
              <a:rPr lang="en-US" sz="1600" dirty="0">
                <a:solidFill>
                  <a:srgbClr val="C7D2DD"/>
                </a:solidFill>
                <a:latin typeface="Calibri" pitchFamily="34" charset="0"/>
                <a:ea typeface="Calibri" pitchFamily="34" charset="-122"/>
                <a:cs typeface="Calibri" pitchFamily="34" charset="-120"/>
              </a:rPr>
              <a:t>What actually changed between the two</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3000" b="1" dirty="0">
                <a:solidFill>
                  <a:srgbClr val="22303C"/>
                </a:solidFill>
                <a:latin typeface="Cambria" pitchFamily="34" charset="0"/>
                <a:ea typeface="Cambria" pitchFamily="34" charset="-122"/>
                <a:cs typeface="Cambria" pitchFamily="34" charset="-120"/>
              </a:rPr>
              <a:t>Twenty years, one model</a:t>
            </a:r>
            <a:endParaRPr lang="en-US" sz="30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The source of metadata changed. The model never did.</a:t>
            </a:r>
            <a:endParaRPr lang="en-US" sz="1500" dirty="0"/>
          </a:p>
        </p:txBody>
      </p:sp>
      <p:sp>
        <p:nvSpPr>
          <p:cNvPr id="4" name="Shape 2"/>
          <p:cNvSpPr/>
          <p:nvPr/>
        </p:nvSpPr>
        <p:spPr>
          <a:xfrm>
            <a:off x="457200" y="1737360"/>
            <a:ext cx="1554480" cy="1371600"/>
          </a:xfrm>
          <a:prstGeom prst="roundRect">
            <a:avLst>
              <a:gd name="adj" fmla="val 5333"/>
            </a:avLst>
          </a:prstGeom>
          <a:solidFill>
            <a:srgbClr val="F1F3F5"/>
          </a:solidFill>
          <a:ln w="12700">
            <a:solidFill>
              <a:srgbClr val="DEE2E6"/>
            </a:solidFill>
            <a:prstDash val="solid"/>
          </a:ln>
        </p:spPr>
      </p:sp>
      <p:sp>
        <p:nvSpPr>
          <p:cNvPr id="5" name="Text 3"/>
          <p:cNvSpPr txBox="1"/>
          <p:nvPr/>
        </p:nvSpPr>
        <p:spPr>
          <a:xfrm>
            <a:off x="457200" y="1828800"/>
            <a:ext cx="1554480" cy="320040"/>
          </a:xfrm>
          <a:prstGeom prst="rect">
            <a:avLst/>
          </a:prstGeom>
          <a:noFill/>
          <a:ln/>
        </p:spPr>
        <p:txBody>
          <a:bodyPr wrap="square" lIns="0" tIns="0" rIns="0" bIns="0" rtlCol="0" anchor="ctr"/>
          <a:lstStyle/>
          <a:p>
            <a:pPr algn="ctr" indent="0" marL="0">
              <a:buNone/>
            </a:pPr>
            <a:r>
              <a:rPr lang="en-US" sz="1700" b="1" dirty="0">
                <a:solidFill>
                  <a:srgbClr val="22303C"/>
                </a:solidFill>
                <a:latin typeface="Cambria" pitchFamily="34" charset="0"/>
                <a:ea typeface="Cambria" pitchFamily="34" charset="-122"/>
                <a:cs typeface="Cambria" pitchFamily="34" charset="-120"/>
              </a:rPr>
              <a:t>2003</a:t>
            </a:r>
            <a:endParaRPr lang="en-US" sz="1700" dirty="0"/>
          </a:p>
        </p:txBody>
      </p:sp>
      <p:sp>
        <p:nvSpPr>
          <p:cNvPr id="6" name="Text 4"/>
          <p:cNvSpPr txBox="1"/>
          <p:nvPr/>
        </p:nvSpPr>
        <p:spPr>
          <a:xfrm>
            <a:off x="457200" y="2176272"/>
            <a:ext cx="1554480" cy="274320"/>
          </a:xfrm>
          <a:prstGeom prst="rect">
            <a:avLst/>
          </a:prstGeom>
          <a:noFill/>
          <a:ln/>
        </p:spPr>
        <p:txBody>
          <a:bodyPr wrap="square" lIns="0" tIns="0" rIns="0" bIns="0" rtlCol="0" anchor="ctr"/>
          <a:lstStyle/>
          <a:p>
            <a:pPr algn="ctr" indent="0" marL="0">
              <a:buNone/>
            </a:pPr>
            <a:r>
              <a:rPr lang="en-US" sz="1200" dirty="0">
                <a:solidFill>
                  <a:srgbClr val="5B6B7A"/>
                </a:solidFill>
                <a:latin typeface="Calibri" pitchFamily="34" charset="0"/>
                <a:ea typeface="Calibri" pitchFamily="34" charset="-122"/>
                <a:cs typeface="Calibri" pitchFamily="34" charset="-120"/>
              </a:rPr>
              <a:t>Spring 1.0</a:t>
            </a:r>
            <a:endParaRPr lang="en-US" sz="1200" dirty="0"/>
          </a:p>
        </p:txBody>
      </p:sp>
      <p:sp>
        <p:nvSpPr>
          <p:cNvPr id="7" name="Text 5"/>
          <p:cNvSpPr txBox="1"/>
          <p:nvPr/>
        </p:nvSpPr>
        <p:spPr>
          <a:xfrm>
            <a:off x="530352" y="2468880"/>
            <a:ext cx="1408176" cy="548640"/>
          </a:xfrm>
          <a:prstGeom prst="rect">
            <a:avLst/>
          </a:prstGeom>
          <a:noFill/>
          <a:ln/>
        </p:spPr>
        <p:txBody>
          <a:bodyPr wrap="square" lIns="0" tIns="0" rIns="0" bIns="0" rtlCol="0" anchor="ctr"/>
          <a:lstStyle/>
          <a:p>
            <a:pPr algn="ctr" indent="0" marL="0">
              <a:buNone/>
            </a:pPr>
            <a:r>
              <a:rPr lang="en-US" sz="1000" dirty="0">
                <a:solidFill>
                  <a:srgbClr val="22303C"/>
                </a:solidFill>
                <a:latin typeface="Courier New" pitchFamily="34" charset="0"/>
                <a:ea typeface="Courier New" pitchFamily="34" charset="-122"/>
                <a:cs typeface="Courier New" pitchFamily="34" charset="-120"/>
              </a:rPr>
              <a:t>XML: &lt;bean&gt;</a:t>
            </a:r>
            <a:endParaRPr lang="en-US" sz="1000" dirty="0"/>
          </a:p>
        </p:txBody>
      </p:sp>
      <p:sp>
        <p:nvSpPr>
          <p:cNvPr id="8" name="Shape 6"/>
          <p:cNvSpPr/>
          <p:nvPr/>
        </p:nvSpPr>
        <p:spPr>
          <a:xfrm>
            <a:off x="2157984" y="1737360"/>
            <a:ext cx="1554480" cy="1371600"/>
          </a:xfrm>
          <a:prstGeom prst="roundRect">
            <a:avLst>
              <a:gd name="adj" fmla="val 5333"/>
            </a:avLst>
          </a:prstGeom>
          <a:solidFill>
            <a:srgbClr val="F1F3F5"/>
          </a:solidFill>
          <a:ln w="12700">
            <a:solidFill>
              <a:srgbClr val="DEE2E6"/>
            </a:solidFill>
            <a:prstDash val="solid"/>
          </a:ln>
        </p:spPr>
      </p:sp>
      <p:sp>
        <p:nvSpPr>
          <p:cNvPr id="9" name="Text 7"/>
          <p:cNvSpPr txBox="1"/>
          <p:nvPr/>
        </p:nvSpPr>
        <p:spPr>
          <a:xfrm>
            <a:off x="2157984" y="1828800"/>
            <a:ext cx="1554480" cy="320040"/>
          </a:xfrm>
          <a:prstGeom prst="rect">
            <a:avLst/>
          </a:prstGeom>
          <a:noFill/>
          <a:ln/>
        </p:spPr>
        <p:txBody>
          <a:bodyPr wrap="square" lIns="0" tIns="0" rIns="0" bIns="0" rtlCol="0" anchor="ctr"/>
          <a:lstStyle/>
          <a:p>
            <a:pPr algn="ctr" indent="0" marL="0">
              <a:buNone/>
            </a:pPr>
            <a:r>
              <a:rPr lang="en-US" sz="1700" b="1" dirty="0">
                <a:solidFill>
                  <a:srgbClr val="22303C"/>
                </a:solidFill>
                <a:latin typeface="Cambria" pitchFamily="34" charset="0"/>
                <a:ea typeface="Cambria" pitchFamily="34" charset="-122"/>
                <a:cs typeface="Cambria" pitchFamily="34" charset="-120"/>
              </a:rPr>
              <a:t>2007</a:t>
            </a:r>
            <a:endParaRPr lang="en-US" sz="1700" dirty="0"/>
          </a:p>
        </p:txBody>
      </p:sp>
      <p:sp>
        <p:nvSpPr>
          <p:cNvPr id="10" name="Text 8"/>
          <p:cNvSpPr txBox="1"/>
          <p:nvPr/>
        </p:nvSpPr>
        <p:spPr>
          <a:xfrm>
            <a:off x="2157984" y="2176272"/>
            <a:ext cx="1554480" cy="274320"/>
          </a:xfrm>
          <a:prstGeom prst="rect">
            <a:avLst/>
          </a:prstGeom>
          <a:noFill/>
          <a:ln/>
        </p:spPr>
        <p:txBody>
          <a:bodyPr wrap="square" lIns="0" tIns="0" rIns="0" bIns="0" rtlCol="0" anchor="ctr"/>
          <a:lstStyle/>
          <a:p>
            <a:pPr algn="ctr" indent="0" marL="0">
              <a:buNone/>
            </a:pPr>
            <a:r>
              <a:rPr lang="en-US" sz="1200" dirty="0">
                <a:solidFill>
                  <a:srgbClr val="5B6B7A"/>
                </a:solidFill>
                <a:latin typeface="Calibri" pitchFamily="34" charset="0"/>
                <a:ea typeface="Calibri" pitchFamily="34" charset="-122"/>
                <a:cs typeface="Calibri" pitchFamily="34" charset="-120"/>
              </a:rPr>
              <a:t>Spring 2.5</a:t>
            </a:r>
            <a:endParaRPr lang="en-US" sz="1200" dirty="0"/>
          </a:p>
        </p:txBody>
      </p:sp>
      <p:sp>
        <p:nvSpPr>
          <p:cNvPr id="11" name="Text 9"/>
          <p:cNvSpPr txBox="1"/>
          <p:nvPr/>
        </p:nvSpPr>
        <p:spPr>
          <a:xfrm>
            <a:off x="2231136" y="2468880"/>
            <a:ext cx="1408176" cy="548640"/>
          </a:xfrm>
          <a:prstGeom prst="rect">
            <a:avLst/>
          </a:prstGeom>
          <a:noFill/>
          <a:ln/>
        </p:spPr>
        <p:txBody>
          <a:bodyPr wrap="square" lIns="0" tIns="0" rIns="0" bIns="0" rtlCol="0" anchor="ctr"/>
          <a:lstStyle/>
          <a:p>
            <a:pPr algn="ctr" indent="0" marL="0">
              <a:buNone/>
            </a:pPr>
            <a:r>
              <a:rPr lang="en-US" sz="1000" dirty="0">
                <a:solidFill>
                  <a:srgbClr val="22303C"/>
                </a:solidFill>
                <a:latin typeface="Courier New" pitchFamily="34" charset="0"/>
                <a:ea typeface="Courier New" pitchFamily="34" charset="-122"/>
                <a:cs typeface="Courier New" pitchFamily="34" charset="-120"/>
              </a:rPr>
              <a:t>@Component, @Autowired</a:t>
            </a:r>
            <a:endParaRPr lang="en-US" sz="1000" dirty="0"/>
          </a:p>
        </p:txBody>
      </p:sp>
      <p:sp>
        <p:nvSpPr>
          <p:cNvPr id="12" name="Shape 10"/>
          <p:cNvSpPr/>
          <p:nvPr/>
        </p:nvSpPr>
        <p:spPr>
          <a:xfrm>
            <a:off x="3858768" y="1737360"/>
            <a:ext cx="1554480" cy="1371600"/>
          </a:xfrm>
          <a:prstGeom prst="roundRect">
            <a:avLst>
              <a:gd name="adj" fmla="val 5333"/>
            </a:avLst>
          </a:prstGeom>
          <a:solidFill>
            <a:srgbClr val="F1F3F5"/>
          </a:solidFill>
          <a:ln w="12700">
            <a:solidFill>
              <a:srgbClr val="DEE2E6"/>
            </a:solidFill>
            <a:prstDash val="solid"/>
          </a:ln>
        </p:spPr>
      </p:sp>
      <p:sp>
        <p:nvSpPr>
          <p:cNvPr id="13" name="Text 11"/>
          <p:cNvSpPr txBox="1"/>
          <p:nvPr/>
        </p:nvSpPr>
        <p:spPr>
          <a:xfrm>
            <a:off x="3858768" y="1828800"/>
            <a:ext cx="1554480" cy="320040"/>
          </a:xfrm>
          <a:prstGeom prst="rect">
            <a:avLst/>
          </a:prstGeom>
          <a:noFill/>
          <a:ln/>
        </p:spPr>
        <p:txBody>
          <a:bodyPr wrap="square" lIns="0" tIns="0" rIns="0" bIns="0" rtlCol="0" anchor="ctr"/>
          <a:lstStyle/>
          <a:p>
            <a:pPr algn="ctr" indent="0" marL="0">
              <a:buNone/>
            </a:pPr>
            <a:r>
              <a:rPr lang="en-US" sz="1700" b="1" dirty="0">
                <a:solidFill>
                  <a:srgbClr val="22303C"/>
                </a:solidFill>
                <a:latin typeface="Cambria" pitchFamily="34" charset="0"/>
                <a:ea typeface="Cambria" pitchFamily="34" charset="-122"/>
                <a:cs typeface="Cambria" pitchFamily="34" charset="-120"/>
              </a:rPr>
              <a:t>2009</a:t>
            </a:r>
            <a:endParaRPr lang="en-US" sz="1700" dirty="0"/>
          </a:p>
        </p:txBody>
      </p:sp>
      <p:sp>
        <p:nvSpPr>
          <p:cNvPr id="14" name="Text 12"/>
          <p:cNvSpPr txBox="1"/>
          <p:nvPr/>
        </p:nvSpPr>
        <p:spPr>
          <a:xfrm>
            <a:off x="3858768" y="2176272"/>
            <a:ext cx="1554480" cy="274320"/>
          </a:xfrm>
          <a:prstGeom prst="rect">
            <a:avLst/>
          </a:prstGeom>
          <a:noFill/>
          <a:ln/>
        </p:spPr>
        <p:txBody>
          <a:bodyPr wrap="square" lIns="0" tIns="0" rIns="0" bIns="0" rtlCol="0" anchor="ctr"/>
          <a:lstStyle/>
          <a:p>
            <a:pPr algn="ctr" indent="0" marL="0">
              <a:buNone/>
            </a:pPr>
            <a:r>
              <a:rPr lang="en-US" sz="1200" dirty="0">
                <a:solidFill>
                  <a:srgbClr val="5B6B7A"/>
                </a:solidFill>
                <a:latin typeface="Calibri" pitchFamily="34" charset="0"/>
                <a:ea typeface="Calibri" pitchFamily="34" charset="-122"/>
                <a:cs typeface="Calibri" pitchFamily="34" charset="-120"/>
              </a:rPr>
              <a:t>Spring 3.0</a:t>
            </a:r>
            <a:endParaRPr lang="en-US" sz="1200" dirty="0"/>
          </a:p>
        </p:txBody>
      </p:sp>
      <p:sp>
        <p:nvSpPr>
          <p:cNvPr id="15" name="Text 13"/>
          <p:cNvSpPr txBox="1"/>
          <p:nvPr/>
        </p:nvSpPr>
        <p:spPr>
          <a:xfrm>
            <a:off x="3931920" y="2468880"/>
            <a:ext cx="1408176" cy="548640"/>
          </a:xfrm>
          <a:prstGeom prst="rect">
            <a:avLst/>
          </a:prstGeom>
          <a:noFill/>
          <a:ln/>
        </p:spPr>
        <p:txBody>
          <a:bodyPr wrap="square" lIns="0" tIns="0" rIns="0" bIns="0" rtlCol="0" anchor="ctr"/>
          <a:lstStyle/>
          <a:p>
            <a:pPr algn="ctr" indent="0" marL="0">
              <a:buNone/>
            </a:pPr>
            <a:r>
              <a:rPr lang="en-US" sz="1000" dirty="0">
                <a:solidFill>
                  <a:srgbClr val="22303C"/>
                </a:solidFill>
                <a:latin typeface="Courier New" pitchFamily="34" charset="0"/>
                <a:ea typeface="Courier New" pitchFamily="34" charset="-122"/>
                <a:cs typeface="Courier New" pitchFamily="34" charset="-120"/>
              </a:rPr>
              <a:t>@Configuration, @Bean</a:t>
            </a:r>
            <a:endParaRPr lang="en-US" sz="1000" dirty="0"/>
          </a:p>
        </p:txBody>
      </p:sp>
      <p:sp>
        <p:nvSpPr>
          <p:cNvPr id="16" name="Shape 14"/>
          <p:cNvSpPr/>
          <p:nvPr/>
        </p:nvSpPr>
        <p:spPr>
          <a:xfrm>
            <a:off x="5559552" y="1737360"/>
            <a:ext cx="1554480" cy="1371600"/>
          </a:xfrm>
          <a:prstGeom prst="roundRect">
            <a:avLst>
              <a:gd name="adj" fmla="val 5333"/>
            </a:avLst>
          </a:prstGeom>
          <a:solidFill>
            <a:srgbClr val="2F9E44"/>
          </a:solidFill>
          <a:ln w="12700">
            <a:solidFill>
              <a:srgbClr val="2F9E44"/>
            </a:solidFill>
            <a:prstDash val="solid"/>
          </a:ln>
        </p:spPr>
      </p:sp>
      <p:sp>
        <p:nvSpPr>
          <p:cNvPr id="17" name="Text 15"/>
          <p:cNvSpPr txBox="1"/>
          <p:nvPr/>
        </p:nvSpPr>
        <p:spPr>
          <a:xfrm>
            <a:off x="5559552" y="1828800"/>
            <a:ext cx="1554480" cy="3200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2014</a:t>
            </a:r>
            <a:endParaRPr lang="en-US" sz="1700" dirty="0"/>
          </a:p>
        </p:txBody>
      </p:sp>
      <p:sp>
        <p:nvSpPr>
          <p:cNvPr id="18" name="Text 16"/>
          <p:cNvSpPr txBox="1"/>
          <p:nvPr/>
        </p:nvSpPr>
        <p:spPr>
          <a:xfrm>
            <a:off x="5559552" y="2176272"/>
            <a:ext cx="1554480" cy="274320"/>
          </a:xfrm>
          <a:prstGeom prst="rect">
            <a:avLst/>
          </a:prstGeom>
          <a:noFill/>
          <a:ln/>
        </p:spPr>
        <p:txBody>
          <a:bodyPr wrap="square" lIns="0" tIns="0" rIns="0" bIns="0" rtlCol="0" anchor="ctr"/>
          <a:lstStyle/>
          <a:p>
            <a:pPr algn="ctr" indent="0" marL="0">
              <a:buNone/>
            </a:pPr>
            <a:r>
              <a:rPr lang="en-US" sz="1200" dirty="0">
                <a:solidFill>
                  <a:srgbClr val="E8F5E9"/>
                </a:solidFill>
                <a:latin typeface="Calibri" pitchFamily="34" charset="0"/>
                <a:ea typeface="Calibri" pitchFamily="34" charset="-122"/>
                <a:cs typeface="Calibri" pitchFamily="34" charset="-120"/>
              </a:rPr>
              <a:t>Spring Boot</a:t>
            </a:r>
            <a:endParaRPr lang="en-US" sz="1200" dirty="0"/>
          </a:p>
        </p:txBody>
      </p:sp>
      <p:sp>
        <p:nvSpPr>
          <p:cNvPr id="19" name="Text 17"/>
          <p:cNvSpPr txBox="1"/>
          <p:nvPr/>
        </p:nvSpPr>
        <p:spPr>
          <a:xfrm>
            <a:off x="5632704" y="2468880"/>
            <a:ext cx="1408176" cy="548640"/>
          </a:xfrm>
          <a:prstGeom prst="rect">
            <a:avLst/>
          </a:prstGeom>
          <a:noFill/>
          <a:ln/>
        </p:spPr>
        <p:txBody>
          <a:bodyPr wrap="square" lIns="0" tIns="0" rIns="0" bIns="0" rtlCol="0" anchor="ctr"/>
          <a:lstStyle/>
          <a:p>
            <a:pPr algn="ctr" indent="0" marL="0">
              <a:buNone/>
            </a:pPr>
            <a:r>
              <a:rPr lang="en-US" sz="1000" dirty="0">
                <a:solidFill>
                  <a:srgbClr val="FFFFFF"/>
                </a:solidFill>
                <a:latin typeface="Courier New" pitchFamily="34" charset="0"/>
                <a:ea typeface="Courier New" pitchFamily="34" charset="-122"/>
                <a:cs typeface="Courier New" pitchFamily="34" charset="-120"/>
              </a:rPr>
              <a:t>auto-configuration</a:t>
            </a:r>
            <a:endParaRPr lang="en-US" sz="1000" dirty="0"/>
          </a:p>
        </p:txBody>
      </p:sp>
      <p:sp>
        <p:nvSpPr>
          <p:cNvPr id="20" name="Shape 18"/>
          <p:cNvSpPr/>
          <p:nvPr/>
        </p:nvSpPr>
        <p:spPr>
          <a:xfrm>
            <a:off x="7260336" y="1737360"/>
            <a:ext cx="1554480" cy="1371600"/>
          </a:xfrm>
          <a:prstGeom prst="roundRect">
            <a:avLst>
              <a:gd name="adj" fmla="val 5333"/>
            </a:avLst>
          </a:prstGeom>
          <a:solidFill>
            <a:srgbClr val="F1F3F5"/>
          </a:solidFill>
          <a:ln w="12700">
            <a:solidFill>
              <a:srgbClr val="DEE2E6"/>
            </a:solidFill>
            <a:prstDash val="solid"/>
          </a:ln>
        </p:spPr>
      </p:sp>
      <p:sp>
        <p:nvSpPr>
          <p:cNvPr id="21" name="Text 19"/>
          <p:cNvSpPr txBox="1"/>
          <p:nvPr/>
        </p:nvSpPr>
        <p:spPr>
          <a:xfrm>
            <a:off x="7260336" y="1828800"/>
            <a:ext cx="1554480" cy="320040"/>
          </a:xfrm>
          <a:prstGeom prst="rect">
            <a:avLst/>
          </a:prstGeom>
          <a:noFill/>
          <a:ln/>
        </p:spPr>
        <p:txBody>
          <a:bodyPr wrap="square" lIns="0" tIns="0" rIns="0" bIns="0" rtlCol="0" anchor="ctr"/>
          <a:lstStyle/>
          <a:p>
            <a:pPr algn="ctr" indent="0" marL="0">
              <a:buNone/>
            </a:pPr>
            <a:r>
              <a:rPr lang="en-US" sz="1700" b="1" dirty="0">
                <a:solidFill>
                  <a:srgbClr val="22303C"/>
                </a:solidFill>
                <a:latin typeface="Cambria" pitchFamily="34" charset="0"/>
                <a:ea typeface="Cambria" pitchFamily="34" charset="-122"/>
                <a:cs typeface="Cambria" pitchFamily="34" charset="-120"/>
              </a:rPr>
              <a:t>2022</a:t>
            </a:r>
            <a:endParaRPr lang="en-US" sz="1700" dirty="0"/>
          </a:p>
        </p:txBody>
      </p:sp>
      <p:sp>
        <p:nvSpPr>
          <p:cNvPr id="22" name="Text 20"/>
          <p:cNvSpPr txBox="1"/>
          <p:nvPr/>
        </p:nvSpPr>
        <p:spPr>
          <a:xfrm>
            <a:off x="7260336" y="2176272"/>
            <a:ext cx="1554480" cy="274320"/>
          </a:xfrm>
          <a:prstGeom prst="rect">
            <a:avLst/>
          </a:prstGeom>
          <a:noFill/>
          <a:ln/>
        </p:spPr>
        <p:txBody>
          <a:bodyPr wrap="square" lIns="0" tIns="0" rIns="0" bIns="0" rtlCol="0" anchor="ctr"/>
          <a:lstStyle/>
          <a:p>
            <a:pPr algn="ctr" indent="0" marL="0">
              <a:buNone/>
            </a:pPr>
            <a:r>
              <a:rPr lang="en-US" sz="1200" dirty="0">
                <a:solidFill>
                  <a:srgbClr val="5B6B7A"/>
                </a:solidFill>
                <a:latin typeface="Calibri" pitchFamily="34" charset="0"/>
                <a:ea typeface="Calibri" pitchFamily="34" charset="-122"/>
                <a:cs typeface="Calibri" pitchFamily="34" charset="-120"/>
              </a:rPr>
              <a:t>Spring 6</a:t>
            </a:r>
            <a:endParaRPr lang="en-US" sz="1200" dirty="0"/>
          </a:p>
        </p:txBody>
      </p:sp>
      <p:sp>
        <p:nvSpPr>
          <p:cNvPr id="23" name="Text 21"/>
          <p:cNvSpPr txBox="1"/>
          <p:nvPr/>
        </p:nvSpPr>
        <p:spPr>
          <a:xfrm>
            <a:off x="7333488" y="2468880"/>
            <a:ext cx="1408176" cy="548640"/>
          </a:xfrm>
          <a:prstGeom prst="rect">
            <a:avLst/>
          </a:prstGeom>
          <a:noFill/>
          <a:ln/>
        </p:spPr>
        <p:txBody>
          <a:bodyPr wrap="square" lIns="0" tIns="0" rIns="0" bIns="0" rtlCol="0" anchor="ctr"/>
          <a:lstStyle/>
          <a:p>
            <a:pPr algn="ctr" indent="0" marL="0">
              <a:buNone/>
            </a:pPr>
            <a:r>
              <a:rPr lang="en-US" sz="1000" dirty="0">
                <a:solidFill>
                  <a:srgbClr val="22303C"/>
                </a:solidFill>
                <a:latin typeface="Courier New" pitchFamily="34" charset="0"/>
                <a:ea typeface="Courier New" pitchFamily="34" charset="-122"/>
                <a:cs typeface="Courier New" pitchFamily="34" charset="-120"/>
              </a:rPr>
              <a:t>AOT, native images</a:t>
            </a:r>
            <a:endParaRPr lang="en-US" sz="1000" dirty="0"/>
          </a:p>
        </p:txBody>
      </p:sp>
      <p:sp>
        <p:nvSpPr>
          <p:cNvPr id="24" name="Shape 22"/>
          <p:cNvSpPr/>
          <p:nvPr/>
        </p:nvSpPr>
        <p:spPr>
          <a:xfrm>
            <a:off x="457200" y="3566160"/>
            <a:ext cx="8229600" cy="594360"/>
          </a:xfrm>
          <a:prstGeom prst="roundRect">
            <a:avLst>
              <a:gd name="adj" fmla="val 12308"/>
            </a:avLst>
          </a:prstGeom>
          <a:solidFill>
            <a:srgbClr val="FFFFFF"/>
          </a:solidFill>
          <a:ln w="25400">
            <a:solidFill>
              <a:srgbClr val="2F9E44"/>
            </a:solidFill>
            <a:prstDash val="solid"/>
          </a:ln>
        </p:spPr>
      </p:sp>
      <p:sp>
        <p:nvSpPr>
          <p:cNvPr id="25" name="Text 23"/>
          <p:cNvSpPr txBox="1"/>
          <p:nvPr/>
        </p:nvSpPr>
        <p:spPr>
          <a:xfrm>
            <a:off x="640080" y="3566160"/>
            <a:ext cx="7863840" cy="594360"/>
          </a:xfrm>
          <a:prstGeom prst="rect">
            <a:avLst/>
          </a:prstGeom>
          <a:noFill/>
          <a:ln/>
        </p:spPr>
        <p:txBody>
          <a:bodyPr wrap="square" lIns="0" tIns="0" rIns="0" bIns="0" rtlCol="0" anchor="ctr"/>
          <a:lstStyle/>
          <a:p>
            <a:pPr indent="0" marL="0">
              <a:buNone/>
            </a:pPr>
            <a:r>
              <a:rPr lang="en-US" sz="1500" b="1" dirty="0">
                <a:solidFill>
                  <a:srgbClr val="2F9E44"/>
                </a:solidFill>
                <a:latin typeface="Calibri" pitchFamily="34" charset="0"/>
                <a:ea typeface="Calibri" pitchFamily="34" charset="-122"/>
                <a:cs typeface="Calibri" pitchFamily="34" charset="-120"/>
              </a:rPr>
              <a:t>Whatever the source — XML, annotations, Java, auto-configuration — the container sees one thing: a BeanDefinition.</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C:\Users\ayoub\AppData\Local\Temp\claude\C--Users-ayoub-Desktop-spring-app\fce785a8-6c80-4616-ac90-1d6e8a1fc6e3\scratchpad\diagrams\d3-war-vs-jar.png">    </p:cNvPr>
          <p:cNvPicPr>
            <a:picLocks noChangeAspect="1"/>
          </p:cNvPicPr>
          <p:nvPr/>
        </p:nvPicPr>
        <p:blipFill>
          <a:blip r:embed="rId1"/>
          <a:stretch>
            <a:fillRect/>
          </a:stretch>
        </p:blipFill>
        <p:spPr>
          <a:xfrm>
            <a:off x="457200" y="256032"/>
            <a:ext cx="8229600" cy="462686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3000" b="1" dirty="0">
                <a:solidFill>
                  <a:srgbClr val="22303C"/>
                </a:solidFill>
                <a:latin typeface="Cambria" pitchFamily="34" charset="0"/>
                <a:ea typeface="Cambria" pitchFamily="34" charset="-122"/>
                <a:cs typeface="Cambria" pitchFamily="34" charset="-120"/>
              </a:rPr>
              <a:t>The same thing, as a table</a:t>
            </a:r>
            <a:endParaRPr lang="en-US" sz="30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Useful in interviews, both sides of the desk</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2011680"/>
                <a:gridCol w="3108960"/>
                <a:gridCol w="3108960"/>
              </a:tblGrid>
              <a:tr h="310896">
                <a:tc>
                  <a:txBody>
                    <a:bodyPr/>
                    <a:lstStyle/>
                    <a:p>
                      <a:pPr indent="0" marL="0">
                        <a:buNone/>
                      </a:pP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WAR</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Executable JAR</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r>
              <a:tr h="310896">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Who starts first</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the servlet container</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your main() method</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The server is</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installed and administered</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a Maven dependency</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Entry point</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web.xml / ServletContainerInitializer</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public static void main</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Packaging</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app.war, classes and libs</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fat jar, nested jars</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Deployment</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copy into a shared server</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java -jar app.jar</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Fits</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one big server, many apps</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containers, Kubernetes</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bl>
          </a:graphicData>
        </a:graphic>
      </p:graphicFrame>
      <p:sp>
        <p:nvSpPr>
          <p:cNvPr id="5" name="Shape 2"/>
          <p:cNvSpPr/>
          <p:nvPr/>
        </p:nvSpPr>
        <p:spPr>
          <a:xfrm>
            <a:off x="457200" y="4160520"/>
            <a:ext cx="8229600" cy="594360"/>
          </a:xfrm>
          <a:prstGeom prst="roundRect">
            <a:avLst>
              <a:gd name="adj" fmla="val 12308"/>
            </a:avLst>
          </a:prstGeom>
          <a:solidFill>
            <a:srgbClr val="FFFFFF"/>
          </a:solidFill>
          <a:ln w="25400">
            <a:solidFill>
              <a:srgbClr val="2F9E44"/>
            </a:solidFill>
            <a:prstDash val="solid"/>
          </a:ln>
        </p:spPr>
      </p:sp>
      <p:sp>
        <p:nvSpPr>
          <p:cNvPr id="6" name="Text 3"/>
          <p:cNvSpPr txBox="1"/>
          <p:nvPr/>
        </p:nvSpPr>
        <p:spPr>
          <a:xfrm>
            <a:off x="640080" y="4160520"/>
            <a:ext cx="7863840" cy="594360"/>
          </a:xfrm>
          <a:prstGeom prst="rect">
            <a:avLst/>
          </a:prstGeom>
          <a:noFill/>
          <a:ln/>
        </p:spPr>
        <p:txBody>
          <a:bodyPr wrap="square" lIns="0" tIns="0" rIns="0" bIns="0" rtlCol="0" anchor="ctr"/>
          <a:lstStyle/>
          <a:p>
            <a:pPr indent="0" marL="0">
              <a:buNone/>
            </a:pPr>
            <a:r>
              <a:rPr lang="en-US" sz="1500" b="1" dirty="0">
                <a:solidFill>
                  <a:srgbClr val="2F9E44"/>
                </a:solidFill>
                <a:latin typeface="Calibri" pitchFamily="34" charset="0"/>
                <a:ea typeface="Calibri" pitchFamily="34" charset="-122"/>
                <a:cs typeface="Calibri" pitchFamily="34" charset="-120"/>
              </a:rPr>
              <a:t>Both still run Spring. Only the bootstrap changed.</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3000" b="1" dirty="0">
                <a:solidFill>
                  <a:srgbClr val="22303C"/>
                </a:solidFill>
                <a:latin typeface="Cambria" pitchFamily="34" charset="0"/>
                <a:ea typeface="Cambria" pitchFamily="34" charset="-122"/>
                <a:cs typeface="Cambria" pitchFamily="34" charset="-120"/>
              </a:rPr>
              <a:t>Where minispring sits</a:t>
            </a:r>
            <a:endParaRPr lang="en-US" sz="30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The same idea, in miniature</a:t>
            </a:r>
            <a:endParaRPr lang="en-US" sz="1500" dirty="0"/>
          </a:p>
        </p:txBody>
      </p:sp>
      <p:sp>
        <p:nvSpPr>
          <p:cNvPr id="4" name="Text 2"/>
          <p:cNvSpPr txBox="1"/>
          <p:nvPr/>
        </p:nvSpPr>
        <p:spPr>
          <a:xfrm>
            <a:off x="502920" y="1417320"/>
            <a:ext cx="8229600" cy="1371600"/>
          </a:xfrm>
          <a:prstGeom prst="rect">
            <a:avLst/>
          </a:prstGeom>
          <a:noFill/>
          <a:ln/>
        </p:spPr>
        <p:txBody>
          <a:bodyPr wrap="square" lIns="0" tIns="0" rIns="0" bIns="0" rtlCol="0" anchor="ctr"/>
          <a:lstStyle/>
          <a:p>
            <a:pPr marL="342900" indent="-342900">
              <a:spcAft>
                <a:spcPts val="800"/>
              </a:spcAft>
              <a:buSzPct val="100000"/>
              <a:buChar char="•"/>
            </a:pPr>
            <a:r>
              <a:rPr lang="en-US" sz="1600" dirty="0">
                <a:solidFill>
                  <a:srgbClr val="22303C"/>
                </a:solidFill>
                <a:latin typeface="Calibri" pitchFamily="34" charset="0"/>
                <a:ea typeface="Calibri" pitchFamily="34" charset="-122"/>
                <a:cs typeface="Calibri" pitchFamily="34" charset="-120"/>
              </a:rPr>
              <a:t>A container: scanning, injection, scopes, lifecycle, proxies, events, conditions</a:t>
            </a:r>
            <a:endParaRPr lang="en-US" sz="1600" dirty="0"/>
          </a:p>
          <a:p>
            <a:pPr marL="342900" indent="-342900">
              <a:spcAft>
                <a:spcPts val="800"/>
              </a:spcAft>
              <a:buSzPct val="100000"/>
              <a:buChar char="•"/>
            </a:pPr>
            <a:r>
              <a:rPr lang="en-US" sz="1600" dirty="0">
                <a:solidFill>
                  <a:srgbClr val="22303C"/>
                </a:solidFill>
                <a:latin typeface="Calibri" pitchFamily="34" charset="0"/>
                <a:ea typeface="Calibri" pitchFamily="34" charset="-122"/>
                <a:cs typeface="Calibri" pitchFamily="34" charset="-120"/>
              </a:rPr>
              <a:t>An embedded server, in the same spirit: the JDK's own HttpServer, on virtual threads</a:t>
            </a:r>
            <a:endParaRPr lang="en-US" sz="1600" dirty="0"/>
          </a:p>
          <a:p>
            <a:pPr marL="342900" indent="-342900">
              <a:spcAft>
                <a:spcPts val="800"/>
              </a:spcAft>
              <a:buSzPct val="100000"/>
              <a:buChar char="•"/>
            </a:pPr>
            <a:r>
              <a:rPr lang="en-US" sz="1600" dirty="0">
                <a:solidFill>
                  <a:srgbClr val="22303C"/>
                </a:solidFill>
                <a:latin typeface="Calibri" pitchFamily="34" charset="0"/>
                <a:ea typeface="Calibri" pitchFamily="34" charset="-122"/>
                <a:cs typeface="Calibri" pitchFamily="34" charset="-120"/>
              </a:rPr>
              <a:t>No servlet API, no Tomcat, no XML — and zero runtime dependencies</a:t>
            </a:r>
            <a:endParaRPr lang="en-US" sz="1600" dirty="0"/>
          </a:p>
        </p:txBody>
      </p:sp>
      <p:sp>
        <p:nvSpPr>
          <p:cNvPr id="5" name="Shape 3"/>
          <p:cNvSpPr/>
          <p:nvPr/>
        </p:nvSpPr>
        <p:spPr>
          <a:xfrm>
            <a:off x="457200" y="2834640"/>
            <a:ext cx="8229600" cy="960120"/>
          </a:xfrm>
          <a:prstGeom prst="roundRect">
            <a:avLst>
              <a:gd name="adj" fmla="val 5714"/>
            </a:avLst>
          </a:prstGeom>
          <a:solidFill>
            <a:srgbClr val="F1F3F5"/>
          </a:solidFill>
          <a:ln w="12700">
            <a:solidFill>
              <a:srgbClr val="DEE2E6"/>
            </a:solidFill>
            <a:prstDash val="solid"/>
          </a:ln>
        </p:spPr>
      </p:sp>
      <p:sp>
        <p:nvSpPr>
          <p:cNvPr id="6" name="Text 4"/>
          <p:cNvSpPr txBox="1"/>
          <p:nvPr/>
        </p:nvSpPr>
        <p:spPr>
          <a:xfrm>
            <a:off x="621792" y="2944368"/>
            <a:ext cx="7900416" cy="740664"/>
          </a:xfrm>
          <a:prstGeom prst="rect">
            <a:avLst/>
          </a:prstGeom>
          <a:noFill/>
          <a:ln/>
        </p:spPr>
        <p:txBody>
          <a:bodyPr wrap="square" lIns="0" tIns="0" rIns="0" bIns="0" rtlCol="0" anchor="ctr"/>
          <a:lstStyle/>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try (var context = AnnotationApplicationContext.scan("io.minispring.demo")) {</a:t>
            </a: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    var server = DispatcherServer.start(context, 8080);   // ~100 lines</a:t>
            </a: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a:t>
            </a:r>
            <a:endParaRPr lang="en-US" sz="1200" dirty="0"/>
          </a:p>
        </p:txBody>
      </p:sp>
      <p:sp>
        <p:nvSpPr>
          <p:cNvPr id="7" name="Shape 5"/>
          <p:cNvSpPr/>
          <p:nvPr/>
        </p:nvSpPr>
        <p:spPr>
          <a:xfrm>
            <a:off x="457200" y="4069080"/>
            <a:ext cx="8229600" cy="594360"/>
          </a:xfrm>
          <a:prstGeom prst="roundRect">
            <a:avLst>
              <a:gd name="adj" fmla="val 12308"/>
            </a:avLst>
          </a:prstGeom>
          <a:solidFill>
            <a:srgbClr val="FFFFFF"/>
          </a:solidFill>
          <a:ln w="25400">
            <a:solidFill>
              <a:srgbClr val="2F9E44"/>
            </a:solidFill>
            <a:prstDash val="solid"/>
          </a:ln>
        </p:spPr>
      </p:sp>
      <p:sp>
        <p:nvSpPr>
          <p:cNvPr id="8" name="Text 6"/>
          <p:cNvSpPr txBox="1"/>
          <p:nvPr/>
        </p:nvSpPr>
        <p:spPr>
          <a:xfrm>
            <a:off x="640080" y="4069080"/>
            <a:ext cx="7863840" cy="594360"/>
          </a:xfrm>
          <a:prstGeom prst="rect">
            <a:avLst/>
          </a:prstGeom>
          <a:noFill/>
          <a:ln/>
        </p:spPr>
        <p:txBody>
          <a:bodyPr wrap="square" lIns="0" tIns="0" rIns="0" bIns="0" rtlCol="0" anchor="ctr"/>
          <a:lstStyle/>
          <a:p>
            <a:pPr indent="0" marL="0">
              <a:buNone/>
            </a:pPr>
            <a:r>
              <a:rPr lang="en-US" sz="1500" b="1" dirty="0">
                <a:solidFill>
                  <a:srgbClr val="2F9E44"/>
                </a:solidFill>
                <a:latin typeface="Calibri" pitchFamily="34" charset="0"/>
                <a:ea typeface="Calibri" pitchFamily="34" charset="-122"/>
                <a:cs typeface="Calibri" pitchFamily="34" charset="-120"/>
              </a:rPr>
              <a:t>Everything you see today runs, is tested, and is on GitHub.</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430"/>
        </a:solidFill>
      </p:bgPr>
    </p:bg>
    <p:spTree>
      <p:nvGrpSpPr>
        <p:cNvPr id="1" name=""/>
        <p:cNvGrpSpPr/>
        <p:nvPr/>
      </p:nvGrpSpPr>
      <p:grpSpPr>
        <a:xfrm>
          <a:off x="0" y="0"/>
          <a:ext cx="0" cy="0"/>
          <a:chOff x="0" y="0"/>
          <a:chExt cx="0" cy="0"/>
        </a:xfrm>
      </p:grpSpPr>
      <p:sp>
        <p:nvSpPr>
          <p:cNvPr id="2" name="Shape 0"/>
          <p:cNvSpPr/>
          <p:nvPr/>
        </p:nvSpPr>
        <p:spPr>
          <a:xfrm>
            <a:off x="822960" y="1920240"/>
            <a:ext cx="1005840" cy="1005840"/>
          </a:xfrm>
          <a:prstGeom prst="ellipse">
            <a:avLst/>
          </a:prstGeom>
          <a:solidFill>
            <a:srgbClr val="2F9E44"/>
          </a:solidFill>
          <a:ln/>
        </p:spPr>
      </p:sp>
      <p:sp>
        <p:nvSpPr>
          <p:cNvPr id="3" name="Text 1"/>
          <p:cNvSpPr txBox="1"/>
          <p:nvPr/>
        </p:nvSpPr>
        <p:spPr>
          <a:xfrm>
            <a:off x="822960" y="1920240"/>
            <a:ext cx="1005840" cy="10058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4" name="Text 2"/>
          <p:cNvSpPr txBox="1"/>
          <p:nvPr/>
        </p:nvSpPr>
        <p:spPr>
          <a:xfrm>
            <a:off x="2103120" y="1965960"/>
            <a:ext cx="6400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minimum a container needs</a:t>
            </a:r>
            <a:endParaRPr lang="en-US" sz="3000" dirty="0"/>
          </a:p>
        </p:txBody>
      </p:sp>
      <p:sp>
        <p:nvSpPr>
          <p:cNvPr id="5" name="Text 3"/>
          <p:cNvSpPr txBox="1"/>
          <p:nvPr/>
        </p:nvSpPr>
        <p:spPr>
          <a:xfrm>
            <a:off x="2103120" y="2606040"/>
            <a:ext cx="6400800" cy="457200"/>
          </a:xfrm>
          <a:prstGeom prst="rect">
            <a:avLst/>
          </a:prstGeom>
          <a:noFill/>
          <a:ln/>
        </p:spPr>
        <p:txBody>
          <a:bodyPr wrap="square" lIns="0" tIns="0" rIns="0" bIns="0" rtlCol="0" anchor="ctr"/>
          <a:lstStyle/>
          <a:p>
            <a:pPr indent="0" marL="0">
              <a:buNone/>
            </a:pPr>
            <a:r>
              <a:rPr lang="en-US" sz="1600" dirty="0">
                <a:solidFill>
                  <a:srgbClr val="C7D2DD"/>
                </a:solidFill>
                <a:latin typeface="Calibri" pitchFamily="34" charset="0"/>
                <a:ea typeface="Calibri" pitchFamily="34" charset="-122"/>
                <a:cs typeface="Calibri" pitchFamily="34" charset="-120"/>
              </a:rPr>
              <a:t>Strip Spring down to what cannot be removed</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2600" b="1" dirty="0">
                <a:solidFill>
                  <a:srgbClr val="22303C"/>
                </a:solidFill>
                <a:latin typeface="Cambria" pitchFamily="34" charset="0"/>
                <a:ea typeface="Cambria" pitchFamily="34" charset="-122"/>
                <a:cs typeface="Cambria" pitchFamily="34" charset="-120"/>
              </a:rPr>
              <a:t>Before the container: you wire it yourself</a:t>
            </a:r>
            <a:endParaRPr lang="en-US" sz="26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Everybody has written this</a:t>
            </a:r>
            <a:endParaRPr lang="en-US" sz="1500" dirty="0"/>
          </a:p>
        </p:txBody>
      </p:sp>
      <p:sp>
        <p:nvSpPr>
          <p:cNvPr id="4" name="Shape 2"/>
          <p:cNvSpPr/>
          <p:nvPr/>
        </p:nvSpPr>
        <p:spPr>
          <a:xfrm>
            <a:off x="457200" y="1371600"/>
            <a:ext cx="8229600" cy="1371600"/>
          </a:xfrm>
          <a:prstGeom prst="roundRect">
            <a:avLst>
              <a:gd name="adj" fmla="val 4000"/>
            </a:avLst>
          </a:prstGeom>
          <a:solidFill>
            <a:srgbClr val="F1F3F5"/>
          </a:solidFill>
          <a:ln w="12700">
            <a:solidFill>
              <a:srgbClr val="DEE2E6"/>
            </a:solidFill>
            <a:prstDash val="solid"/>
          </a:ln>
        </p:spPr>
      </p:sp>
      <p:sp>
        <p:nvSpPr>
          <p:cNvPr id="5" name="Text 3"/>
          <p:cNvSpPr txBox="1"/>
          <p:nvPr/>
        </p:nvSpPr>
        <p:spPr>
          <a:xfrm>
            <a:off x="621792" y="1481328"/>
            <a:ext cx="7900416" cy="1152144"/>
          </a:xfrm>
          <a:prstGeom prst="rect">
            <a:avLst/>
          </a:prstGeom>
          <a:noFill/>
          <a:ln/>
        </p:spPr>
        <p:txBody>
          <a:bodyPr wrap="square" lIns="0" tIns="0" rIns="0" bIns="0" rtlCol="0" anchor="ctr"/>
          <a:lstStyle/>
          <a:p>
            <a:pPr indent="0" marL="0">
              <a:lnSpc>
                <a:spcPct val="115000"/>
              </a:lnSpc>
              <a:buNone/>
            </a:pPr>
            <a:r>
              <a:rPr lang="en-US" sz="1300" dirty="0">
                <a:solidFill>
                  <a:srgbClr val="22303C"/>
                </a:solidFill>
                <a:latin typeface="Courier New" pitchFamily="34" charset="0"/>
                <a:ea typeface="Courier New" pitchFamily="34" charset="-122"/>
                <a:cs typeface="Courier New" pitchFamily="34" charset="-120"/>
              </a:rPr>
              <a:t>var repository = new InMemoryOrderRepository();</a:t>
            </a:r>
            <a:endParaRPr lang="en-US" sz="1300" dirty="0"/>
          </a:p>
          <a:p>
            <a:pPr indent="0" marL="0">
              <a:lnSpc>
                <a:spcPct val="115000"/>
              </a:lnSpc>
              <a:buNone/>
            </a:pPr>
            <a:r>
              <a:rPr lang="en-US" sz="1300" dirty="0">
                <a:solidFill>
                  <a:srgbClr val="22303C"/>
                </a:solidFill>
                <a:latin typeface="Courier New" pitchFamily="34" charset="0"/>
                <a:ea typeface="Courier New" pitchFamily="34" charset="-122"/>
                <a:cs typeface="Courier New" pitchFamily="34" charset="-120"/>
              </a:rPr>
              <a:t>var audit      = new AuditService();</a:t>
            </a:r>
            <a:endParaRPr lang="en-US" sz="1300" dirty="0"/>
          </a:p>
          <a:p>
            <a:pPr indent="0" marL="0">
              <a:lnSpc>
                <a:spcPct val="115000"/>
              </a:lnSpc>
              <a:buNone/>
            </a:pPr>
            <a:r>
              <a:rPr lang="en-US" sz="1300" dirty="0">
                <a:solidFill>
                  <a:srgbClr val="22303C"/>
                </a:solidFill>
                <a:latin typeface="Courier New" pitchFamily="34" charset="0"/>
                <a:ea typeface="Courier New" pitchFamily="34" charset="-122"/>
                <a:cs typeface="Courier New" pitchFamily="34" charset="-120"/>
              </a:rPr>
              <a:t>var service    = new OrderServiceImpl(repository, audit, publisher);</a:t>
            </a:r>
            <a:endParaRPr lang="en-US" sz="1300" dirty="0"/>
          </a:p>
          <a:p>
            <a:pPr indent="0" marL="0">
              <a:lnSpc>
                <a:spcPct val="115000"/>
              </a:lnSpc>
              <a:buNone/>
            </a:pPr>
            <a:r>
              <a:rPr lang="en-US" sz="1300" dirty="0">
                <a:solidFill>
                  <a:srgbClr val="22303C"/>
                </a:solidFill>
                <a:latin typeface="Courier New" pitchFamily="34" charset="0"/>
                <a:ea typeface="Courier New" pitchFamily="34" charset="-122"/>
                <a:cs typeface="Courier New" pitchFamily="34" charset="-120"/>
              </a:rPr>
              <a:t>var controller = new OrderController(service);</a:t>
            </a:r>
            <a:endParaRPr lang="en-US" sz="1300" dirty="0"/>
          </a:p>
        </p:txBody>
      </p:sp>
      <p:sp>
        <p:nvSpPr>
          <p:cNvPr id="6" name="Text 4"/>
          <p:cNvSpPr txBox="1"/>
          <p:nvPr/>
        </p:nvSpPr>
        <p:spPr>
          <a:xfrm>
            <a:off x="502920" y="2880360"/>
            <a:ext cx="8229600" cy="1188720"/>
          </a:xfrm>
          <a:prstGeom prst="rect">
            <a:avLst/>
          </a:prstGeom>
          <a:noFill/>
          <a:ln/>
        </p:spPr>
        <p:txBody>
          <a:bodyPr wrap="square" lIns="0" tIns="0" rIns="0" bIns="0" rtlCol="0" anchor="ctr"/>
          <a:lstStyle/>
          <a:p>
            <a:pPr marL="342900" indent="-342900">
              <a:spcAft>
                <a:spcPts val="800"/>
              </a:spcAft>
              <a:buSzPct val="100000"/>
              <a:buChar char="•"/>
            </a:pPr>
            <a:r>
              <a:rPr lang="en-US" sz="1500" dirty="0">
                <a:solidFill>
                  <a:srgbClr val="22303C"/>
                </a:solidFill>
                <a:latin typeface="Calibri" pitchFamily="34" charset="0"/>
                <a:ea typeface="Calibri" pitchFamily="34" charset="-122"/>
                <a:cs typeface="Calibri" pitchFamily="34" charset="-120"/>
              </a:rPr>
              <a:t>It works — until the graph has forty objects instead of four</a:t>
            </a:r>
            <a:endParaRPr lang="en-US" sz="1500" dirty="0"/>
          </a:p>
          <a:p>
            <a:pPr marL="342900" indent="-342900">
              <a:spcAft>
                <a:spcPts val="800"/>
              </a:spcAft>
              <a:buSzPct val="100000"/>
              <a:buChar char="•"/>
            </a:pPr>
            <a:r>
              <a:rPr lang="en-US" sz="1500" dirty="0">
                <a:solidFill>
                  <a:srgbClr val="22303C"/>
                </a:solidFill>
                <a:latin typeface="Calibri" pitchFamily="34" charset="0"/>
                <a:ea typeface="Calibri" pitchFamily="34" charset="-122"/>
                <a:cs typeface="Calibri" pitchFamily="34" charset="-120"/>
              </a:rPr>
              <a:t>Every caller has to know the whole graph, just to build one object</a:t>
            </a:r>
            <a:endParaRPr lang="en-US" sz="1500" dirty="0"/>
          </a:p>
          <a:p>
            <a:pPr marL="342900" indent="-342900">
              <a:spcAft>
                <a:spcPts val="800"/>
              </a:spcAft>
              <a:buSzPct val="100000"/>
              <a:buChar char="•"/>
            </a:pPr>
            <a:r>
              <a:rPr lang="en-US" sz="1500" dirty="0">
                <a:solidFill>
                  <a:srgbClr val="22303C"/>
                </a:solidFill>
                <a:latin typeface="Calibri" pitchFamily="34" charset="0"/>
                <a:ea typeface="Calibri" pitchFamily="34" charset="-122"/>
                <a:cs typeface="Calibri" pitchFamily="34" charset="-120"/>
              </a:rPr>
              <a:t>Swapping an implementation means editing every place that says new</a:t>
            </a:r>
            <a:endParaRPr lang="en-US" sz="1500" dirty="0"/>
          </a:p>
          <a:p>
            <a:pPr marL="342900" indent="-342900">
              <a:spcAft>
                <a:spcPts val="800"/>
              </a:spcAft>
              <a:buSzPct val="100000"/>
              <a:buChar char="•"/>
            </a:pPr>
            <a:r>
              <a:rPr lang="en-US" sz="1500" dirty="0">
                <a:solidFill>
                  <a:srgbClr val="22303C"/>
                </a:solidFill>
                <a:latin typeface="Calibri" pitchFamily="34" charset="0"/>
                <a:ea typeface="Calibri" pitchFamily="34" charset="-122"/>
                <a:cs typeface="Calibri" pitchFamily="34" charset="-120"/>
              </a:rPr>
              <a:t>And someone has to decide who gets closed, in which order</a:t>
            </a:r>
            <a:endParaRPr lang="en-US" sz="1500" dirty="0"/>
          </a:p>
        </p:txBody>
      </p:sp>
      <p:sp>
        <p:nvSpPr>
          <p:cNvPr id="7" name="Shape 5"/>
          <p:cNvSpPr/>
          <p:nvPr/>
        </p:nvSpPr>
        <p:spPr>
          <a:xfrm>
            <a:off x="457200" y="4160520"/>
            <a:ext cx="8229600" cy="594360"/>
          </a:xfrm>
          <a:prstGeom prst="roundRect">
            <a:avLst>
              <a:gd name="adj" fmla="val 12308"/>
            </a:avLst>
          </a:prstGeom>
          <a:solidFill>
            <a:srgbClr val="FFFFFF"/>
          </a:solidFill>
          <a:ln w="25400">
            <a:solidFill>
              <a:srgbClr val="E8590C"/>
            </a:solidFill>
            <a:prstDash val="solid"/>
          </a:ln>
        </p:spPr>
      </p:sp>
      <p:sp>
        <p:nvSpPr>
          <p:cNvPr id="8" name="Text 6"/>
          <p:cNvSpPr txBox="1"/>
          <p:nvPr/>
        </p:nvSpPr>
        <p:spPr>
          <a:xfrm>
            <a:off x="640080" y="4160520"/>
            <a:ext cx="7863840" cy="594360"/>
          </a:xfrm>
          <a:prstGeom prst="rect">
            <a:avLst/>
          </a:prstGeom>
          <a:noFill/>
          <a:ln/>
        </p:spPr>
        <p:txBody>
          <a:bodyPr wrap="square" lIns="0" tIns="0" rIns="0" bIns="0" rtlCol="0" anchor="ctr"/>
          <a:lstStyle/>
          <a:p>
            <a:pPr indent="0" marL="0">
              <a:buNone/>
            </a:pPr>
            <a:r>
              <a:rPr lang="en-US" sz="1500" b="1" dirty="0">
                <a:solidFill>
                  <a:srgbClr val="E8590C"/>
                </a:solidFill>
                <a:latin typeface="Calibri" pitchFamily="34" charset="0"/>
                <a:ea typeface="Calibri" pitchFamily="34" charset="-122"/>
                <a:cs typeface="Calibri" pitchFamily="34" charset="-120"/>
              </a:rPr>
              <a:t>The problem was never typing new. It is that the caller has to know everything.</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3000" b="1" dirty="0">
                <a:solidFill>
                  <a:srgbClr val="22303C"/>
                </a:solidFill>
                <a:latin typeface="Cambria" pitchFamily="34" charset="0"/>
                <a:ea typeface="Cambria" pitchFamily="34" charset="-122"/>
                <a:cs typeface="Cambria" pitchFamily="34" charset="-120"/>
              </a:rPr>
              <a:t>What you actually gain</a:t>
            </a:r>
            <a:endParaRPr lang="en-US" sz="30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It is not fewer lines. It is who chooses.</a:t>
            </a:r>
            <a:endParaRPr lang="en-US" sz="1500" dirty="0"/>
          </a:p>
        </p:txBody>
      </p:sp>
      <p:sp>
        <p:nvSpPr>
          <p:cNvPr id="4" name="Shape 2"/>
          <p:cNvSpPr/>
          <p:nvPr/>
        </p:nvSpPr>
        <p:spPr>
          <a:xfrm>
            <a:off x="457200" y="1371600"/>
            <a:ext cx="8229600" cy="2194560"/>
          </a:xfrm>
          <a:prstGeom prst="roundRect">
            <a:avLst>
              <a:gd name="adj" fmla="val 2500"/>
            </a:avLst>
          </a:prstGeom>
          <a:solidFill>
            <a:srgbClr val="F1F3F5"/>
          </a:solidFill>
          <a:ln w="12700">
            <a:solidFill>
              <a:srgbClr val="DEE2E6"/>
            </a:solidFill>
            <a:prstDash val="solid"/>
          </a:ln>
        </p:spPr>
      </p:sp>
      <p:sp>
        <p:nvSpPr>
          <p:cNvPr id="5" name="Text 3"/>
          <p:cNvSpPr txBox="1"/>
          <p:nvPr/>
        </p:nvSpPr>
        <p:spPr>
          <a:xfrm>
            <a:off x="621792" y="1481328"/>
            <a:ext cx="7900416" cy="1975104"/>
          </a:xfrm>
          <a:prstGeom prst="rect">
            <a:avLst/>
          </a:prstGeom>
          <a:noFill/>
          <a:ln/>
        </p:spPr>
        <p:txBody>
          <a:bodyPr wrap="square" lIns="0" tIns="0" rIns="0" bIns="0" rtlCol="0" anchor="ctr"/>
          <a:lstStyle/>
          <a:p>
            <a:pPr indent="0" marL="0">
              <a:lnSpc>
                <a:spcPct val="115000"/>
              </a:lnSpc>
              <a:buNone/>
            </a:pPr>
            <a:r>
              <a:rPr lang="en-US" sz="1300" dirty="0">
                <a:solidFill>
                  <a:srgbClr val="22303C"/>
                </a:solidFill>
                <a:latin typeface="Courier New" pitchFamily="34" charset="0"/>
                <a:ea typeface="Courier New" pitchFamily="34" charset="-122"/>
                <a:cs typeface="Courier New" pitchFamily="34" charset="-120"/>
              </a:rPr>
              <a:t>@Component</a:t>
            </a:r>
            <a:endParaRPr lang="en-US" sz="1300" dirty="0"/>
          </a:p>
          <a:p>
            <a:pPr indent="0" marL="0">
              <a:lnSpc>
                <a:spcPct val="115000"/>
              </a:lnSpc>
              <a:buNone/>
            </a:pPr>
            <a:r>
              <a:rPr lang="en-US" sz="1300" dirty="0">
                <a:solidFill>
                  <a:srgbClr val="22303C"/>
                </a:solidFill>
                <a:latin typeface="Courier New" pitchFamily="34" charset="0"/>
                <a:ea typeface="Courier New" pitchFamily="34" charset="-122"/>
                <a:cs typeface="Courier New" pitchFamily="34" charset="-120"/>
              </a:rPr>
              <a:t>class OrderServiceImpl implements OrderService {</a:t>
            </a:r>
            <a:endParaRPr lang="en-US" sz="1300" dirty="0"/>
          </a:p>
          <a:p>
            <a:pPr indent="0" marL="0">
              <a:lnSpc>
                <a:spcPct val="115000"/>
              </a:lnSpc>
              <a:buNone/>
            </a:pPr>
            <a:r>
              <a:rPr lang="en-US" sz="1300" dirty="0">
                <a:solidFill>
                  <a:srgbClr val="22303C"/>
                </a:solidFill>
                <a:latin typeface="Courier New" pitchFamily="34" charset="0"/>
                <a:ea typeface="Courier New" pitchFamily="34" charset="-122"/>
                <a:cs typeface="Courier New" pitchFamily="34" charset="-120"/>
              </a:rPr>
              <a:t>    OrderServiceImpl(OrderRepository repository, AuditService audit) { ... }</a:t>
            </a:r>
            <a:endParaRPr lang="en-US" sz="1300" dirty="0"/>
          </a:p>
          <a:p>
            <a:pPr indent="0" marL="0">
              <a:lnSpc>
                <a:spcPct val="115000"/>
              </a:lnSpc>
              <a:buNone/>
            </a:pPr>
            <a:r>
              <a:rPr lang="en-US" sz="1300" dirty="0">
                <a:solidFill>
                  <a:srgbClr val="22303C"/>
                </a:solidFill>
                <a:latin typeface="Courier New" pitchFamily="34" charset="0"/>
                <a:ea typeface="Courier New" pitchFamily="34" charset="-122"/>
                <a:cs typeface="Courier New" pitchFamily="34" charset="-120"/>
              </a:rPr>
              <a:t>}</a:t>
            </a:r>
            <a:endParaRPr lang="en-US" sz="1300" dirty="0"/>
          </a:p>
          <a:p>
            <a:pPr indent="0" marL="0">
              <a:lnSpc>
                <a:spcPct val="115000"/>
              </a:lnSpc>
              <a:buNone/>
            </a:pPr>
            <a:endParaRPr lang="en-US" sz="1300" dirty="0"/>
          </a:p>
          <a:p>
            <a:pPr indent="0" marL="0">
              <a:lnSpc>
                <a:spcPct val="115000"/>
              </a:lnSpc>
              <a:buNone/>
            </a:pPr>
            <a:r>
              <a:rPr lang="en-US" sz="1300" dirty="0">
                <a:solidFill>
                  <a:srgbClr val="22303C"/>
                </a:solidFill>
                <a:latin typeface="Courier New" pitchFamily="34" charset="0"/>
                <a:ea typeface="Courier New" pitchFamily="34" charset="-122"/>
                <a:cs typeface="Courier New" pitchFamily="34" charset="-120"/>
              </a:rPr>
              <a:t>try (var context = AnnotationApplicationContext.scan("com.example")) {</a:t>
            </a:r>
            <a:endParaRPr lang="en-US" sz="1300" dirty="0"/>
          </a:p>
          <a:p>
            <a:pPr indent="0" marL="0">
              <a:lnSpc>
                <a:spcPct val="115000"/>
              </a:lnSpc>
              <a:buNone/>
            </a:pPr>
            <a:r>
              <a:rPr lang="en-US" sz="1300" dirty="0">
                <a:solidFill>
                  <a:srgbClr val="22303C"/>
                </a:solidFill>
                <a:latin typeface="Courier New" pitchFamily="34" charset="0"/>
                <a:ea typeface="Courier New" pitchFamily="34" charset="-122"/>
                <a:cs typeface="Courier New" pitchFamily="34" charset="-120"/>
              </a:rPr>
              <a:t>    context.getBean(OrderController.class);   // the graph is built for you</a:t>
            </a:r>
            <a:endParaRPr lang="en-US" sz="1300" dirty="0"/>
          </a:p>
          <a:p>
            <a:pPr indent="0" marL="0">
              <a:lnSpc>
                <a:spcPct val="115000"/>
              </a:lnSpc>
              <a:buNone/>
            </a:pPr>
            <a:r>
              <a:rPr lang="en-US" sz="1300" dirty="0">
                <a:solidFill>
                  <a:srgbClr val="22303C"/>
                </a:solidFill>
                <a:latin typeface="Courier New" pitchFamily="34" charset="0"/>
                <a:ea typeface="Courier New" pitchFamily="34" charset="-122"/>
                <a:cs typeface="Courier New" pitchFamily="34" charset="-120"/>
              </a:rPr>
              <a:t>}</a:t>
            </a:r>
            <a:endParaRPr lang="en-US" sz="1300" dirty="0"/>
          </a:p>
        </p:txBody>
      </p:sp>
      <p:sp>
        <p:nvSpPr>
          <p:cNvPr id="6" name="Text 4"/>
          <p:cNvSpPr txBox="1"/>
          <p:nvPr/>
        </p:nvSpPr>
        <p:spPr>
          <a:xfrm>
            <a:off x="502920" y="3611880"/>
            <a:ext cx="8229600" cy="91440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22303C"/>
                </a:solidFill>
                <a:latin typeface="Calibri" pitchFamily="34" charset="0"/>
                <a:ea typeface="Calibri" pitchFamily="34" charset="-122"/>
                <a:cs typeface="Calibri" pitchFamily="34" charset="-120"/>
              </a:rPr>
              <a:t>The class still asks for what it needs: nothing is hidden, it is all in the constructor</a:t>
            </a:r>
            <a:endParaRPr lang="en-US" sz="1400" dirty="0"/>
          </a:p>
          <a:p>
            <a:pPr marL="342900" indent="-342900">
              <a:spcAft>
                <a:spcPts val="800"/>
              </a:spcAft>
              <a:buSzPct val="100000"/>
              <a:buChar char="•"/>
            </a:pPr>
            <a:r>
              <a:rPr lang="en-US" sz="1400" dirty="0">
                <a:solidFill>
                  <a:srgbClr val="22303C"/>
                </a:solidFill>
                <a:latin typeface="Calibri" pitchFamily="34" charset="0"/>
                <a:ea typeface="Calibri" pitchFamily="34" charset="-122"/>
                <a:cs typeface="Calibri" pitchFamily="34" charset="-120"/>
              </a:rPr>
              <a:t>But it no longer chooses which implementation it gets — that is the inversion of control</a:t>
            </a:r>
            <a:endParaRPr lang="en-US" sz="1400" dirty="0"/>
          </a:p>
          <a:p>
            <a:pPr marL="342900" indent="-342900">
              <a:spcAft>
                <a:spcPts val="800"/>
              </a:spcAft>
              <a:buSzPct val="100000"/>
              <a:buChar char="•"/>
            </a:pPr>
            <a:r>
              <a:rPr lang="en-US" sz="1400" dirty="0">
                <a:solidFill>
                  <a:srgbClr val="22303C"/>
                </a:solidFill>
                <a:latin typeface="Calibri" pitchFamily="34" charset="0"/>
                <a:ea typeface="Calibri" pitchFamily="34" charset="-122"/>
                <a:cs typeface="Calibri" pitchFamily="34" charset="-120"/>
              </a:rPr>
              <a:t>So a test builds it with a fake repository, in one line, with no framework at all</a:t>
            </a:r>
            <a:endParaRPr lang="en-US" sz="1400" dirty="0"/>
          </a:p>
        </p:txBody>
      </p:sp>
      <p:sp>
        <p:nvSpPr>
          <p:cNvPr id="7" name="Shape 5"/>
          <p:cNvSpPr/>
          <p:nvPr/>
        </p:nvSpPr>
        <p:spPr>
          <a:xfrm>
            <a:off x="457200" y="4526280"/>
            <a:ext cx="8229600" cy="594360"/>
          </a:xfrm>
          <a:prstGeom prst="roundRect">
            <a:avLst>
              <a:gd name="adj" fmla="val 12308"/>
            </a:avLst>
          </a:prstGeom>
          <a:solidFill>
            <a:srgbClr val="FFFFFF"/>
          </a:solidFill>
          <a:ln w="25400">
            <a:solidFill>
              <a:srgbClr val="2F9E44"/>
            </a:solidFill>
            <a:prstDash val="solid"/>
          </a:ln>
        </p:spPr>
      </p:sp>
      <p:sp>
        <p:nvSpPr>
          <p:cNvPr id="8" name="Text 6"/>
          <p:cNvSpPr txBox="1"/>
          <p:nvPr/>
        </p:nvSpPr>
        <p:spPr>
          <a:xfrm>
            <a:off x="640080" y="4526280"/>
            <a:ext cx="7863840" cy="594360"/>
          </a:xfrm>
          <a:prstGeom prst="rect">
            <a:avLst/>
          </a:prstGeom>
          <a:noFill/>
          <a:ln/>
        </p:spPr>
        <p:txBody>
          <a:bodyPr wrap="square" lIns="0" tIns="0" rIns="0" bIns="0" rtlCol="0" anchor="ctr"/>
          <a:lstStyle/>
          <a:p>
            <a:pPr indent="0" marL="0">
              <a:buNone/>
            </a:pPr>
            <a:r>
              <a:rPr lang="en-US" sz="1500" b="1" dirty="0">
                <a:solidFill>
                  <a:srgbClr val="2F9E44"/>
                </a:solidFill>
                <a:latin typeface="Calibri" pitchFamily="34" charset="0"/>
                <a:ea typeface="Calibri" pitchFamily="34" charset="-122"/>
                <a:cs typeface="Calibri" pitchFamily="34" charset="-120"/>
              </a:rPr>
              <a:t>Dependency injection is a design decision. The container is only the tool that carries it out.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3000" b="1" dirty="0">
                <a:solidFill>
                  <a:srgbClr val="22303C"/>
                </a:solidFill>
                <a:latin typeface="Cambria" pitchFamily="34" charset="0"/>
                <a:ea typeface="Cambria" pitchFamily="34" charset="-122"/>
                <a:cs typeface="Cambria" pitchFamily="34" charset="-120"/>
              </a:rPr>
              <a:t>A container is a Map, plus rules</a:t>
            </a:r>
            <a:endParaRPr lang="en-US" sz="3000" dirty="0"/>
          </a:p>
        </p:txBody>
      </p:sp>
      <p:sp>
        <p:nvSpPr>
          <p:cNvPr id="3" name="Shape 1"/>
          <p:cNvSpPr/>
          <p:nvPr/>
        </p:nvSpPr>
        <p:spPr>
          <a:xfrm>
            <a:off x="457200" y="1325880"/>
            <a:ext cx="3931920" cy="914400"/>
          </a:xfrm>
          <a:prstGeom prst="roundRect">
            <a:avLst>
              <a:gd name="adj" fmla="val 8000"/>
            </a:avLst>
          </a:prstGeom>
          <a:solidFill>
            <a:srgbClr val="1B2430"/>
          </a:solidFill>
          <a:ln/>
        </p:spPr>
      </p:sp>
      <p:sp>
        <p:nvSpPr>
          <p:cNvPr id="4" name="Text 2"/>
          <p:cNvSpPr txBox="1"/>
          <p:nvPr/>
        </p:nvSpPr>
        <p:spPr>
          <a:xfrm>
            <a:off x="457200" y="1325880"/>
            <a:ext cx="3931920" cy="914400"/>
          </a:xfrm>
          <a:prstGeom prst="rect">
            <a:avLst/>
          </a:prstGeom>
          <a:noFill/>
          <a:ln/>
        </p:spPr>
        <p:txBody>
          <a:bodyPr wrap="square" lIns="0" tIns="0" rIns="0" bIns="0" rtlCol="0" anchor="ctr"/>
          <a:lstStyle/>
          <a:p>
            <a:pPr algn="ctr" indent="0" marL="0">
              <a:buNone/>
            </a:pPr>
            <a:r>
              <a:rPr lang="en-US" sz="2000" dirty="0">
                <a:solidFill>
                  <a:srgbClr val="FFFFFF"/>
                </a:solidFill>
                <a:latin typeface="Courier New" pitchFamily="34" charset="0"/>
                <a:ea typeface="Courier New" pitchFamily="34" charset="-122"/>
                <a:cs typeface="Courier New" pitchFamily="34" charset="-120"/>
              </a:rPr>
              <a:t>Map&lt;String, Object&gt;</a:t>
            </a:r>
            <a:endParaRPr lang="en-US" sz="2000" dirty="0"/>
          </a:p>
        </p:txBody>
      </p:sp>
      <p:sp>
        <p:nvSpPr>
          <p:cNvPr id="5" name="Text 3"/>
          <p:cNvSpPr txBox="1"/>
          <p:nvPr/>
        </p:nvSpPr>
        <p:spPr>
          <a:xfrm>
            <a:off x="4663440" y="1371600"/>
            <a:ext cx="4023360" cy="822960"/>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The interesting part is not the Map. It is the rules that fill it:</a:t>
            </a:r>
            <a:endParaRPr lang="en-US" sz="1500" dirty="0"/>
          </a:p>
        </p:txBody>
      </p:sp>
      <p:sp>
        <p:nvSpPr>
          <p:cNvPr id="6" name="Text 4"/>
          <p:cNvSpPr txBox="1"/>
          <p:nvPr/>
        </p:nvSpPr>
        <p:spPr>
          <a:xfrm>
            <a:off x="502920" y="2377440"/>
            <a:ext cx="8229600" cy="1737360"/>
          </a:xfrm>
          <a:prstGeom prst="rect">
            <a:avLst/>
          </a:prstGeom>
          <a:noFill/>
          <a:ln/>
        </p:spPr>
        <p:txBody>
          <a:bodyPr wrap="square" lIns="0" tIns="0" rIns="0" bIns="0" rtlCol="0" anchor="ctr"/>
          <a:lstStyle/>
          <a:p>
            <a:pPr marL="342900" indent="-342900">
              <a:spcAft>
                <a:spcPts val="800"/>
              </a:spcAft>
              <a:buSzPct val="100000"/>
              <a:buChar char="•"/>
            </a:pPr>
            <a:r>
              <a:rPr lang="en-US" sz="1500" dirty="0">
                <a:solidFill>
                  <a:srgbClr val="22303C"/>
                </a:solidFill>
                <a:latin typeface="Calibri" pitchFamily="34" charset="0"/>
                <a:ea typeface="Calibri" pitchFamily="34" charset="-122"/>
                <a:cs typeface="Calibri" pitchFamily="34" charset="-120"/>
              </a:rPr>
              <a:t>Find the classes to manage</a:t>
            </a:r>
            <a:endParaRPr lang="en-US" sz="1500" dirty="0"/>
          </a:p>
          <a:p>
            <a:pPr marL="342900" indent="-342900">
              <a:spcAft>
                <a:spcPts val="800"/>
              </a:spcAft>
              <a:buSzPct val="100000"/>
              <a:buChar char="•"/>
            </a:pPr>
            <a:r>
              <a:rPr lang="en-US" sz="1500" dirty="0">
                <a:solidFill>
                  <a:srgbClr val="22303C"/>
                </a:solidFill>
                <a:latin typeface="Calibri" pitchFamily="34" charset="0"/>
                <a:ea typeface="Calibri" pitchFamily="34" charset="-122"/>
                <a:cs typeface="Calibri" pitchFamily="34" charset="-120"/>
              </a:rPr>
              <a:t>Describe them before creating them</a:t>
            </a:r>
            <a:endParaRPr lang="en-US" sz="1500" dirty="0"/>
          </a:p>
          <a:p>
            <a:pPr marL="342900" indent="-342900">
              <a:spcAft>
                <a:spcPts val="800"/>
              </a:spcAft>
              <a:buSzPct val="100000"/>
              <a:buChar char="•"/>
            </a:pPr>
            <a:r>
              <a:rPr lang="en-US" sz="1500" dirty="0">
                <a:solidFill>
                  <a:srgbClr val="22303C"/>
                </a:solidFill>
                <a:latin typeface="Calibri" pitchFamily="34" charset="0"/>
                <a:ea typeface="Calibri" pitchFamily="34" charset="-122"/>
                <a:cs typeface="Calibri" pitchFamily="34" charset="-120"/>
              </a:rPr>
              <a:t>Create each one after its dependencies</a:t>
            </a:r>
            <a:endParaRPr lang="en-US" sz="1500" dirty="0"/>
          </a:p>
          <a:p>
            <a:pPr marL="342900" indent="-342900">
              <a:spcAft>
                <a:spcPts val="800"/>
              </a:spcAft>
              <a:buSzPct val="100000"/>
              <a:buChar char="•"/>
            </a:pPr>
            <a:r>
              <a:rPr lang="en-US" sz="1500" dirty="0">
                <a:solidFill>
                  <a:srgbClr val="22303C"/>
                </a:solidFill>
                <a:latin typeface="Calibri" pitchFamily="34" charset="0"/>
                <a:ea typeface="Calibri" pitchFamily="34" charset="-122"/>
                <a:cs typeface="Calibri" pitchFamily="34" charset="-120"/>
              </a:rPr>
              <a:t>Run lifecycle callbacks at the right moment</a:t>
            </a:r>
            <a:endParaRPr lang="en-US" sz="1500" dirty="0"/>
          </a:p>
          <a:p>
            <a:pPr marL="342900" indent="-342900">
              <a:spcAft>
                <a:spcPts val="800"/>
              </a:spcAft>
              <a:buSzPct val="100000"/>
              <a:buChar char="•"/>
            </a:pPr>
            <a:r>
              <a:rPr lang="en-US" sz="1500" dirty="0">
                <a:solidFill>
                  <a:srgbClr val="22303C"/>
                </a:solidFill>
                <a:latin typeface="Calibri" pitchFamily="34" charset="0"/>
                <a:ea typeface="Calibri" pitchFamily="34" charset="-122"/>
                <a:cs typeface="Calibri" pitchFamily="34" charset="-120"/>
              </a:rPr>
              <a:t>Let something wrap a bean before it is handed out</a:t>
            </a:r>
            <a:endParaRPr lang="en-US" sz="1500" dirty="0"/>
          </a:p>
          <a:p>
            <a:pPr marL="342900" indent="-342900">
              <a:spcAft>
                <a:spcPts val="800"/>
              </a:spcAft>
              <a:buSzPct val="100000"/>
              <a:buChar char="•"/>
            </a:pPr>
            <a:r>
              <a:rPr lang="en-US" sz="1500" dirty="0">
                <a:solidFill>
                  <a:srgbClr val="22303C"/>
                </a:solidFill>
                <a:latin typeface="Calibri" pitchFamily="34" charset="0"/>
                <a:ea typeface="Calibri" pitchFamily="34" charset="-122"/>
                <a:cs typeface="Calibri" pitchFamily="34" charset="-120"/>
              </a:rPr>
              <a:t>Decide whether a bean should exist at all</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3000" b="1" dirty="0">
                <a:solidFill>
                  <a:srgbClr val="22303C"/>
                </a:solidFill>
                <a:latin typeface="Cambria" pitchFamily="34" charset="0"/>
                <a:ea typeface="Cambria" pitchFamily="34" charset="-122"/>
                <a:cs typeface="Cambria" pitchFamily="34" charset="-120"/>
              </a:rPr>
              <a:t>The whole thing, in numbers</a:t>
            </a:r>
            <a:endParaRPr lang="en-US" sz="30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So you know what 'small' means here</a:t>
            </a:r>
            <a:endParaRPr lang="en-US" sz="1500" dirty="0"/>
          </a:p>
        </p:txBody>
      </p:sp>
      <p:sp>
        <p:nvSpPr>
          <p:cNvPr id="4" name="Shape 2"/>
          <p:cNvSpPr/>
          <p:nvPr/>
        </p:nvSpPr>
        <p:spPr>
          <a:xfrm>
            <a:off x="457200" y="1737360"/>
            <a:ext cx="1874520" cy="1371600"/>
          </a:xfrm>
          <a:prstGeom prst="roundRect">
            <a:avLst>
              <a:gd name="adj" fmla="val 5333"/>
            </a:avLst>
          </a:prstGeom>
          <a:solidFill>
            <a:srgbClr val="F1F3F5"/>
          </a:solidFill>
          <a:ln w="12700">
            <a:solidFill>
              <a:srgbClr val="DEE2E6"/>
            </a:solidFill>
            <a:prstDash val="solid"/>
          </a:ln>
        </p:spPr>
      </p:sp>
      <p:sp>
        <p:nvSpPr>
          <p:cNvPr id="5" name="Text 3"/>
          <p:cNvSpPr txBox="1"/>
          <p:nvPr/>
        </p:nvSpPr>
        <p:spPr>
          <a:xfrm>
            <a:off x="457200" y="1874520"/>
            <a:ext cx="1874520" cy="685800"/>
          </a:xfrm>
          <a:prstGeom prst="rect">
            <a:avLst/>
          </a:prstGeom>
          <a:noFill/>
          <a:ln/>
        </p:spPr>
        <p:txBody>
          <a:bodyPr wrap="square" lIns="0" tIns="0" rIns="0" bIns="0" rtlCol="0" anchor="ctr"/>
          <a:lstStyle/>
          <a:p>
            <a:pPr algn="ctr" indent="0" marL="0">
              <a:buNone/>
            </a:pPr>
            <a:r>
              <a:rPr lang="en-US" sz="3000" b="1" dirty="0">
                <a:solidFill>
                  <a:srgbClr val="2F9E44"/>
                </a:solidFill>
                <a:latin typeface="Cambria" pitchFamily="34" charset="0"/>
                <a:ea typeface="Cambria" pitchFamily="34" charset="-122"/>
                <a:cs typeface="Cambria" pitchFamily="34" charset="-120"/>
              </a:rPr>
              <a:t>1,200</a:t>
            </a:r>
            <a:endParaRPr lang="en-US" sz="3000" dirty="0"/>
          </a:p>
        </p:txBody>
      </p:sp>
      <p:sp>
        <p:nvSpPr>
          <p:cNvPr id="6" name="Text 4"/>
          <p:cNvSpPr txBox="1"/>
          <p:nvPr/>
        </p:nvSpPr>
        <p:spPr>
          <a:xfrm>
            <a:off x="548640" y="2560320"/>
            <a:ext cx="1691640" cy="457200"/>
          </a:xfrm>
          <a:prstGeom prst="rect">
            <a:avLst/>
          </a:prstGeom>
          <a:noFill/>
          <a:ln/>
        </p:spPr>
        <p:txBody>
          <a:bodyPr wrap="square" lIns="0" tIns="0" rIns="0" bIns="0" rtlCol="0" anchor="ctr"/>
          <a:lstStyle/>
          <a:p>
            <a:pPr algn="ctr" indent="0" marL="0">
              <a:buNone/>
            </a:pPr>
            <a:r>
              <a:rPr lang="en-US" sz="1200" dirty="0">
                <a:solidFill>
                  <a:srgbClr val="5B6B7A"/>
                </a:solidFill>
                <a:latin typeface="Calibri" pitchFamily="34" charset="0"/>
                <a:ea typeface="Calibri" pitchFamily="34" charset="-122"/>
                <a:cs typeface="Calibri" pitchFamily="34" charset="-120"/>
              </a:rPr>
              <a:t>lines for the container</a:t>
            </a:r>
            <a:endParaRPr lang="en-US" sz="1200" dirty="0"/>
          </a:p>
        </p:txBody>
      </p:sp>
      <p:sp>
        <p:nvSpPr>
          <p:cNvPr id="7" name="Shape 5"/>
          <p:cNvSpPr/>
          <p:nvPr/>
        </p:nvSpPr>
        <p:spPr>
          <a:xfrm>
            <a:off x="2560320" y="1737360"/>
            <a:ext cx="1874520" cy="1371600"/>
          </a:xfrm>
          <a:prstGeom prst="roundRect">
            <a:avLst>
              <a:gd name="adj" fmla="val 5333"/>
            </a:avLst>
          </a:prstGeom>
          <a:solidFill>
            <a:srgbClr val="F1F3F5"/>
          </a:solidFill>
          <a:ln w="12700">
            <a:solidFill>
              <a:srgbClr val="DEE2E6"/>
            </a:solidFill>
            <a:prstDash val="solid"/>
          </a:ln>
        </p:spPr>
      </p:sp>
      <p:sp>
        <p:nvSpPr>
          <p:cNvPr id="8" name="Text 6"/>
          <p:cNvSpPr txBox="1"/>
          <p:nvPr/>
        </p:nvSpPr>
        <p:spPr>
          <a:xfrm>
            <a:off x="2560320" y="1874520"/>
            <a:ext cx="1874520" cy="685800"/>
          </a:xfrm>
          <a:prstGeom prst="rect">
            <a:avLst/>
          </a:prstGeom>
          <a:noFill/>
          <a:ln/>
        </p:spPr>
        <p:txBody>
          <a:bodyPr wrap="square" lIns="0" tIns="0" rIns="0" bIns="0" rtlCol="0" anchor="ctr"/>
          <a:lstStyle/>
          <a:p>
            <a:pPr algn="ctr" indent="0" marL="0">
              <a:buNone/>
            </a:pPr>
            <a:r>
              <a:rPr lang="en-US" sz="3000" b="1" dirty="0">
                <a:solidFill>
                  <a:srgbClr val="2F9E44"/>
                </a:solidFill>
                <a:latin typeface="Cambria" pitchFamily="34" charset="0"/>
                <a:ea typeface="Cambria" pitchFamily="34" charset="-122"/>
                <a:cs typeface="Cambria" pitchFamily="34" charset="-120"/>
              </a:rPr>
              <a:t>0</a:t>
            </a:r>
            <a:endParaRPr lang="en-US" sz="3000" dirty="0"/>
          </a:p>
        </p:txBody>
      </p:sp>
      <p:sp>
        <p:nvSpPr>
          <p:cNvPr id="9" name="Text 7"/>
          <p:cNvSpPr txBox="1"/>
          <p:nvPr/>
        </p:nvSpPr>
        <p:spPr>
          <a:xfrm>
            <a:off x="2651760" y="2560320"/>
            <a:ext cx="1691640" cy="457200"/>
          </a:xfrm>
          <a:prstGeom prst="rect">
            <a:avLst/>
          </a:prstGeom>
          <a:noFill/>
          <a:ln/>
        </p:spPr>
        <p:txBody>
          <a:bodyPr wrap="square" lIns="0" tIns="0" rIns="0" bIns="0" rtlCol="0" anchor="ctr"/>
          <a:lstStyle/>
          <a:p>
            <a:pPr algn="ctr" indent="0" marL="0">
              <a:buNone/>
            </a:pPr>
            <a:r>
              <a:rPr lang="en-US" sz="1200" dirty="0">
                <a:solidFill>
                  <a:srgbClr val="5B6B7A"/>
                </a:solidFill>
                <a:latin typeface="Calibri" pitchFamily="34" charset="0"/>
                <a:ea typeface="Calibri" pitchFamily="34" charset="-122"/>
                <a:cs typeface="Calibri" pitchFamily="34" charset="-120"/>
              </a:rPr>
              <a:t>runtime dependencies</a:t>
            </a:r>
            <a:endParaRPr lang="en-US" sz="1200" dirty="0"/>
          </a:p>
        </p:txBody>
      </p:sp>
      <p:sp>
        <p:nvSpPr>
          <p:cNvPr id="10" name="Shape 8"/>
          <p:cNvSpPr/>
          <p:nvPr/>
        </p:nvSpPr>
        <p:spPr>
          <a:xfrm>
            <a:off x="4663440" y="1737360"/>
            <a:ext cx="1874520" cy="1371600"/>
          </a:xfrm>
          <a:prstGeom prst="roundRect">
            <a:avLst>
              <a:gd name="adj" fmla="val 5333"/>
            </a:avLst>
          </a:prstGeom>
          <a:solidFill>
            <a:srgbClr val="F1F3F5"/>
          </a:solidFill>
          <a:ln w="12700">
            <a:solidFill>
              <a:srgbClr val="DEE2E6"/>
            </a:solidFill>
            <a:prstDash val="solid"/>
          </a:ln>
        </p:spPr>
      </p:sp>
      <p:sp>
        <p:nvSpPr>
          <p:cNvPr id="11" name="Text 9"/>
          <p:cNvSpPr txBox="1"/>
          <p:nvPr/>
        </p:nvSpPr>
        <p:spPr>
          <a:xfrm>
            <a:off x="4663440" y="1874520"/>
            <a:ext cx="1874520" cy="685800"/>
          </a:xfrm>
          <a:prstGeom prst="rect">
            <a:avLst/>
          </a:prstGeom>
          <a:noFill/>
          <a:ln/>
        </p:spPr>
        <p:txBody>
          <a:bodyPr wrap="square" lIns="0" tIns="0" rIns="0" bIns="0" rtlCol="0" anchor="ctr"/>
          <a:lstStyle/>
          <a:p>
            <a:pPr algn="ctr" indent="0" marL="0">
              <a:buNone/>
            </a:pPr>
            <a:r>
              <a:rPr lang="en-US" sz="3000" b="1" dirty="0">
                <a:solidFill>
                  <a:srgbClr val="2F9E44"/>
                </a:solidFill>
                <a:latin typeface="Cambria" pitchFamily="34" charset="0"/>
                <a:ea typeface="Cambria" pitchFamily="34" charset="-122"/>
                <a:cs typeface="Cambria" pitchFamily="34" charset="-120"/>
              </a:rPr>
              <a:t>129</a:t>
            </a:r>
            <a:endParaRPr lang="en-US" sz="3000" dirty="0"/>
          </a:p>
        </p:txBody>
      </p:sp>
      <p:sp>
        <p:nvSpPr>
          <p:cNvPr id="12" name="Text 10"/>
          <p:cNvSpPr txBox="1"/>
          <p:nvPr/>
        </p:nvSpPr>
        <p:spPr>
          <a:xfrm>
            <a:off x="4754880" y="2560320"/>
            <a:ext cx="1691640" cy="457200"/>
          </a:xfrm>
          <a:prstGeom prst="rect">
            <a:avLst/>
          </a:prstGeom>
          <a:noFill/>
          <a:ln/>
        </p:spPr>
        <p:txBody>
          <a:bodyPr wrap="square" lIns="0" tIns="0" rIns="0" bIns="0" rtlCol="0" anchor="ctr"/>
          <a:lstStyle/>
          <a:p>
            <a:pPr algn="ctr" indent="0" marL="0">
              <a:buNone/>
            </a:pPr>
            <a:r>
              <a:rPr lang="en-US" sz="1200" dirty="0">
                <a:solidFill>
                  <a:srgbClr val="5B6B7A"/>
                </a:solidFill>
                <a:latin typeface="Calibri" pitchFamily="34" charset="0"/>
                <a:ea typeface="Calibri" pitchFamily="34" charset="-122"/>
                <a:cs typeface="Calibri" pitchFamily="34" charset="-120"/>
              </a:rPr>
              <a:t>tests, no mocks</a:t>
            </a:r>
            <a:endParaRPr lang="en-US" sz="1200" dirty="0"/>
          </a:p>
        </p:txBody>
      </p:sp>
      <p:sp>
        <p:nvSpPr>
          <p:cNvPr id="13" name="Shape 11"/>
          <p:cNvSpPr/>
          <p:nvPr/>
        </p:nvSpPr>
        <p:spPr>
          <a:xfrm>
            <a:off x="6766560" y="1737360"/>
            <a:ext cx="1874520" cy="1371600"/>
          </a:xfrm>
          <a:prstGeom prst="roundRect">
            <a:avLst>
              <a:gd name="adj" fmla="val 5333"/>
            </a:avLst>
          </a:prstGeom>
          <a:solidFill>
            <a:srgbClr val="F1F3F5"/>
          </a:solidFill>
          <a:ln w="12700">
            <a:solidFill>
              <a:srgbClr val="DEE2E6"/>
            </a:solidFill>
            <a:prstDash val="solid"/>
          </a:ln>
        </p:spPr>
      </p:sp>
      <p:sp>
        <p:nvSpPr>
          <p:cNvPr id="14" name="Text 12"/>
          <p:cNvSpPr txBox="1"/>
          <p:nvPr/>
        </p:nvSpPr>
        <p:spPr>
          <a:xfrm>
            <a:off x="6766560" y="1874520"/>
            <a:ext cx="1874520" cy="685800"/>
          </a:xfrm>
          <a:prstGeom prst="rect">
            <a:avLst/>
          </a:prstGeom>
          <a:noFill/>
          <a:ln/>
        </p:spPr>
        <p:txBody>
          <a:bodyPr wrap="square" lIns="0" tIns="0" rIns="0" bIns="0" rtlCol="0" anchor="ctr"/>
          <a:lstStyle/>
          <a:p>
            <a:pPr algn="ctr" indent="0" marL="0">
              <a:buNone/>
            </a:pPr>
            <a:r>
              <a:rPr lang="en-US" sz="3000" b="1" dirty="0">
                <a:solidFill>
                  <a:srgbClr val="2F9E44"/>
                </a:solidFill>
                <a:latin typeface="Cambria" pitchFamily="34" charset="0"/>
                <a:ea typeface="Cambria" pitchFamily="34" charset="-122"/>
                <a:cs typeface="Cambria" pitchFamily="34" charset="-120"/>
              </a:rPr>
              <a:t>~100 ms</a:t>
            </a:r>
            <a:endParaRPr lang="en-US" sz="3000" dirty="0"/>
          </a:p>
        </p:txBody>
      </p:sp>
      <p:sp>
        <p:nvSpPr>
          <p:cNvPr id="15" name="Text 13"/>
          <p:cNvSpPr txBox="1"/>
          <p:nvPr/>
        </p:nvSpPr>
        <p:spPr>
          <a:xfrm>
            <a:off x="6858000" y="2560320"/>
            <a:ext cx="1691640" cy="457200"/>
          </a:xfrm>
          <a:prstGeom prst="rect">
            <a:avLst/>
          </a:prstGeom>
          <a:noFill/>
          <a:ln/>
        </p:spPr>
        <p:txBody>
          <a:bodyPr wrap="square" lIns="0" tIns="0" rIns="0" bIns="0" rtlCol="0" anchor="ctr"/>
          <a:lstStyle/>
          <a:p>
            <a:pPr algn="ctr" indent="0" marL="0">
              <a:buNone/>
            </a:pPr>
            <a:r>
              <a:rPr lang="en-US" sz="1200" dirty="0">
                <a:solidFill>
                  <a:srgbClr val="5B6B7A"/>
                </a:solidFill>
                <a:latin typeface="Calibri" pitchFamily="34" charset="0"/>
                <a:ea typeface="Calibri" pitchFamily="34" charset="-122"/>
                <a:cs typeface="Calibri" pitchFamily="34" charset="-120"/>
              </a:rPr>
              <a:t>startup, cold JVM</a:t>
            </a:r>
            <a:endParaRPr lang="en-US" sz="1200" dirty="0"/>
          </a:p>
        </p:txBody>
      </p:sp>
      <p:sp>
        <p:nvSpPr>
          <p:cNvPr id="16" name="Shape 14"/>
          <p:cNvSpPr/>
          <p:nvPr/>
        </p:nvSpPr>
        <p:spPr>
          <a:xfrm>
            <a:off x="457200" y="3566160"/>
            <a:ext cx="8229600" cy="594360"/>
          </a:xfrm>
          <a:prstGeom prst="roundRect">
            <a:avLst>
              <a:gd name="adj" fmla="val 12308"/>
            </a:avLst>
          </a:prstGeom>
          <a:solidFill>
            <a:srgbClr val="FFFFFF"/>
          </a:solidFill>
          <a:ln w="25400">
            <a:solidFill>
              <a:srgbClr val="2F9E44"/>
            </a:solidFill>
            <a:prstDash val="solid"/>
          </a:ln>
        </p:spPr>
      </p:sp>
      <p:sp>
        <p:nvSpPr>
          <p:cNvPr id="17" name="Text 15"/>
          <p:cNvSpPr txBox="1"/>
          <p:nvPr/>
        </p:nvSpPr>
        <p:spPr>
          <a:xfrm>
            <a:off x="640080" y="3566160"/>
            <a:ext cx="7863840" cy="594360"/>
          </a:xfrm>
          <a:prstGeom prst="rect">
            <a:avLst/>
          </a:prstGeom>
          <a:noFill/>
          <a:ln/>
        </p:spPr>
        <p:txBody>
          <a:bodyPr wrap="square" lIns="0" tIns="0" rIns="0" bIns="0" rtlCol="0" anchor="ctr"/>
          <a:lstStyle/>
          <a:p>
            <a:pPr indent="0" marL="0">
              <a:buNone/>
            </a:pPr>
            <a:r>
              <a:rPr lang="en-US" sz="1500" b="1" dirty="0">
                <a:solidFill>
                  <a:srgbClr val="2F9E44"/>
                </a:solidFill>
                <a:latin typeface="Calibri" pitchFamily="34" charset="0"/>
                <a:ea typeface="Calibri" pitchFamily="34" charset="-122"/>
                <a:cs typeface="Calibri" pitchFamily="34" charset="-120"/>
              </a:rPr>
              <a:t>Small enough that every claim in this talk can be checked in one afternoon.</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430"/>
        </a:solidFill>
      </p:bgPr>
    </p:bg>
    <p:spTree>
      <p:nvGrpSpPr>
        <p:cNvPr id="1" name=""/>
        <p:cNvGrpSpPr/>
        <p:nvPr/>
      </p:nvGrpSpPr>
      <p:grpSpPr>
        <a:xfrm>
          <a:off x="0" y="0"/>
          <a:ext cx="0" cy="0"/>
          <a:chOff x="0" y="0"/>
          <a:chExt cx="0" cy="0"/>
        </a:xfrm>
      </p:grpSpPr>
      <p:sp>
        <p:nvSpPr>
          <p:cNvPr id="2" name="Shape 0"/>
          <p:cNvSpPr/>
          <p:nvPr/>
        </p:nvSpPr>
        <p:spPr>
          <a:xfrm>
            <a:off x="822960" y="1920240"/>
            <a:ext cx="1005840" cy="1005840"/>
          </a:xfrm>
          <a:prstGeom prst="ellipse">
            <a:avLst/>
          </a:prstGeom>
          <a:solidFill>
            <a:srgbClr val="2F9E44"/>
          </a:solidFill>
          <a:ln/>
        </p:spPr>
      </p:sp>
      <p:sp>
        <p:nvSpPr>
          <p:cNvPr id="3" name="Text 1"/>
          <p:cNvSpPr txBox="1"/>
          <p:nvPr/>
        </p:nvSpPr>
        <p:spPr>
          <a:xfrm>
            <a:off x="822960" y="1920240"/>
            <a:ext cx="1005840" cy="10058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4" name="Text 2"/>
          <p:cNvSpPr txBox="1"/>
          <p:nvPr/>
        </p:nvSpPr>
        <p:spPr>
          <a:xfrm>
            <a:off x="2103120" y="1965960"/>
            <a:ext cx="6400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an annotation really is</a:t>
            </a:r>
            <a:endParaRPr lang="en-US" sz="3000" dirty="0"/>
          </a:p>
        </p:txBody>
      </p:sp>
      <p:sp>
        <p:nvSpPr>
          <p:cNvPr id="5" name="Text 3"/>
          <p:cNvSpPr txBox="1"/>
          <p:nvPr/>
        </p:nvSpPr>
        <p:spPr>
          <a:xfrm>
            <a:off x="2103120" y="2606040"/>
            <a:ext cx="6400800" cy="457200"/>
          </a:xfrm>
          <a:prstGeom prst="rect">
            <a:avLst/>
          </a:prstGeom>
          <a:noFill/>
          <a:ln/>
        </p:spPr>
        <p:txBody>
          <a:bodyPr wrap="square" lIns="0" tIns="0" rIns="0" bIns="0" rtlCol="0" anchor="ctr"/>
          <a:lstStyle/>
          <a:p>
            <a:pPr indent="0" marL="0">
              <a:buNone/>
            </a:pPr>
            <a:r>
              <a:rPr lang="en-US" sz="1600" dirty="0">
                <a:solidFill>
                  <a:srgbClr val="C7D2DD"/>
                </a:solidFill>
                <a:latin typeface="Calibri" pitchFamily="34" charset="0"/>
                <a:ea typeface="Calibri" pitchFamily="34" charset="-122"/>
                <a:cs typeface="Calibri" pitchFamily="34" charset="-120"/>
              </a:rPr>
              <a:t>The part nobody explains, and everything depends on</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2600" b="1" dirty="0">
                <a:solidFill>
                  <a:srgbClr val="22303C"/>
                </a:solidFill>
                <a:latin typeface="Cambria" pitchFamily="34" charset="0"/>
                <a:ea typeface="Cambria" pitchFamily="34" charset="-122"/>
                <a:cs typeface="Cambria" pitchFamily="34" charset="-120"/>
              </a:rPr>
              <a:t>An annotation is an interface with no behaviour</a:t>
            </a:r>
            <a:endParaRPr lang="en-US" sz="26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The real file from the project</a:t>
            </a:r>
            <a:endParaRPr lang="en-US" sz="1500" dirty="0"/>
          </a:p>
        </p:txBody>
      </p:sp>
      <p:sp>
        <p:nvSpPr>
          <p:cNvPr id="4" name="Shape 2"/>
          <p:cNvSpPr/>
          <p:nvPr/>
        </p:nvSpPr>
        <p:spPr>
          <a:xfrm>
            <a:off x="457200" y="1371600"/>
            <a:ext cx="4937760" cy="2194560"/>
          </a:xfrm>
          <a:prstGeom prst="roundRect">
            <a:avLst>
              <a:gd name="adj" fmla="val 2500"/>
            </a:avLst>
          </a:prstGeom>
          <a:solidFill>
            <a:srgbClr val="F1F3F5"/>
          </a:solidFill>
          <a:ln w="12700">
            <a:solidFill>
              <a:srgbClr val="DEE2E6"/>
            </a:solidFill>
            <a:prstDash val="solid"/>
          </a:ln>
        </p:spPr>
      </p:sp>
      <p:sp>
        <p:nvSpPr>
          <p:cNvPr id="5" name="Text 3"/>
          <p:cNvSpPr txBox="1"/>
          <p:nvPr/>
        </p:nvSpPr>
        <p:spPr>
          <a:xfrm>
            <a:off x="621792" y="1481328"/>
            <a:ext cx="4608576" cy="1975104"/>
          </a:xfrm>
          <a:prstGeom prst="rect">
            <a:avLst/>
          </a:prstGeom>
          <a:noFill/>
          <a:ln/>
        </p:spPr>
        <p:txBody>
          <a:bodyPr wrap="square" lIns="0" tIns="0" rIns="0" bIns="0" rtlCol="0" anchor="ctr"/>
          <a:lstStyle/>
          <a:p>
            <a:pPr indent="0" marL="0">
              <a:lnSpc>
                <a:spcPct val="115000"/>
              </a:lnSpc>
              <a:buNone/>
            </a:pPr>
            <a:r>
              <a:rPr lang="en-US" sz="1400" dirty="0">
                <a:solidFill>
                  <a:srgbClr val="22303C"/>
                </a:solidFill>
                <a:latin typeface="Courier New" pitchFamily="34" charset="0"/>
                <a:ea typeface="Courier New" pitchFamily="34" charset="-122"/>
                <a:cs typeface="Courier New" pitchFamily="34" charset="-120"/>
              </a:rPr>
              <a:t>@Documented</a:t>
            </a:r>
            <a:endParaRPr lang="en-US" sz="1400" dirty="0"/>
          </a:p>
          <a:p>
            <a:pPr indent="0" marL="0">
              <a:lnSpc>
                <a:spcPct val="115000"/>
              </a:lnSpc>
              <a:buNone/>
            </a:pPr>
            <a:r>
              <a:rPr lang="en-US" sz="1400" dirty="0">
                <a:solidFill>
                  <a:srgbClr val="22303C"/>
                </a:solidFill>
                <a:latin typeface="Courier New" pitchFamily="34" charset="0"/>
                <a:ea typeface="Courier New" pitchFamily="34" charset="-122"/>
                <a:cs typeface="Courier New" pitchFamily="34" charset="-120"/>
              </a:rPr>
              <a:t>@Retention(RetentionPolicy.RUNTIME)</a:t>
            </a:r>
            <a:endParaRPr lang="en-US" sz="1400" dirty="0"/>
          </a:p>
          <a:p>
            <a:pPr indent="0" marL="0">
              <a:lnSpc>
                <a:spcPct val="115000"/>
              </a:lnSpc>
              <a:buNone/>
            </a:pPr>
            <a:r>
              <a:rPr lang="en-US" sz="1400" dirty="0">
                <a:solidFill>
                  <a:srgbClr val="22303C"/>
                </a:solidFill>
                <a:latin typeface="Courier New" pitchFamily="34" charset="0"/>
                <a:ea typeface="Courier New" pitchFamily="34" charset="-122"/>
                <a:cs typeface="Courier New" pitchFamily="34" charset="-120"/>
              </a:rPr>
              <a:t>@Target(ElementType.TYPE)</a:t>
            </a:r>
            <a:endParaRPr lang="en-US" sz="1400" dirty="0"/>
          </a:p>
          <a:p>
            <a:pPr indent="0" marL="0">
              <a:lnSpc>
                <a:spcPct val="115000"/>
              </a:lnSpc>
              <a:buNone/>
            </a:pPr>
            <a:r>
              <a:rPr lang="en-US" sz="1400" dirty="0">
                <a:solidFill>
                  <a:srgbClr val="22303C"/>
                </a:solidFill>
                <a:latin typeface="Courier New" pitchFamily="34" charset="0"/>
                <a:ea typeface="Courier New" pitchFamily="34" charset="-122"/>
                <a:cs typeface="Courier New" pitchFamily="34" charset="-120"/>
              </a:rPr>
              <a:t>public @interface Component {</a:t>
            </a:r>
            <a:endParaRPr lang="en-US" sz="1400" dirty="0"/>
          </a:p>
          <a:p>
            <a:pPr indent="0" marL="0">
              <a:lnSpc>
                <a:spcPct val="115000"/>
              </a:lnSpc>
              <a:buNone/>
            </a:pPr>
            <a:endParaRPr lang="en-US" sz="1400" dirty="0"/>
          </a:p>
          <a:p>
            <a:pPr indent="0" marL="0">
              <a:lnSpc>
                <a:spcPct val="115000"/>
              </a:lnSpc>
              <a:buNone/>
            </a:pPr>
            <a:r>
              <a:rPr lang="en-US" sz="1400" dirty="0">
                <a:solidFill>
                  <a:srgbClr val="22303C"/>
                </a:solidFill>
                <a:latin typeface="Courier New" pitchFamily="34" charset="0"/>
                <a:ea typeface="Courier New" pitchFamily="34" charset="-122"/>
                <a:cs typeface="Courier New" pitchFamily="34" charset="-120"/>
              </a:rPr>
              <a:t>    String value() default "";</a:t>
            </a:r>
            <a:endParaRPr lang="en-US" sz="1400" dirty="0"/>
          </a:p>
          <a:p>
            <a:pPr indent="0" marL="0">
              <a:lnSpc>
                <a:spcPct val="115000"/>
              </a:lnSpc>
              <a:buNone/>
            </a:pPr>
            <a:r>
              <a:rPr lang="en-US" sz="1400" dirty="0">
                <a:solidFill>
                  <a:srgbClr val="22303C"/>
                </a:solidFill>
                <a:latin typeface="Courier New" pitchFamily="34" charset="0"/>
                <a:ea typeface="Courier New" pitchFamily="34" charset="-122"/>
                <a:cs typeface="Courier New" pitchFamily="34" charset="-120"/>
              </a:rPr>
              <a:t>}</a:t>
            </a:r>
            <a:endParaRPr lang="en-US" sz="1400" dirty="0"/>
          </a:p>
        </p:txBody>
      </p:sp>
      <p:sp>
        <p:nvSpPr>
          <p:cNvPr id="6" name="Text 4"/>
          <p:cNvSpPr txBox="1"/>
          <p:nvPr/>
        </p:nvSpPr>
        <p:spPr>
          <a:xfrm>
            <a:off x="5669280" y="1463040"/>
            <a:ext cx="3108960" cy="365760"/>
          </a:xfrm>
          <a:prstGeom prst="rect">
            <a:avLst/>
          </a:prstGeom>
          <a:noFill/>
          <a:ln/>
        </p:spPr>
        <p:txBody>
          <a:bodyPr wrap="square" lIns="0" tIns="0" rIns="0" bIns="0" rtlCol="0" anchor="ctr"/>
          <a:lstStyle/>
          <a:p>
            <a:pPr indent="0" marL="0">
              <a:buNone/>
            </a:pPr>
            <a:r>
              <a:rPr lang="en-US" sz="2000" b="1" dirty="0">
                <a:solidFill>
                  <a:srgbClr val="22303C"/>
                </a:solidFill>
                <a:latin typeface="Cambria" pitchFamily="34" charset="0"/>
                <a:ea typeface="Cambria" pitchFamily="34" charset="-122"/>
                <a:cs typeface="Cambria" pitchFamily="34" charset="-120"/>
              </a:rPr>
              <a:t>Six lines.</a:t>
            </a:r>
            <a:endParaRPr lang="en-US" sz="2000" dirty="0"/>
          </a:p>
        </p:txBody>
      </p:sp>
      <p:sp>
        <p:nvSpPr>
          <p:cNvPr id="7" name="Text 5"/>
          <p:cNvSpPr txBox="1"/>
          <p:nvPr/>
        </p:nvSpPr>
        <p:spPr>
          <a:xfrm>
            <a:off x="5669280" y="1920240"/>
            <a:ext cx="3108960" cy="1554480"/>
          </a:xfrm>
          <a:prstGeom prst="rect">
            <a:avLst/>
          </a:prstGeom>
          <a:noFill/>
          <a:ln/>
        </p:spPr>
        <p:txBody>
          <a:bodyPr wrap="square" lIns="0" tIns="0" rIns="0" bIns="0" rtlCol="0" anchor="ctr"/>
          <a:lstStyle/>
          <a:p>
            <a:pPr indent="0" marL="0">
              <a:buNone/>
            </a:pPr>
            <a:r>
              <a:rPr lang="en-US" sz="1400" dirty="0">
                <a:solidFill>
                  <a:srgbClr val="5B6B7A"/>
                </a:solidFill>
                <a:latin typeface="Calibri" pitchFamily="34" charset="0"/>
                <a:ea typeface="Calibri" pitchFamily="34" charset="-122"/>
                <a:cs typeface="Calibri" pitchFamily="34" charset="-120"/>
              </a:rPr>
              <a:t>No code runs. No class is created. It only says: someone might be interested in this class.</a:t>
            </a:r>
            <a:endParaRPr lang="en-US" sz="1400" dirty="0"/>
          </a:p>
          <a:p>
            <a:pPr indent="0" marL="0">
              <a:buNone/>
            </a:pPr>
            <a:endParaRPr lang="en-US" sz="1400" dirty="0"/>
          </a:p>
          <a:p>
            <a:pPr indent="0" marL="0">
              <a:buNone/>
            </a:pPr>
            <a:r>
              <a:rPr lang="en-US" sz="1400" dirty="0">
                <a:solidFill>
                  <a:srgbClr val="5B6B7A"/>
                </a:solidFill>
                <a:latin typeface="Calibri" pitchFamily="34" charset="0"/>
                <a:ea typeface="Calibri" pitchFamily="34" charset="-122"/>
                <a:cs typeface="Calibri" pitchFamily="34" charset="-120"/>
              </a:rPr>
              <a:t>The interesting part is the two lines above it.</a:t>
            </a:r>
            <a:endParaRPr lang="en-US" sz="1400" dirty="0"/>
          </a:p>
        </p:txBody>
      </p:sp>
      <p:sp>
        <p:nvSpPr>
          <p:cNvPr id="8" name="Shape 6"/>
          <p:cNvSpPr/>
          <p:nvPr/>
        </p:nvSpPr>
        <p:spPr>
          <a:xfrm>
            <a:off x="457200" y="3931920"/>
            <a:ext cx="8229600" cy="594360"/>
          </a:xfrm>
          <a:prstGeom prst="roundRect">
            <a:avLst>
              <a:gd name="adj" fmla="val 12308"/>
            </a:avLst>
          </a:prstGeom>
          <a:solidFill>
            <a:srgbClr val="FFFFFF"/>
          </a:solidFill>
          <a:ln w="25400">
            <a:solidFill>
              <a:srgbClr val="2F9E44"/>
            </a:solidFill>
            <a:prstDash val="solid"/>
          </a:ln>
        </p:spPr>
      </p:sp>
      <p:sp>
        <p:nvSpPr>
          <p:cNvPr id="9" name="Text 7"/>
          <p:cNvSpPr txBox="1"/>
          <p:nvPr/>
        </p:nvSpPr>
        <p:spPr>
          <a:xfrm>
            <a:off x="640080" y="3931920"/>
            <a:ext cx="7863840" cy="594360"/>
          </a:xfrm>
          <a:prstGeom prst="rect">
            <a:avLst/>
          </a:prstGeom>
          <a:noFill/>
          <a:ln/>
        </p:spPr>
        <p:txBody>
          <a:bodyPr wrap="square" lIns="0" tIns="0" rIns="0" bIns="0" rtlCol="0" anchor="ctr"/>
          <a:lstStyle/>
          <a:p>
            <a:pPr indent="0" marL="0">
              <a:buNone/>
            </a:pPr>
            <a:r>
              <a:rPr lang="en-US" sz="1500" b="1" dirty="0">
                <a:solidFill>
                  <a:srgbClr val="2F9E44"/>
                </a:solidFill>
                <a:latin typeface="Calibri" pitchFamily="34" charset="0"/>
                <a:ea typeface="Calibri" pitchFamily="34" charset="-122"/>
                <a:cs typeface="Calibri" pitchFamily="34" charset="-120"/>
              </a:rPr>
              <a:t>@interface, not interface. The compiler turns it into metadata stored in the class file.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C:\Users\ayoub\AppData\Local\Temp\claude\C--Users-ayoub-Desktop-spring-app\fce785a8-6c80-4616-ac90-1d6e8a1fc6e3\scratchpad\diagrams\d2-annotation.png">    </p:cNvPr>
          <p:cNvPicPr>
            <a:picLocks noChangeAspect="1"/>
          </p:cNvPicPr>
          <p:nvPr/>
        </p:nvPicPr>
        <p:blipFill>
          <a:blip r:embed="rId1"/>
          <a:stretch>
            <a:fillRect/>
          </a:stretch>
        </p:blipFill>
        <p:spPr>
          <a:xfrm>
            <a:off x="457200" y="256032"/>
            <a:ext cx="8229600" cy="462686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3000" b="1" dirty="0">
                <a:solidFill>
                  <a:srgbClr val="22303C"/>
                </a:solidFill>
                <a:latin typeface="Cambria" pitchFamily="34" charset="0"/>
                <a:ea typeface="Cambria" pitchFamily="34" charset="-122"/>
                <a:cs typeface="Cambria" pitchFamily="34" charset="-120"/>
              </a:rPr>
              <a:t>Proof: javap, and one word changed</a:t>
            </a:r>
            <a:endParaRPr lang="en-US" sz="30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The demo that makes it click</a:t>
            </a:r>
            <a:endParaRPr lang="en-US" sz="1500" dirty="0"/>
          </a:p>
        </p:txBody>
      </p:sp>
      <p:sp>
        <p:nvSpPr>
          <p:cNvPr id="4" name="Shape 2"/>
          <p:cNvSpPr/>
          <p:nvPr/>
        </p:nvSpPr>
        <p:spPr>
          <a:xfrm>
            <a:off x="457200" y="1371600"/>
            <a:ext cx="4114800" cy="1554480"/>
          </a:xfrm>
          <a:prstGeom prst="roundRect">
            <a:avLst>
              <a:gd name="adj" fmla="val 3529"/>
            </a:avLst>
          </a:prstGeom>
          <a:solidFill>
            <a:srgbClr val="F1F3F5"/>
          </a:solidFill>
          <a:ln w="12700">
            <a:solidFill>
              <a:srgbClr val="DEE2E6"/>
            </a:solidFill>
            <a:prstDash val="solid"/>
          </a:ln>
        </p:spPr>
      </p:sp>
      <p:sp>
        <p:nvSpPr>
          <p:cNvPr id="5" name="Text 3"/>
          <p:cNvSpPr txBox="1"/>
          <p:nvPr/>
        </p:nvSpPr>
        <p:spPr>
          <a:xfrm>
            <a:off x="621792" y="1481328"/>
            <a:ext cx="3785616" cy="1335024"/>
          </a:xfrm>
          <a:prstGeom prst="rect">
            <a:avLst/>
          </a:prstGeom>
          <a:noFill/>
          <a:ln/>
        </p:spPr>
        <p:txBody>
          <a:bodyPr wrap="square" lIns="0" tIns="0" rIns="0" bIns="0" rtlCol="0" anchor="ctr"/>
          <a:lstStyle/>
          <a:p>
            <a:pPr indent="0" marL="0">
              <a:lnSpc>
                <a:spcPct val="115000"/>
              </a:lnSpc>
              <a:buNone/>
            </a:pPr>
            <a:r>
              <a:rPr lang="en-US" sz="1100" dirty="0">
                <a:solidFill>
                  <a:srgbClr val="22303C"/>
                </a:solidFill>
                <a:latin typeface="Courier New" pitchFamily="34" charset="0"/>
                <a:ea typeface="Courier New" pitchFamily="34" charset="-122"/>
                <a:cs typeface="Courier New" pitchFamily="34" charset="-120"/>
              </a:rPr>
              <a:t>$ javap -v AuditService.class</a:t>
            </a:r>
            <a:endParaRPr lang="en-US" sz="1100" dirty="0"/>
          </a:p>
          <a:p>
            <a:pPr indent="0" marL="0">
              <a:lnSpc>
                <a:spcPct val="115000"/>
              </a:lnSpc>
              <a:buNone/>
            </a:pPr>
            <a:endParaRPr lang="en-US" sz="1100" dirty="0"/>
          </a:p>
          <a:p>
            <a:pPr indent="0" marL="0">
              <a:lnSpc>
                <a:spcPct val="115000"/>
              </a:lnSpc>
              <a:buNone/>
            </a:pPr>
            <a:r>
              <a:rPr lang="en-US" sz="1100" dirty="0">
                <a:solidFill>
                  <a:srgbClr val="22303C"/>
                </a:solidFill>
                <a:latin typeface="Courier New" pitchFamily="34" charset="0"/>
                <a:ea typeface="Courier New" pitchFamily="34" charset="-122"/>
                <a:cs typeface="Courier New" pitchFamily="34" charset="-120"/>
              </a:rPr>
              <a:t>RuntimeVisibleAnnotations:</a:t>
            </a:r>
            <a:endParaRPr lang="en-US" sz="1100" dirty="0"/>
          </a:p>
          <a:p>
            <a:pPr indent="0" marL="0">
              <a:lnSpc>
                <a:spcPct val="115000"/>
              </a:lnSpc>
              <a:buNone/>
            </a:pPr>
            <a:r>
              <a:rPr lang="en-US" sz="1100" dirty="0">
                <a:solidFill>
                  <a:srgbClr val="22303C"/>
                </a:solidFill>
                <a:latin typeface="Courier New" pitchFamily="34" charset="0"/>
                <a:ea typeface="Courier New" pitchFamily="34" charset="-122"/>
                <a:cs typeface="Courier New" pitchFamily="34" charset="-120"/>
              </a:rPr>
              <a:t>  0: #14()</a:t>
            </a:r>
            <a:endParaRPr lang="en-US" sz="1100" dirty="0"/>
          </a:p>
          <a:p>
            <a:pPr indent="0" marL="0">
              <a:lnSpc>
                <a:spcPct val="115000"/>
              </a:lnSpc>
              <a:buNone/>
            </a:pPr>
            <a:r>
              <a:rPr lang="en-US" sz="1100" dirty="0">
                <a:solidFill>
                  <a:srgbClr val="22303C"/>
                </a:solidFill>
                <a:latin typeface="Courier New" pitchFamily="34" charset="0"/>
                <a:ea typeface="Courier New" pitchFamily="34" charset="-122"/>
                <a:cs typeface="Courier New" pitchFamily="34" charset="-120"/>
              </a:rPr>
              <a:t>    io.minispring.container.annotation.Component</a:t>
            </a:r>
            <a:endParaRPr lang="en-US" sz="1100" dirty="0"/>
          </a:p>
        </p:txBody>
      </p:sp>
      <p:sp>
        <p:nvSpPr>
          <p:cNvPr id="6" name="Text 4"/>
          <p:cNvSpPr txBox="1"/>
          <p:nvPr/>
        </p:nvSpPr>
        <p:spPr>
          <a:xfrm>
            <a:off x="457200" y="3017520"/>
            <a:ext cx="4114800" cy="320040"/>
          </a:xfrm>
          <a:prstGeom prst="rect">
            <a:avLst/>
          </a:prstGeom>
          <a:noFill/>
          <a:ln/>
        </p:spPr>
        <p:txBody>
          <a:bodyPr wrap="square" lIns="0" tIns="0" rIns="0" bIns="0" rtlCol="0" anchor="ctr"/>
          <a:lstStyle/>
          <a:p>
            <a:pPr algn="ctr" indent="0" marL="0">
              <a:buNone/>
            </a:pPr>
            <a:r>
              <a:rPr lang="en-US" sz="1400" b="1" dirty="0">
                <a:solidFill>
                  <a:srgbClr val="2F9E44"/>
                </a:solidFill>
                <a:latin typeface="Calibri" pitchFamily="34" charset="0"/>
                <a:ea typeface="Calibri" pitchFamily="34" charset="-122"/>
                <a:cs typeface="Calibri" pitchFamily="34" charset="-120"/>
              </a:rPr>
              <a:t>RUNTIME</a:t>
            </a:r>
            <a:endParaRPr lang="en-US" sz="1400" dirty="0"/>
          </a:p>
        </p:txBody>
      </p:sp>
      <p:sp>
        <p:nvSpPr>
          <p:cNvPr id="7" name="Shape 5"/>
          <p:cNvSpPr/>
          <p:nvPr/>
        </p:nvSpPr>
        <p:spPr>
          <a:xfrm>
            <a:off x="4663440" y="1371600"/>
            <a:ext cx="4114800" cy="1554480"/>
          </a:xfrm>
          <a:prstGeom prst="roundRect">
            <a:avLst>
              <a:gd name="adj" fmla="val 3529"/>
            </a:avLst>
          </a:prstGeom>
          <a:solidFill>
            <a:srgbClr val="F1F3F5"/>
          </a:solidFill>
          <a:ln w="12700">
            <a:solidFill>
              <a:srgbClr val="DEE2E6"/>
            </a:solidFill>
            <a:prstDash val="solid"/>
          </a:ln>
        </p:spPr>
      </p:sp>
      <p:sp>
        <p:nvSpPr>
          <p:cNvPr id="8" name="Text 6"/>
          <p:cNvSpPr txBox="1"/>
          <p:nvPr/>
        </p:nvSpPr>
        <p:spPr>
          <a:xfrm>
            <a:off x="4828032" y="1481328"/>
            <a:ext cx="3785616" cy="1335024"/>
          </a:xfrm>
          <a:prstGeom prst="rect">
            <a:avLst/>
          </a:prstGeom>
          <a:noFill/>
          <a:ln/>
        </p:spPr>
        <p:txBody>
          <a:bodyPr wrap="square" lIns="0" tIns="0" rIns="0" bIns="0" rtlCol="0" anchor="ctr"/>
          <a:lstStyle/>
          <a:p>
            <a:pPr indent="0" marL="0">
              <a:lnSpc>
                <a:spcPct val="115000"/>
              </a:lnSpc>
              <a:buNone/>
            </a:pPr>
            <a:r>
              <a:rPr lang="en-US" sz="1100" dirty="0">
                <a:solidFill>
                  <a:srgbClr val="22303C"/>
                </a:solidFill>
                <a:latin typeface="Courier New" pitchFamily="34" charset="0"/>
                <a:ea typeface="Courier New" pitchFamily="34" charset="-122"/>
                <a:cs typeface="Courier New" pitchFamily="34" charset="-120"/>
              </a:rPr>
              <a:t>$ javap -v AuditService.class</a:t>
            </a:r>
            <a:endParaRPr lang="en-US" sz="1100" dirty="0"/>
          </a:p>
          <a:p>
            <a:pPr indent="0" marL="0">
              <a:lnSpc>
                <a:spcPct val="115000"/>
              </a:lnSpc>
              <a:buNone/>
            </a:pPr>
            <a:endParaRPr lang="en-US" sz="1100" dirty="0"/>
          </a:p>
          <a:p>
            <a:pPr indent="0" marL="0">
              <a:lnSpc>
                <a:spcPct val="115000"/>
              </a:lnSpc>
              <a:buNone/>
            </a:pPr>
            <a:r>
              <a:rPr lang="en-US" sz="1100" dirty="0">
                <a:solidFill>
                  <a:srgbClr val="22303C"/>
                </a:solidFill>
                <a:latin typeface="Courier New" pitchFamily="34" charset="0"/>
                <a:ea typeface="Courier New" pitchFamily="34" charset="-122"/>
                <a:cs typeface="Courier New" pitchFamily="34" charset="-120"/>
              </a:rPr>
              <a:t>RuntimeInvisibleAnnotations:</a:t>
            </a:r>
            <a:endParaRPr lang="en-US" sz="1100" dirty="0"/>
          </a:p>
          <a:p>
            <a:pPr indent="0" marL="0">
              <a:lnSpc>
                <a:spcPct val="115000"/>
              </a:lnSpc>
              <a:buNone/>
            </a:pPr>
            <a:r>
              <a:rPr lang="en-US" sz="1100" dirty="0">
                <a:solidFill>
                  <a:srgbClr val="22303C"/>
                </a:solidFill>
                <a:latin typeface="Courier New" pitchFamily="34" charset="0"/>
                <a:ea typeface="Courier New" pitchFamily="34" charset="-122"/>
                <a:cs typeface="Courier New" pitchFamily="34" charset="-120"/>
              </a:rPr>
              <a:t>  0: #14()</a:t>
            </a:r>
            <a:endParaRPr lang="en-US" sz="1100" dirty="0"/>
          </a:p>
          <a:p>
            <a:pPr indent="0" marL="0">
              <a:lnSpc>
                <a:spcPct val="115000"/>
              </a:lnSpc>
              <a:buNone/>
            </a:pPr>
            <a:r>
              <a:rPr lang="en-US" sz="1100" dirty="0">
                <a:solidFill>
                  <a:srgbClr val="22303C"/>
                </a:solidFill>
                <a:latin typeface="Courier New" pitchFamily="34" charset="0"/>
                <a:ea typeface="Courier New" pitchFamily="34" charset="-122"/>
                <a:cs typeface="Courier New" pitchFamily="34" charset="-120"/>
              </a:rPr>
              <a:t>    io.minispring.container.annotation.Component</a:t>
            </a:r>
            <a:endParaRPr lang="en-US" sz="1100" dirty="0"/>
          </a:p>
        </p:txBody>
      </p:sp>
      <p:sp>
        <p:nvSpPr>
          <p:cNvPr id="9" name="Text 7"/>
          <p:cNvSpPr txBox="1"/>
          <p:nvPr/>
        </p:nvSpPr>
        <p:spPr>
          <a:xfrm>
            <a:off x="4663440" y="3017520"/>
            <a:ext cx="4114800" cy="320040"/>
          </a:xfrm>
          <a:prstGeom prst="rect">
            <a:avLst/>
          </a:prstGeom>
          <a:noFill/>
          <a:ln/>
        </p:spPr>
        <p:txBody>
          <a:bodyPr wrap="square" lIns="0" tIns="0" rIns="0" bIns="0" rtlCol="0" anchor="ctr"/>
          <a:lstStyle/>
          <a:p>
            <a:pPr algn="ctr" indent="0" marL="0">
              <a:buNone/>
            </a:pPr>
            <a:r>
              <a:rPr lang="en-US" sz="1400" b="1" dirty="0">
                <a:solidFill>
                  <a:srgbClr val="E8590C"/>
                </a:solidFill>
                <a:latin typeface="Calibri" pitchFamily="34" charset="0"/>
                <a:ea typeface="Calibri" pitchFamily="34" charset="-122"/>
                <a:cs typeface="Calibri" pitchFamily="34" charset="-120"/>
              </a:rPr>
              <a:t>CLASS — the default</a:t>
            </a:r>
            <a:endParaRPr lang="en-US" sz="1400" dirty="0"/>
          </a:p>
        </p:txBody>
      </p:sp>
      <p:sp>
        <p:nvSpPr>
          <p:cNvPr id="10" name="Shape 8"/>
          <p:cNvSpPr/>
          <p:nvPr/>
        </p:nvSpPr>
        <p:spPr>
          <a:xfrm>
            <a:off x="457200" y="3840480"/>
            <a:ext cx="8229600" cy="594360"/>
          </a:xfrm>
          <a:prstGeom prst="roundRect">
            <a:avLst>
              <a:gd name="adj" fmla="val 12308"/>
            </a:avLst>
          </a:prstGeom>
          <a:solidFill>
            <a:srgbClr val="FFFFFF"/>
          </a:solidFill>
          <a:ln w="25400">
            <a:solidFill>
              <a:srgbClr val="E8590C"/>
            </a:solidFill>
            <a:prstDash val="solid"/>
          </a:ln>
        </p:spPr>
      </p:sp>
      <p:sp>
        <p:nvSpPr>
          <p:cNvPr id="11" name="Text 9"/>
          <p:cNvSpPr txBox="1"/>
          <p:nvPr/>
        </p:nvSpPr>
        <p:spPr>
          <a:xfrm>
            <a:off x="640080" y="3840480"/>
            <a:ext cx="7863840" cy="594360"/>
          </a:xfrm>
          <a:prstGeom prst="rect">
            <a:avLst/>
          </a:prstGeom>
          <a:noFill/>
          <a:ln/>
        </p:spPr>
        <p:txBody>
          <a:bodyPr wrap="square" lIns="0" tIns="0" rIns="0" bIns="0" rtlCol="0" anchor="ctr"/>
          <a:lstStyle/>
          <a:p>
            <a:pPr indent="0" marL="0">
              <a:buNone/>
            </a:pPr>
            <a:r>
              <a:rPr lang="en-US" sz="1500" b="1" dirty="0">
                <a:solidFill>
                  <a:srgbClr val="E8590C"/>
                </a:solidFill>
                <a:latin typeface="Calibri" pitchFamily="34" charset="0"/>
                <a:ea typeface="Calibri" pitchFamily="34" charset="-122"/>
                <a:cs typeface="Calibri" pitchFamily="34" charset="-120"/>
              </a:rPr>
              <a:t>One word, and the scanner finds nothing — with no error message. Everyone hits this once.</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2600" b="1" dirty="0">
                <a:solidFill>
                  <a:srgbClr val="22303C"/>
                </a:solidFill>
                <a:latin typeface="Cambria" pitchFamily="34" charset="0"/>
                <a:ea typeface="Cambria" pitchFamily="34" charset="-122"/>
                <a:cs typeface="Cambria" pitchFamily="34" charset="-120"/>
              </a:rPr>
              <a:t>The three retentions, and who uses them</a:t>
            </a:r>
            <a:endParaRPr lang="en-US" sz="2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914400"/>
        </p:xfrm>
        <a:graphic>
          <a:graphicData uri="http://schemas.openxmlformats.org/drawingml/2006/table">
            <a:tbl>
              <a:tblPr/>
              <a:tblGrid>
                <a:gridCol w="1554480"/>
                <a:gridCol w="1920240"/>
                <a:gridCol w="2377440"/>
                <a:gridCol w="23774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Retention</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Lives until</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Read by</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Example</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r>
              <a:tr h="310896">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SOURCE</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the compiler</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annotation processors</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@Override, Lombok</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CLASS</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the class file</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bytecode tools</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nullability annotations</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1100" b="1" dirty="0">
                          <a:solidFill>
                            <a:srgbClr val="2F9E44"/>
                          </a:solidFill>
                          <a:latin typeface="Courier New" pitchFamily="34" charset="0"/>
                          <a:ea typeface="Courier New" pitchFamily="34" charset="-122"/>
                          <a:cs typeface="Courier New" pitchFamily="34" charset="-120"/>
                        </a:rPr>
                        <a:t>RUNTIME</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for ever</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reflection, at run time</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@Component, @Autowired</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bl>
          </a:graphicData>
        </a:graphic>
      </p:graphicFrame>
      <p:sp>
        <p:nvSpPr>
          <p:cNvPr id="4" name="Text 1"/>
          <p:cNvSpPr txBox="1"/>
          <p:nvPr/>
        </p:nvSpPr>
        <p:spPr>
          <a:xfrm>
            <a:off x="457200" y="3200400"/>
            <a:ext cx="8229600" cy="548640"/>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@Target says where the sticker may be put: a class, a method, a parameter. The compiler enforces it, nothing else does.</a:t>
            </a:r>
            <a:endParaRPr lang="en-US" sz="1500" dirty="0"/>
          </a:p>
        </p:txBody>
      </p:sp>
      <p:sp>
        <p:nvSpPr>
          <p:cNvPr id="5" name="Shape 2"/>
          <p:cNvSpPr/>
          <p:nvPr/>
        </p:nvSpPr>
        <p:spPr>
          <a:xfrm>
            <a:off x="457200" y="3931920"/>
            <a:ext cx="8229600" cy="594360"/>
          </a:xfrm>
          <a:prstGeom prst="roundRect">
            <a:avLst>
              <a:gd name="adj" fmla="val 12308"/>
            </a:avLst>
          </a:prstGeom>
          <a:solidFill>
            <a:srgbClr val="FFFFFF"/>
          </a:solidFill>
          <a:ln w="25400">
            <a:solidFill>
              <a:srgbClr val="2F9E44"/>
            </a:solidFill>
            <a:prstDash val="solid"/>
          </a:ln>
        </p:spPr>
      </p:sp>
      <p:sp>
        <p:nvSpPr>
          <p:cNvPr id="6" name="Text 3"/>
          <p:cNvSpPr txBox="1"/>
          <p:nvPr/>
        </p:nvSpPr>
        <p:spPr>
          <a:xfrm>
            <a:off x="640080" y="3931920"/>
            <a:ext cx="7863840" cy="594360"/>
          </a:xfrm>
          <a:prstGeom prst="rect">
            <a:avLst/>
          </a:prstGeom>
          <a:noFill/>
          <a:ln/>
        </p:spPr>
        <p:txBody>
          <a:bodyPr wrap="square" lIns="0" tIns="0" rIns="0" bIns="0" rtlCol="0" anchor="ctr"/>
          <a:lstStyle/>
          <a:p>
            <a:pPr indent="0" marL="0">
              <a:buNone/>
            </a:pPr>
            <a:r>
              <a:rPr lang="en-US" sz="1500" b="1" dirty="0">
                <a:solidFill>
                  <a:srgbClr val="2F9E44"/>
                </a:solidFill>
                <a:latin typeface="Calibri" pitchFamily="34" charset="0"/>
                <a:ea typeface="Calibri" pitchFamily="34" charset="-122"/>
                <a:cs typeface="Calibri" pitchFamily="34" charset="-120"/>
              </a:rPr>
              <a:t>A framework that reads annotations at run time needs RUNTIME. That is the whole rule.</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2600" b="1" dirty="0">
                <a:solidFill>
                  <a:srgbClr val="22303C"/>
                </a:solidFill>
                <a:latin typeface="Cambria" pitchFamily="34" charset="0"/>
                <a:ea typeface="Cambria" pitchFamily="34" charset="-122"/>
                <a:cs typeface="Cambria" pitchFamily="34" charset="-120"/>
              </a:rPr>
              <a:t>A short history of the three ingredients</a:t>
            </a:r>
            <a:endParaRPr lang="en-US" sz="26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Spring could not have existed before 2004</a:t>
            </a:r>
            <a:endParaRPr lang="en-US" sz="15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8229600" cy="914400"/>
        </p:xfrm>
        <a:graphic>
          <a:graphicData uri="http://schemas.openxmlformats.org/drawingml/2006/table">
            <a:tbl>
              <a:tblPr/>
              <a:tblGrid>
                <a:gridCol w="1005840"/>
                <a:gridCol w="1737360"/>
                <a:gridCol w="2651760"/>
                <a:gridCol w="28346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Year</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Where</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arrived</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 it matters here</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r>
              <a:tr h="310896">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1997</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Java 1.1</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b="1" dirty="0">
                          <a:solidFill>
                            <a:srgbClr val="22303C"/>
                          </a:solidFill>
                          <a:latin typeface="Calibri" pitchFamily="34" charset="0"/>
                          <a:ea typeface="Calibri" pitchFamily="34" charset="-122"/>
                          <a:cs typeface="Calibri" pitchFamily="34" charset="-120"/>
                        </a:rPr>
                        <a:t>Reflection</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read a class at run time</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2000</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Java 1.3</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b="1" dirty="0">
                          <a:solidFill>
                            <a:srgbClr val="22303C"/>
                          </a:solidFill>
                          <a:latin typeface="Calibri" pitchFamily="34" charset="0"/>
                          <a:ea typeface="Calibri" pitchFamily="34" charset="-122"/>
                          <a:cs typeface="Calibri" pitchFamily="34" charset="-120"/>
                        </a:rPr>
                        <a:t>Dynamic proxies</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your @Transactional</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2004</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Java 5</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b="1" dirty="0">
                          <a:solidFill>
                            <a:srgbClr val="22303C"/>
                          </a:solidFill>
                          <a:latin typeface="Calibri" pitchFamily="34" charset="0"/>
                          <a:ea typeface="Calibri" pitchFamily="34" charset="-122"/>
                          <a:cs typeface="Calibri" pitchFamily="34" charset="-120"/>
                        </a:rPr>
                        <a:t>Annotations (JSR 175)</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the sticker</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2006</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Java 6</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b="1" dirty="0">
                          <a:solidFill>
                            <a:srgbClr val="22303C"/>
                          </a:solidFill>
                          <a:latin typeface="Calibri" pitchFamily="34" charset="0"/>
                          <a:ea typeface="Calibri" pitchFamily="34" charset="-122"/>
                          <a:cs typeface="Calibri" pitchFamily="34" charset="-120"/>
                        </a:rPr>
                        <a:t>@PostConstruct (JSR 250)</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the lifecycle</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2020+</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Spring 6, GraalVM</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b="1" dirty="0">
                          <a:solidFill>
                            <a:srgbClr val="22303C"/>
                          </a:solidFill>
                          <a:latin typeface="Calibri" pitchFamily="34" charset="0"/>
                          <a:ea typeface="Calibri" pitchFamily="34" charset="-122"/>
                          <a:cs typeface="Calibri" pitchFamily="34" charset="-120"/>
                        </a:rPr>
                        <a:t>AOT processing</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read them at build time</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bl>
          </a:graphicData>
        </a:graphic>
      </p:graphicFrame>
      <p:sp>
        <p:nvSpPr>
          <p:cNvPr id="5" name="Shape 2"/>
          <p:cNvSpPr/>
          <p:nvPr/>
        </p:nvSpPr>
        <p:spPr>
          <a:xfrm>
            <a:off x="457200" y="4023360"/>
            <a:ext cx="8229600" cy="594360"/>
          </a:xfrm>
          <a:prstGeom prst="roundRect">
            <a:avLst>
              <a:gd name="adj" fmla="val 12308"/>
            </a:avLst>
          </a:prstGeom>
          <a:solidFill>
            <a:srgbClr val="FFFFFF"/>
          </a:solidFill>
          <a:ln w="25400">
            <a:solidFill>
              <a:srgbClr val="2F9E44"/>
            </a:solidFill>
            <a:prstDash val="solid"/>
          </a:ln>
        </p:spPr>
      </p:sp>
      <p:sp>
        <p:nvSpPr>
          <p:cNvPr id="6" name="Text 3"/>
          <p:cNvSpPr txBox="1"/>
          <p:nvPr/>
        </p:nvSpPr>
        <p:spPr>
          <a:xfrm>
            <a:off x="640080" y="4023360"/>
            <a:ext cx="7863840" cy="594360"/>
          </a:xfrm>
          <a:prstGeom prst="rect">
            <a:avLst/>
          </a:prstGeom>
          <a:noFill/>
          <a:ln/>
        </p:spPr>
        <p:txBody>
          <a:bodyPr wrap="square" lIns="0" tIns="0" rIns="0" bIns="0" rtlCol="0" anchor="ctr"/>
          <a:lstStyle/>
          <a:p>
            <a:pPr indent="0" marL="0">
              <a:buNone/>
            </a:pPr>
            <a:r>
              <a:rPr lang="en-US" sz="1500" b="1" dirty="0">
                <a:solidFill>
                  <a:srgbClr val="2F9E44"/>
                </a:solidFill>
                <a:latin typeface="Calibri" pitchFamily="34" charset="0"/>
                <a:ea typeface="Calibri" pitchFamily="34" charset="-122"/>
                <a:cs typeface="Calibri" pitchFamily="34" charset="-120"/>
              </a:rPr>
              <a:t>Spring did not invent any of this. It assembled three JDK features nobody was using together.</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2600" b="1" dirty="0">
                <a:solidFill>
                  <a:srgbClr val="22303C"/>
                </a:solidFill>
                <a:latin typeface="Cambria" pitchFamily="34" charset="0"/>
                <a:ea typeface="Cambria" pitchFamily="34" charset="-122"/>
                <a:cs typeface="Cambria" pitchFamily="34" charset="-120"/>
              </a:rPr>
              <a:t>The reflection API, as used by the container</a:t>
            </a:r>
            <a:endParaRPr lang="en-US" sz="26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Six calls. That is the whole toolbox.</a:t>
            </a:r>
            <a:endParaRPr lang="en-US" sz="15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3200400"/>
                <a:gridCol w="2834640"/>
                <a:gridCol w="21945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The call</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does</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Where in minispring</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r>
              <a:tr h="310896">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Class.forName(n, false, cl)</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alibri" pitchFamily="34" charset="0"/>
                          <a:ea typeface="Calibri" pitchFamily="34" charset="-122"/>
                          <a:cs typeface="Calibri" pitchFamily="34" charset="-120"/>
                        </a:rPr>
                        <a:t>load a class without initialising it</a:t>
                      </a:r>
                      <a:endParaRPr lang="en-US" sz="11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ClasspathScanner</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type.isAnnotationPresent(..)</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alibri" pitchFamily="34" charset="0"/>
                          <a:ea typeface="Calibri" pitchFamily="34" charset="-122"/>
                          <a:cs typeface="Calibri" pitchFamily="34" charset="-120"/>
                        </a:rPr>
                        <a:t>read the sticker</a:t>
                      </a:r>
                      <a:endParaRPr lang="en-US" sz="11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ClasspathScanner</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type.getDeclaredConstructors()</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alibri" pitchFamily="34" charset="0"/>
                          <a:ea typeface="Calibri" pitchFamily="34" charset="-122"/>
                          <a:cs typeface="Calibri" pitchFamily="34" charset="-120"/>
                        </a:rPr>
                        <a:t>find the constructor to use</a:t>
                      </a:r>
                      <a:endParaRPr lang="en-US" sz="11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BeanDefinitionReader</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constructor.newInstance(args)</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alibri" pitchFamily="34" charset="0"/>
                          <a:ea typeface="Calibri" pitchFamily="34" charset="-122"/>
                          <a:cs typeface="Calibri" pitchFamily="34" charset="-120"/>
                        </a:rPr>
                        <a:t>create the bean</a:t>
                      </a:r>
                      <a:endParaRPr lang="en-US" sz="11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BeanFactory</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method.invoke(bean)</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alibri" pitchFamily="34" charset="0"/>
                          <a:ea typeface="Calibri" pitchFamily="34" charset="-122"/>
                          <a:cs typeface="Calibri" pitchFamily="34" charset="-120"/>
                        </a:rPr>
                        <a:t>run @PostConstruct</a:t>
                      </a:r>
                      <a:endParaRPr lang="en-US" sz="11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BeanFactory</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Proxy.newProxyInstance(..)</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alibri" pitchFamily="34" charset="0"/>
                          <a:ea typeface="Calibri" pitchFamily="34" charset="-122"/>
                          <a:cs typeface="Calibri" pitchFamily="34" charset="-120"/>
                        </a:rPr>
                        <a:t>wrap the bean</a:t>
                      </a:r>
                      <a:endParaRPr lang="en-US" sz="11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TransactionalProcessor</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bl>
          </a:graphicData>
        </a:graphic>
      </p:graphicFrame>
      <p:sp>
        <p:nvSpPr>
          <p:cNvPr id="5" name="Shape 2"/>
          <p:cNvSpPr/>
          <p:nvPr/>
        </p:nvSpPr>
        <p:spPr>
          <a:xfrm>
            <a:off x="457200" y="4114800"/>
            <a:ext cx="8229600" cy="594360"/>
          </a:xfrm>
          <a:prstGeom prst="roundRect">
            <a:avLst>
              <a:gd name="adj" fmla="val 12308"/>
            </a:avLst>
          </a:prstGeom>
          <a:solidFill>
            <a:srgbClr val="FFFFFF"/>
          </a:solidFill>
          <a:ln w="25400">
            <a:solidFill>
              <a:srgbClr val="2F9E44"/>
            </a:solidFill>
            <a:prstDash val="solid"/>
          </a:ln>
        </p:spPr>
      </p:sp>
      <p:sp>
        <p:nvSpPr>
          <p:cNvPr id="6" name="Text 3"/>
          <p:cNvSpPr txBox="1"/>
          <p:nvPr/>
        </p:nvSpPr>
        <p:spPr>
          <a:xfrm>
            <a:off x="640080" y="4114800"/>
            <a:ext cx="7863840" cy="594360"/>
          </a:xfrm>
          <a:prstGeom prst="rect">
            <a:avLst/>
          </a:prstGeom>
          <a:noFill/>
          <a:ln/>
        </p:spPr>
        <p:txBody>
          <a:bodyPr wrap="square" lIns="0" tIns="0" rIns="0" bIns="0" rtlCol="0" anchor="ctr"/>
          <a:lstStyle/>
          <a:p>
            <a:pPr indent="0" marL="0">
              <a:buNone/>
            </a:pPr>
            <a:r>
              <a:rPr lang="en-US" sz="1500" b="1" dirty="0">
                <a:solidFill>
                  <a:srgbClr val="2F9E44"/>
                </a:solidFill>
                <a:latin typeface="Calibri" pitchFamily="34" charset="0"/>
                <a:ea typeface="Calibri" pitchFamily="34" charset="-122"/>
                <a:cs typeface="Calibri" pitchFamily="34" charset="-120"/>
              </a:rPr>
              <a:t>If you know these six calls, you can write a dependency injection container.</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2430"/>
        </a:solidFill>
      </p:bgPr>
    </p:bg>
    <p:spTree>
      <p:nvGrpSpPr>
        <p:cNvPr id="1" name=""/>
        <p:cNvGrpSpPr/>
        <p:nvPr/>
      </p:nvGrpSpPr>
      <p:grpSpPr>
        <a:xfrm>
          <a:off x="0" y="0"/>
          <a:ext cx="0" cy="0"/>
          <a:chOff x="0" y="0"/>
          <a:chExt cx="0" cy="0"/>
        </a:xfrm>
      </p:grpSpPr>
      <p:sp>
        <p:nvSpPr>
          <p:cNvPr id="2" name="Shape 0"/>
          <p:cNvSpPr/>
          <p:nvPr/>
        </p:nvSpPr>
        <p:spPr>
          <a:xfrm>
            <a:off x="822960" y="1920240"/>
            <a:ext cx="1005840" cy="1005840"/>
          </a:xfrm>
          <a:prstGeom prst="ellipse">
            <a:avLst/>
          </a:prstGeom>
          <a:solidFill>
            <a:srgbClr val="2F9E44"/>
          </a:solidFill>
          <a:ln/>
        </p:spPr>
      </p:sp>
      <p:sp>
        <p:nvSpPr>
          <p:cNvPr id="3" name="Text 1"/>
          <p:cNvSpPr txBox="1"/>
          <p:nvPr/>
        </p:nvSpPr>
        <p:spPr>
          <a:xfrm>
            <a:off x="822960" y="1920240"/>
            <a:ext cx="1005840" cy="10058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4" name="Text 2"/>
          <p:cNvSpPr txBox="1"/>
          <p:nvPr/>
        </p:nvSpPr>
        <p:spPr>
          <a:xfrm>
            <a:off x="2103120" y="1965960"/>
            <a:ext cx="6400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Every annotation, and who reads it</a:t>
            </a:r>
            <a:endParaRPr lang="en-US" sz="3000" dirty="0"/>
          </a:p>
        </p:txBody>
      </p:sp>
      <p:sp>
        <p:nvSpPr>
          <p:cNvPr id="5" name="Text 3"/>
          <p:cNvSpPr txBox="1"/>
          <p:nvPr/>
        </p:nvSpPr>
        <p:spPr>
          <a:xfrm>
            <a:off x="2103120" y="2606040"/>
            <a:ext cx="6400800" cy="457200"/>
          </a:xfrm>
          <a:prstGeom prst="rect">
            <a:avLst/>
          </a:prstGeom>
          <a:noFill/>
          <a:ln/>
        </p:spPr>
        <p:txBody>
          <a:bodyPr wrap="square" lIns="0" tIns="0" rIns="0" bIns="0" rtlCol="0" anchor="ctr"/>
          <a:lstStyle/>
          <a:p>
            <a:pPr indent="0" marL="0">
              <a:buNone/>
            </a:pPr>
            <a:r>
              <a:rPr lang="en-US" sz="1600" dirty="0">
                <a:solidFill>
                  <a:srgbClr val="C7D2DD"/>
                </a:solidFill>
                <a:latin typeface="Calibri" pitchFamily="34" charset="0"/>
                <a:ea typeface="Calibri" pitchFamily="34" charset="-122"/>
                <a:cs typeface="Calibri" pitchFamily="34" charset="-120"/>
              </a:rPr>
              <a:t>minispring, Spring, and the XML we used to write</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3000" b="1" dirty="0">
                <a:solidFill>
                  <a:srgbClr val="22303C"/>
                </a:solidFill>
                <a:latin typeface="Cambria" pitchFamily="34" charset="0"/>
                <a:ea typeface="Cambria" pitchFamily="34" charset="-122"/>
                <a:cs typeface="Cambria" pitchFamily="34" charset="-120"/>
              </a:rPr>
              <a:t>The mapping table (1/2)</a:t>
            </a:r>
            <a:endParaRPr lang="en-US" sz="30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Same model, three ways to feed it</a:t>
            </a:r>
            <a:endParaRPr lang="en-US" sz="15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1737360"/>
                <a:gridCol w="2011680"/>
                <a:gridCol w="2651760"/>
                <a:gridCol w="18288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Annotation</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Read by, in minispring</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The Spring class</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 XML, before</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r>
              <a:tr h="310896">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@Component</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ClasspathScanner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ClassPathBeanDefinitionScanner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&lt;context:component-scan&gt;</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@Autowired</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BeanDefinitionReader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AutowiredAnnotation...Processor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&lt;constructor-arg ref&gt;</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@Qualifier @Primary</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DependencyResolver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QualifierAnnotation...Resolver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&lt;qualifier&gt;, primary=</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@Scope</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BeanDefinitionReader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ScopeMetadataResolver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scope="prototype"</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@PostConstruct</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LifecycleMethods</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CommonAnnotation...Processor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init-method=</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bl>
          </a:graphicData>
        </a:graphic>
      </p:graphicFrame>
      <p:sp>
        <p:nvSpPr>
          <p:cNvPr id="5" name="Shape 2"/>
          <p:cNvSpPr/>
          <p:nvPr/>
        </p:nvSpPr>
        <p:spPr>
          <a:xfrm>
            <a:off x="457200" y="4069080"/>
            <a:ext cx="8229600" cy="594360"/>
          </a:xfrm>
          <a:prstGeom prst="roundRect">
            <a:avLst>
              <a:gd name="adj" fmla="val 12308"/>
            </a:avLst>
          </a:prstGeom>
          <a:solidFill>
            <a:srgbClr val="FFFFFF"/>
          </a:solidFill>
          <a:ln w="25400">
            <a:solidFill>
              <a:srgbClr val="2F9E44"/>
            </a:solidFill>
            <a:prstDash val="solid"/>
          </a:ln>
        </p:spPr>
      </p:sp>
      <p:sp>
        <p:nvSpPr>
          <p:cNvPr id="6" name="Text 3"/>
          <p:cNvSpPr txBox="1"/>
          <p:nvPr/>
        </p:nvSpPr>
        <p:spPr>
          <a:xfrm>
            <a:off x="640080" y="4069080"/>
            <a:ext cx="7863840" cy="594360"/>
          </a:xfrm>
          <a:prstGeom prst="rect">
            <a:avLst/>
          </a:prstGeom>
          <a:noFill/>
          <a:ln/>
        </p:spPr>
        <p:txBody>
          <a:bodyPr wrap="square" lIns="0" tIns="0" rIns="0" bIns="0" rtlCol="0" anchor="ctr"/>
          <a:lstStyle/>
          <a:p>
            <a:pPr indent="0" marL="0">
              <a:buNone/>
            </a:pPr>
            <a:r>
              <a:rPr lang="en-US" sz="1500" b="1" dirty="0">
                <a:solidFill>
                  <a:srgbClr val="2F9E44"/>
                </a:solidFill>
                <a:latin typeface="Calibri" pitchFamily="34" charset="0"/>
                <a:ea typeface="Calibri" pitchFamily="34" charset="-122"/>
                <a:cs typeface="Calibri" pitchFamily="34" charset="-120"/>
              </a:rPr>
              <a:t>The annotation is never the mechanism. It is one of three ways to write the same BeanDefinition.</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3000" b="1" dirty="0">
                <a:solidFill>
                  <a:srgbClr val="22303C"/>
                </a:solidFill>
                <a:latin typeface="Cambria" pitchFamily="34" charset="0"/>
                <a:ea typeface="Cambria" pitchFamily="34" charset="-122"/>
                <a:cs typeface="Cambria" pitchFamily="34" charset="-120"/>
              </a:rPr>
              <a:t>The mapping table (2/2)</a:t>
            </a:r>
            <a:endParaRPr lang="en-US" sz="30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Where Boot goes beyond what XML could express</a:t>
            </a:r>
            <a:endParaRPr lang="en-US" sz="15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1737360"/>
                <a:gridCol w="2011680"/>
                <a:gridCol w="2651760"/>
                <a:gridCol w="18288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Annotation</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Read by, in minispring</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The Spring class</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 XML, before</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r>
              <a:tr h="310896">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@Transactional</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TransactionalProcessor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TransactionInterceptor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&lt;tx:advice&gt; + &lt;aop:config&gt;</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@Configuration @Bean</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BeanDefinitionReader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ConfigurationClassPostProcessor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factory-bean, factory-method</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@RestController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DispatcherServer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RequestMappingHandlerMapping</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&lt;mvc:annotation-driven&gt;</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ApplicationListener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ApplicationEventMulticaster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SimpleApplicationEvent...caster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a &lt;bean&gt; implementing it</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900" b="1" dirty="0">
                          <a:solidFill>
                            <a:srgbClr val="2F9E44"/>
                          </a:solidFill>
                          <a:latin typeface="Courier New" pitchFamily="34" charset="0"/>
                          <a:ea typeface="Courier New" pitchFamily="34" charset="-122"/>
                          <a:cs typeface="Courier New" pitchFamily="34" charset="-120"/>
                        </a:rPr>
                        <a:t>@Conditional</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ConditionEvaluator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ConditionEvaluator (same name)</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b="1" dirty="0">
                          <a:solidFill>
                            <a:srgbClr val="E8590C"/>
                          </a:solidFill>
                          <a:latin typeface="Calibri" pitchFamily="34" charset="0"/>
                          <a:ea typeface="Calibri" pitchFamily="34" charset="-122"/>
                          <a:cs typeface="Calibri" pitchFamily="34" charset="-120"/>
                        </a:rPr>
                        <a:t>no equivalent</a:t>
                      </a:r>
                      <a:endParaRPr lang="en-US" sz="9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bl>
          </a:graphicData>
        </a:graphic>
      </p:graphicFrame>
      <p:sp>
        <p:nvSpPr>
          <p:cNvPr id="5" name="Shape 2"/>
          <p:cNvSpPr/>
          <p:nvPr/>
        </p:nvSpPr>
        <p:spPr>
          <a:xfrm>
            <a:off x="457200" y="4069080"/>
            <a:ext cx="8229600" cy="594360"/>
          </a:xfrm>
          <a:prstGeom prst="roundRect">
            <a:avLst>
              <a:gd name="adj" fmla="val 12308"/>
            </a:avLst>
          </a:prstGeom>
          <a:solidFill>
            <a:srgbClr val="FFFFFF"/>
          </a:solidFill>
          <a:ln w="25400">
            <a:solidFill>
              <a:srgbClr val="E8590C"/>
            </a:solidFill>
            <a:prstDash val="solid"/>
          </a:ln>
        </p:spPr>
      </p:sp>
      <p:sp>
        <p:nvSpPr>
          <p:cNvPr id="6" name="Text 3"/>
          <p:cNvSpPr txBox="1"/>
          <p:nvPr/>
        </p:nvSpPr>
        <p:spPr>
          <a:xfrm>
            <a:off x="640080" y="4069080"/>
            <a:ext cx="7863840" cy="594360"/>
          </a:xfrm>
          <a:prstGeom prst="rect">
            <a:avLst/>
          </a:prstGeom>
          <a:noFill/>
          <a:ln/>
        </p:spPr>
        <p:txBody>
          <a:bodyPr wrap="square" lIns="0" tIns="0" rIns="0" bIns="0" rtlCol="0" anchor="ctr"/>
          <a:lstStyle/>
          <a:p>
            <a:pPr indent="0" marL="0">
              <a:buNone/>
            </a:pPr>
            <a:r>
              <a:rPr lang="en-US" sz="1500" b="1" dirty="0">
                <a:solidFill>
                  <a:srgbClr val="E8590C"/>
                </a:solidFill>
                <a:latin typeface="Calibri" pitchFamily="34" charset="0"/>
                <a:ea typeface="Calibri" pitchFamily="34" charset="-122"/>
                <a:cs typeface="Calibri" pitchFamily="34" charset="-120"/>
              </a:rPr>
              <a:t>The last row is why Spring Boot could not have been built in the XML era.</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3000" b="1" dirty="0">
                <a:solidFill>
                  <a:srgbClr val="22303C"/>
                </a:solidFill>
                <a:latin typeface="Cambria" pitchFamily="34" charset="0"/>
                <a:ea typeface="Cambria" pitchFamily="34" charset="-122"/>
                <a:cs typeface="Cambria" pitchFamily="34" charset="-120"/>
              </a:rPr>
              <a:t>The same bean, written three ways</a:t>
            </a:r>
            <a:endParaRPr lang="en-US" sz="30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Different syntax, identical BeanDefinition</a:t>
            </a:r>
            <a:endParaRPr lang="en-US" sz="1500" dirty="0"/>
          </a:p>
        </p:txBody>
      </p:sp>
      <p:sp>
        <p:nvSpPr>
          <p:cNvPr id="4" name="Text 2"/>
          <p:cNvSpPr txBox="1"/>
          <p:nvPr/>
        </p:nvSpPr>
        <p:spPr>
          <a:xfrm>
            <a:off x="457200" y="1325880"/>
            <a:ext cx="4023360" cy="228600"/>
          </a:xfrm>
          <a:prstGeom prst="rect">
            <a:avLst/>
          </a:prstGeom>
          <a:noFill/>
          <a:ln/>
        </p:spPr>
        <p:txBody>
          <a:bodyPr wrap="square" lIns="0" tIns="0" rIns="0" bIns="0" rtlCol="0" anchor="ctr"/>
          <a:lstStyle/>
          <a:p>
            <a:pPr indent="0" marL="0">
              <a:buNone/>
            </a:pPr>
            <a:r>
              <a:rPr lang="en-US" sz="1300" b="1" dirty="0">
                <a:solidFill>
                  <a:srgbClr val="5B6B7A"/>
                </a:solidFill>
                <a:latin typeface="Calibri" pitchFamily="34" charset="0"/>
                <a:ea typeface="Calibri" pitchFamily="34" charset="-122"/>
                <a:cs typeface="Calibri" pitchFamily="34" charset="-120"/>
              </a:rPr>
              <a:t>2008 — XML</a:t>
            </a:r>
            <a:endParaRPr lang="en-US" sz="1300" dirty="0"/>
          </a:p>
        </p:txBody>
      </p:sp>
      <p:sp>
        <p:nvSpPr>
          <p:cNvPr id="5" name="Shape 3"/>
          <p:cNvSpPr/>
          <p:nvPr/>
        </p:nvSpPr>
        <p:spPr>
          <a:xfrm>
            <a:off x="457200" y="1554480"/>
            <a:ext cx="4023360" cy="2651760"/>
          </a:xfrm>
          <a:prstGeom prst="roundRect">
            <a:avLst>
              <a:gd name="adj" fmla="val 2069"/>
            </a:avLst>
          </a:prstGeom>
          <a:solidFill>
            <a:srgbClr val="F1F3F5"/>
          </a:solidFill>
          <a:ln w="12700">
            <a:solidFill>
              <a:srgbClr val="DEE2E6"/>
            </a:solidFill>
            <a:prstDash val="solid"/>
          </a:ln>
        </p:spPr>
      </p:sp>
      <p:sp>
        <p:nvSpPr>
          <p:cNvPr id="6" name="Text 4"/>
          <p:cNvSpPr txBox="1"/>
          <p:nvPr/>
        </p:nvSpPr>
        <p:spPr>
          <a:xfrm>
            <a:off x="621792" y="1664208"/>
            <a:ext cx="3694176" cy="2432304"/>
          </a:xfrm>
          <a:prstGeom prst="rect">
            <a:avLst/>
          </a:prstGeom>
          <a:noFill/>
          <a:ln/>
        </p:spPr>
        <p:txBody>
          <a:bodyPr wrap="square" lIns="0" tIns="0" rIns="0" bIns="0" rtlCol="0" anchor="ctr"/>
          <a:lstStyle/>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&lt;bean id="orderService"</a:t>
            </a:r>
            <a:endParaRPr lang="en-US" sz="900" dirty="0"/>
          </a:p>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      class="shop.OrderServiceImpl"&gt;</a:t>
            </a:r>
            <a:endParaRPr lang="en-US" sz="900" dirty="0"/>
          </a:p>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  &lt;constructor-arg ref="orderRepository"/&gt;</a:t>
            </a:r>
            <a:endParaRPr lang="en-US" sz="900" dirty="0"/>
          </a:p>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&lt;/bean&gt;</a:t>
            </a:r>
            <a:endParaRPr lang="en-US" sz="900" dirty="0"/>
          </a:p>
          <a:p>
            <a:pPr indent="0" marL="0">
              <a:lnSpc>
                <a:spcPct val="115000"/>
              </a:lnSpc>
              <a:buNone/>
            </a:pPr>
            <a:endParaRPr lang="en-US" sz="900" dirty="0"/>
          </a:p>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&lt;bean id="orderRepository"</a:t>
            </a:r>
            <a:endParaRPr lang="en-US" sz="900" dirty="0"/>
          </a:p>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      class="shop.InMemoryOrderRepository"</a:t>
            </a:r>
            <a:endParaRPr lang="en-US" sz="900" dirty="0"/>
          </a:p>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      init-method="open"</a:t>
            </a:r>
            <a:endParaRPr lang="en-US" sz="900" dirty="0"/>
          </a:p>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      destroy-method="close"</a:t>
            </a:r>
            <a:endParaRPr lang="en-US" sz="900" dirty="0"/>
          </a:p>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      scope="singleton"/&gt;</a:t>
            </a:r>
            <a:endParaRPr lang="en-US" sz="900" dirty="0"/>
          </a:p>
        </p:txBody>
      </p:sp>
      <p:sp>
        <p:nvSpPr>
          <p:cNvPr id="7" name="Text 5"/>
          <p:cNvSpPr txBox="1"/>
          <p:nvPr/>
        </p:nvSpPr>
        <p:spPr>
          <a:xfrm>
            <a:off x="4663440" y="1298448"/>
            <a:ext cx="4023360" cy="228600"/>
          </a:xfrm>
          <a:prstGeom prst="rect">
            <a:avLst/>
          </a:prstGeom>
          <a:noFill/>
          <a:ln/>
        </p:spPr>
        <p:txBody>
          <a:bodyPr wrap="square" lIns="0" tIns="0" rIns="0" bIns="0" rtlCol="0" anchor="ctr"/>
          <a:lstStyle/>
          <a:p>
            <a:pPr indent="0" marL="0">
              <a:buNone/>
            </a:pPr>
            <a:r>
              <a:rPr lang="en-US" sz="1300" b="1" dirty="0">
                <a:solidFill>
                  <a:srgbClr val="2F9E44"/>
                </a:solidFill>
                <a:latin typeface="Calibri" pitchFamily="34" charset="0"/>
                <a:ea typeface="Calibri" pitchFamily="34" charset="-122"/>
                <a:cs typeface="Calibri" pitchFamily="34" charset="-120"/>
              </a:rPr>
              <a:t>Today — annotations</a:t>
            </a:r>
            <a:endParaRPr lang="en-US" sz="1300" dirty="0"/>
          </a:p>
        </p:txBody>
      </p:sp>
      <p:sp>
        <p:nvSpPr>
          <p:cNvPr id="8" name="Shape 6"/>
          <p:cNvSpPr/>
          <p:nvPr/>
        </p:nvSpPr>
        <p:spPr>
          <a:xfrm>
            <a:off x="4663440" y="1554480"/>
            <a:ext cx="4023360" cy="1051560"/>
          </a:xfrm>
          <a:prstGeom prst="roundRect">
            <a:avLst>
              <a:gd name="adj" fmla="val 5217"/>
            </a:avLst>
          </a:prstGeom>
          <a:solidFill>
            <a:srgbClr val="F1F3F5"/>
          </a:solidFill>
          <a:ln w="12700">
            <a:solidFill>
              <a:srgbClr val="DEE2E6"/>
            </a:solidFill>
            <a:prstDash val="solid"/>
          </a:ln>
        </p:spPr>
      </p:sp>
      <p:sp>
        <p:nvSpPr>
          <p:cNvPr id="9" name="Text 7"/>
          <p:cNvSpPr txBox="1"/>
          <p:nvPr/>
        </p:nvSpPr>
        <p:spPr>
          <a:xfrm>
            <a:off x="4828032" y="1664208"/>
            <a:ext cx="3694176" cy="832104"/>
          </a:xfrm>
          <a:prstGeom prst="rect">
            <a:avLst/>
          </a:prstGeom>
          <a:noFill/>
          <a:ln/>
        </p:spPr>
        <p:txBody>
          <a:bodyPr wrap="square" lIns="0" tIns="0" rIns="0" bIns="0" rtlCol="0" anchor="ctr"/>
          <a:lstStyle/>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@Component</a:t>
            </a:r>
            <a:endParaRPr lang="en-US" sz="900" dirty="0"/>
          </a:p>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class OrderServiceImpl implements OrderService {</a:t>
            </a:r>
            <a:endParaRPr lang="en-US" sz="900" dirty="0"/>
          </a:p>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    OrderServiceImpl(OrderRepository repo) { }</a:t>
            </a:r>
            <a:endParaRPr lang="en-US" sz="900" dirty="0"/>
          </a:p>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a:t>
            </a:r>
            <a:endParaRPr lang="en-US" sz="900" dirty="0"/>
          </a:p>
        </p:txBody>
      </p:sp>
      <p:sp>
        <p:nvSpPr>
          <p:cNvPr id="10" name="Text 8"/>
          <p:cNvSpPr txBox="1"/>
          <p:nvPr/>
        </p:nvSpPr>
        <p:spPr>
          <a:xfrm>
            <a:off x="4663440" y="2743200"/>
            <a:ext cx="4023360" cy="228600"/>
          </a:xfrm>
          <a:prstGeom prst="rect">
            <a:avLst/>
          </a:prstGeom>
          <a:noFill/>
          <a:ln/>
        </p:spPr>
        <p:txBody>
          <a:bodyPr wrap="square" lIns="0" tIns="0" rIns="0" bIns="0" rtlCol="0" anchor="ctr"/>
          <a:lstStyle/>
          <a:p>
            <a:pPr indent="0" marL="0">
              <a:buNone/>
            </a:pPr>
            <a:r>
              <a:rPr lang="en-US" sz="1300" b="1" dirty="0">
                <a:solidFill>
                  <a:srgbClr val="2F9E44"/>
                </a:solidFill>
                <a:latin typeface="Calibri" pitchFamily="34" charset="0"/>
                <a:ea typeface="Calibri" pitchFamily="34" charset="-122"/>
                <a:cs typeface="Calibri" pitchFamily="34" charset="-120"/>
              </a:rPr>
              <a:t>Today — Java configuration</a:t>
            </a:r>
            <a:endParaRPr lang="en-US" sz="1300" dirty="0"/>
          </a:p>
        </p:txBody>
      </p:sp>
      <p:sp>
        <p:nvSpPr>
          <p:cNvPr id="11" name="Shape 9"/>
          <p:cNvSpPr/>
          <p:nvPr/>
        </p:nvSpPr>
        <p:spPr>
          <a:xfrm>
            <a:off x="4663440" y="2999232"/>
            <a:ext cx="4023360" cy="1207008"/>
          </a:xfrm>
          <a:prstGeom prst="roundRect">
            <a:avLst>
              <a:gd name="adj" fmla="val 4545"/>
            </a:avLst>
          </a:prstGeom>
          <a:solidFill>
            <a:srgbClr val="F1F3F5"/>
          </a:solidFill>
          <a:ln w="12700">
            <a:solidFill>
              <a:srgbClr val="DEE2E6"/>
            </a:solidFill>
            <a:prstDash val="solid"/>
          </a:ln>
        </p:spPr>
      </p:sp>
      <p:sp>
        <p:nvSpPr>
          <p:cNvPr id="12" name="Text 10"/>
          <p:cNvSpPr txBox="1"/>
          <p:nvPr/>
        </p:nvSpPr>
        <p:spPr>
          <a:xfrm>
            <a:off x="4828032" y="3108960"/>
            <a:ext cx="3694176" cy="987552"/>
          </a:xfrm>
          <a:prstGeom prst="rect">
            <a:avLst/>
          </a:prstGeom>
          <a:noFill/>
          <a:ln/>
        </p:spPr>
        <p:txBody>
          <a:bodyPr wrap="square" lIns="0" tIns="0" rIns="0" bIns="0" rtlCol="0" anchor="ctr"/>
          <a:lstStyle/>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@Configuration</a:t>
            </a:r>
            <a:endParaRPr lang="en-US" sz="900" dirty="0"/>
          </a:p>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class AppConfig {</a:t>
            </a:r>
            <a:endParaRPr lang="en-US" sz="900" dirty="0"/>
          </a:p>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    @Bean</a:t>
            </a:r>
            <a:endParaRPr lang="en-US" sz="900" dirty="0"/>
          </a:p>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    OrderService orderService(OrderRepository r) {</a:t>
            </a:r>
            <a:endParaRPr lang="en-US" sz="900" dirty="0"/>
          </a:p>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        return new OrderServiceImpl(r);</a:t>
            </a:r>
            <a:endParaRPr lang="en-US" sz="900" dirty="0"/>
          </a:p>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    }</a:t>
            </a:r>
            <a:endParaRPr lang="en-US" sz="900" dirty="0"/>
          </a:p>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a:t>
            </a:r>
            <a:endParaRPr lang="en-US" sz="900" dirty="0"/>
          </a:p>
        </p:txBody>
      </p:sp>
      <p:sp>
        <p:nvSpPr>
          <p:cNvPr id="13" name="Shape 11"/>
          <p:cNvSpPr/>
          <p:nvPr/>
        </p:nvSpPr>
        <p:spPr>
          <a:xfrm>
            <a:off x="457200" y="4343400"/>
            <a:ext cx="8229600" cy="594360"/>
          </a:xfrm>
          <a:prstGeom prst="roundRect">
            <a:avLst>
              <a:gd name="adj" fmla="val 12308"/>
            </a:avLst>
          </a:prstGeom>
          <a:solidFill>
            <a:srgbClr val="FFFFFF"/>
          </a:solidFill>
          <a:ln w="25400">
            <a:solidFill>
              <a:srgbClr val="2F9E44"/>
            </a:solidFill>
            <a:prstDash val="solid"/>
          </a:ln>
        </p:spPr>
      </p:sp>
      <p:sp>
        <p:nvSpPr>
          <p:cNvPr id="14" name="Text 12"/>
          <p:cNvSpPr txBox="1"/>
          <p:nvPr/>
        </p:nvSpPr>
        <p:spPr>
          <a:xfrm>
            <a:off x="640080" y="4343400"/>
            <a:ext cx="7863840" cy="594360"/>
          </a:xfrm>
          <a:prstGeom prst="rect">
            <a:avLst/>
          </a:prstGeom>
          <a:noFill/>
          <a:ln/>
        </p:spPr>
        <p:txBody>
          <a:bodyPr wrap="square" lIns="0" tIns="0" rIns="0" bIns="0" rtlCol="0" anchor="ctr"/>
          <a:lstStyle/>
          <a:p>
            <a:pPr indent="0" marL="0">
              <a:buNone/>
            </a:pPr>
            <a:r>
              <a:rPr lang="en-US" sz="1500" b="1" dirty="0">
                <a:solidFill>
                  <a:srgbClr val="2F9E44"/>
                </a:solidFill>
                <a:latin typeface="Calibri" pitchFamily="34" charset="0"/>
                <a:ea typeface="Calibri" pitchFamily="34" charset="-122"/>
                <a:cs typeface="Calibri" pitchFamily="34" charset="-120"/>
              </a:rPr>
              <a:t>The container reads all three into the same object. XML did not disappear because it was wrong, but because the metadata sat far from the code.</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3000" b="1" dirty="0">
                <a:solidFill>
                  <a:srgbClr val="22303C"/>
                </a:solidFill>
                <a:latin typeface="Cambria" pitchFamily="34" charset="0"/>
                <a:ea typeface="Cambria" pitchFamily="34" charset="-122"/>
                <a:cs typeface="Cambria" pitchFamily="34" charset="-120"/>
              </a:rPr>
              <a:t>Zoom 1 — @Component: finding classes</a:t>
            </a:r>
            <a:endParaRPr lang="en-US" sz="30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Java has no API to list the classes of a package</a:t>
            </a:r>
            <a:endParaRPr lang="en-US" sz="1500" dirty="0"/>
          </a:p>
        </p:txBody>
      </p:sp>
      <p:sp>
        <p:nvSpPr>
          <p:cNvPr id="4" name="Shape 2"/>
          <p:cNvSpPr/>
          <p:nvPr/>
        </p:nvSpPr>
        <p:spPr>
          <a:xfrm>
            <a:off x="457200" y="1371600"/>
            <a:ext cx="8229600" cy="1691640"/>
          </a:xfrm>
          <a:prstGeom prst="roundRect">
            <a:avLst>
              <a:gd name="adj" fmla="val 3243"/>
            </a:avLst>
          </a:prstGeom>
          <a:solidFill>
            <a:srgbClr val="F1F3F5"/>
          </a:solidFill>
          <a:ln w="12700">
            <a:solidFill>
              <a:srgbClr val="DEE2E6"/>
            </a:solidFill>
            <a:prstDash val="solid"/>
          </a:ln>
        </p:spPr>
      </p:sp>
      <p:sp>
        <p:nvSpPr>
          <p:cNvPr id="5" name="Text 3"/>
          <p:cNvSpPr txBox="1"/>
          <p:nvPr/>
        </p:nvSpPr>
        <p:spPr>
          <a:xfrm>
            <a:off x="621792" y="1481328"/>
            <a:ext cx="7900416" cy="1472184"/>
          </a:xfrm>
          <a:prstGeom prst="rect">
            <a:avLst/>
          </a:prstGeom>
          <a:noFill/>
          <a:ln/>
        </p:spPr>
        <p:txBody>
          <a:bodyPr wrap="square" lIns="0" tIns="0" rIns="0" bIns="0" rtlCol="0" anchor="ctr"/>
          <a:lstStyle/>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private static boolean isInstantiableComponent(Class&lt;?&gt; type) {</a:t>
            </a: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    int modifiers = type.getModifiers();</a:t>
            </a: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    return isComponent(type)</a:t>
            </a: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            &amp;&amp; !type.isInterface()</a:t>
            </a: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            &amp;&amp; !Modifier.isAbstract(modifiers)</a:t>
            </a: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            &amp;&amp; (!type.isMemberClass() || Modifier.isStatic(modifiers));</a:t>
            </a: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a:t>
            </a:r>
            <a:endParaRPr lang="en-US" sz="1200" dirty="0"/>
          </a:p>
        </p:txBody>
      </p:sp>
      <p:sp>
        <p:nvSpPr>
          <p:cNvPr id="6" name="Text 4"/>
          <p:cNvSpPr txBox="1"/>
          <p:nvPr/>
        </p:nvSpPr>
        <p:spPr>
          <a:xfrm>
            <a:off x="502920" y="3154680"/>
            <a:ext cx="8229600" cy="100584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22303C"/>
                </a:solidFill>
                <a:latin typeface="Calibri" pitchFamily="34" charset="0"/>
                <a:ea typeface="Calibri" pitchFamily="34" charset="-122"/>
                <a:cs typeface="Calibri" pitchFamily="34" charset="-120"/>
              </a:rPr>
              <a:t>Ask the ClassLoader for the package directory, then walk it with Files.walk</a:t>
            </a:r>
            <a:endParaRPr lang="en-US" sz="1400" dirty="0"/>
          </a:p>
          <a:p>
            <a:pPr marL="342900" indent="-342900">
              <a:spcAft>
                <a:spcPts val="800"/>
              </a:spcAft>
              <a:buSzPct val="100000"/>
              <a:buChar char="•"/>
            </a:pPr>
            <a:r>
              <a:rPr lang="en-US" sz="1400" dirty="0">
                <a:solidFill>
                  <a:srgbClr val="22303C"/>
                </a:solidFill>
                <a:latin typeface="Calibri" pitchFamily="34" charset="0"/>
                <a:ea typeface="Calibri" pitchFamily="34" charset="-122"/>
                <a:cs typeface="Calibri" pitchFamily="34" charset="-120"/>
              </a:rPr>
              <a:t>Load with Class.forName(name, false, loader): finding must not run static initialisers</a:t>
            </a:r>
            <a:endParaRPr lang="en-US" sz="1400" dirty="0"/>
          </a:p>
          <a:p>
            <a:pPr marL="342900" indent="-342900">
              <a:spcAft>
                <a:spcPts val="800"/>
              </a:spcAft>
              <a:buSzPct val="100000"/>
              <a:buChar char="•"/>
            </a:pPr>
            <a:r>
              <a:rPr lang="en-US" sz="1400" dirty="0">
                <a:solidFill>
                  <a:srgbClr val="22303C"/>
                </a:solidFill>
                <a:latin typeface="Calibri" pitchFamily="34" charset="0"/>
                <a:ea typeface="Calibri" pitchFamily="34" charset="-122"/>
                <a:cs typeface="Calibri" pitchFamily="34" charset="-120"/>
              </a:rPr>
              <a:t>Sort the result, so that startup order never depends on the file system</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2600" b="1" dirty="0">
                <a:solidFill>
                  <a:srgbClr val="22303C"/>
                </a:solidFill>
                <a:latin typeface="Cambria" pitchFamily="34" charset="0"/>
                <a:ea typeface="Cambria" pitchFamily="34" charset="-122"/>
                <a:cs typeface="Cambria" pitchFamily="34" charset="-120"/>
              </a:rPr>
              <a:t>Zoom 2 — choosing a constructor, then a bean</a:t>
            </a:r>
            <a:endParaRPr lang="en-US" sz="26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Two rules, and an error message that does the teaching</a:t>
            </a:r>
            <a:endParaRPr lang="en-US" sz="1500" dirty="0"/>
          </a:p>
        </p:txBody>
      </p:sp>
      <p:sp>
        <p:nvSpPr>
          <p:cNvPr id="4" name="Text 2"/>
          <p:cNvSpPr txBox="1"/>
          <p:nvPr/>
        </p:nvSpPr>
        <p:spPr>
          <a:xfrm>
            <a:off x="502920" y="1371600"/>
            <a:ext cx="8229600" cy="1280160"/>
          </a:xfrm>
          <a:prstGeom prst="rect">
            <a:avLst/>
          </a:prstGeom>
          <a:noFill/>
          <a:ln/>
        </p:spPr>
        <p:txBody>
          <a:bodyPr wrap="square" lIns="0" tIns="0" rIns="0" bIns="0" rtlCol="0" anchor="ctr"/>
          <a:lstStyle/>
          <a:p>
            <a:pPr marL="342900" indent="-342900">
              <a:spcAft>
                <a:spcPts val="800"/>
              </a:spcAft>
              <a:buSzPct val="100000"/>
              <a:buChar char="•"/>
            </a:pPr>
            <a:r>
              <a:rPr lang="en-US" sz="1500" dirty="0">
                <a:solidFill>
                  <a:srgbClr val="22303C"/>
                </a:solidFill>
                <a:latin typeface="Calibri" pitchFamily="34" charset="0"/>
                <a:ea typeface="Calibri" pitchFamily="34" charset="-122"/>
                <a:cs typeface="Calibri" pitchFamily="34" charset="-120"/>
              </a:rPr>
              <a:t>One constructor: use it, no annotation needed — that is why @Autowired disappeared from modern Spring code</a:t>
            </a:r>
            <a:endParaRPr lang="en-US" sz="1500" dirty="0"/>
          </a:p>
          <a:p>
            <a:pPr marL="342900" indent="-342900">
              <a:spcAft>
                <a:spcPts val="800"/>
              </a:spcAft>
              <a:buSzPct val="100000"/>
              <a:buChar char="•"/>
            </a:pPr>
            <a:r>
              <a:rPr lang="en-US" sz="1500" dirty="0">
                <a:solidFill>
                  <a:srgbClr val="22303C"/>
                </a:solidFill>
                <a:latin typeface="Calibri" pitchFamily="34" charset="0"/>
                <a:ea typeface="Calibri" pitchFamily="34" charset="-122"/>
                <a:cs typeface="Calibri" pitchFamily="34" charset="-120"/>
              </a:rPr>
              <a:t>Several: use the one marked @Autowired; several marked, or none: fail, and list the candidates</a:t>
            </a:r>
            <a:endParaRPr lang="en-US" sz="1500" dirty="0"/>
          </a:p>
          <a:p>
            <a:pPr marL="342900" indent="-342900">
              <a:spcAft>
                <a:spcPts val="800"/>
              </a:spcAft>
              <a:buSzPct val="100000"/>
              <a:buChar char="•"/>
            </a:pPr>
            <a:r>
              <a:rPr lang="en-US" sz="1500" dirty="0">
                <a:solidFill>
                  <a:srgbClr val="22303C"/>
                </a:solidFill>
                <a:latin typeface="Calibri" pitchFamily="34" charset="0"/>
                <a:ea typeface="Calibri" pitchFamily="34" charset="-122"/>
                <a:cs typeface="Calibri" pitchFamily="34" charset="-120"/>
              </a:rPr>
              <a:t>Then, per parameter: type match, then @Qualifier by name, then @Primary. Never a guess.</a:t>
            </a:r>
            <a:endParaRPr lang="en-US" sz="1500" dirty="0"/>
          </a:p>
        </p:txBody>
      </p:sp>
      <p:sp>
        <p:nvSpPr>
          <p:cNvPr id="5" name="Shape 3"/>
          <p:cNvSpPr/>
          <p:nvPr/>
        </p:nvSpPr>
        <p:spPr>
          <a:xfrm>
            <a:off x="457200" y="2743200"/>
            <a:ext cx="8229600" cy="1051560"/>
          </a:xfrm>
          <a:prstGeom prst="roundRect">
            <a:avLst>
              <a:gd name="adj" fmla="val 5217"/>
            </a:avLst>
          </a:prstGeom>
          <a:solidFill>
            <a:srgbClr val="F1F3F5"/>
          </a:solidFill>
          <a:ln w="12700">
            <a:solidFill>
              <a:srgbClr val="DEE2E6"/>
            </a:solidFill>
            <a:prstDash val="solid"/>
          </a:ln>
        </p:spPr>
      </p:sp>
      <p:sp>
        <p:nvSpPr>
          <p:cNvPr id="6" name="Text 4"/>
          <p:cNvSpPr txBox="1"/>
          <p:nvPr/>
        </p:nvSpPr>
        <p:spPr>
          <a:xfrm>
            <a:off x="621792" y="2852928"/>
            <a:ext cx="7900416" cy="832104"/>
          </a:xfrm>
          <a:prstGeom prst="rect">
            <a:avLst/>
          </a:prstGeom>
          <a:noFill/>
          <a:ln/>
        </p:spPr>
        <p:txBody>
          <a:bodyPr wrap="square" lIns="0" tIns="0" rIns="0" bIns="0" rtlCol="0" anchor="ctr"/>
          <a:lstStyle/>
          <a:p>
            <a:pPr indent="0" marL="0">
              <a:lnSpc>
                <a:spcPct val="115000"/>
              </a:lnSpc>
              <a:buNone/>
            </a:pPr>
            <a:r>
              <a:rPr lang="en-US" sz="1100" dirty="0">
                <a:solidFill>
                  <a:srgbClr val="22303C"/>
                </a:solidFill>
                <a:latin typeface="Courier New" pitchFamily="34" charset="0"/>
                <a:ea typeface="Courier New" pitchFamily="34" charset="-122"/>
                <a:cs typeface="Courier New" pitchFamily="34" charset="-120"/>
              </a:rPr>
              <a:t>2 beans of type com.example.PaymentGateway match, required by</a:t>
            </a:r>
            <a:endParaRPr lang="en-US" sz="1100" dirty="0"/>
          </a:p>
          <a:p>
            <a:pPr indent="0" marL="0">
              <a:lnSpc>
                <a:spcPct val="115000"/>
              </a:lnSpc>
              <a:buNone/>
            </a:pPr>
            <a:r>
              <a:rPr lang="en-US" sz="1100" dirty="0">
                <a:solidFill>
                  <a:srgbClr val="22303C"/>
                </a:solidFill>
                <a:latin typeface="Courier New" pitchFamily="34" charset="0"/>
                <a:ea typeface="Courier New" pitchFamily="34" charset="-122"/>
                <a:cs typeface="Courier New" pitchFamily="34" charset="-120"/>
              </a:rPr>
              <a:t>parameter 'gateway' of bean 'checkout': [stripeGateway, paypalGateway].</a:t>
            </a:r>
            <a:endParaRPr lang="en-US" sz="1100" dirty="0"/>
          </a:p>
          <a:p>
            <a:pPr indent="0" marL="0">
              <a:lnSpc>
                <a:spcPct val="115000"/>
              </a:lnSpc>
              <a:buNone/>
            </a:pPr>
            <a:r>
              <a:rPr lang="en-US" sz="1100" dirty="0">
                <a:solidFill>
                  <a:srgbClr val="22303C"/>
                </a:solidFill>
                <a:latin typeface="Courier New" pitchFamily="34" charset="0"/>
                <a:ea typeface="Courier New" pitchFamily="34" charset="-122"/>
                <a:cs typeface="Courier New" pitchFamily="34" charset="-120"/>
              </a:rPr>
              <a:t>Mark one with @Primary, or choose one with @Qualifier("name").</a:t>
            </a:r>
            <a:endParaRPr lang="en-US" sz="1100" dirty="0"/>
          </a:p>
        </p:txBody>
      </p:sp>
      <p:sp>
        <p:nvSpPr>
          <p:cNvPr id="7" name="Shape 5"/>
          <p:cNvSpPr/>
          <p:nvPr/>
        </p:nvSpPr>
        <p:spPr>
          <a:xfrm>
            <a:off x="457200" y="3977640"/>
            <a:ext cx="8229600" cy="594360"/>
          </a:xfrm>
          <a:prstGeom prst="roundRect">
            <a:avLst>
              <a:gd name="adj" fmla="val 12308"/>
            </a:avLst>
          </a:prstGeom>
          <a:solidFill>
            <a:srgbClr val="FFFFFF"/>
          </a:solidFill>
          <a:ln w="25400">
            <a:solidFill>
              <a:srgbClr val="2F9E44"/>
            </a:solidFill>
            <a:prstDash val="solid"/>
          </a:ln>
        </p:spPr>
      </p:sp>
      <p:sp>
        <p:nvSpPr>
          <p:cNvPr id="8" name="Text 6"/>
          <p:cNvSpPr txBox="1"/>
          <p:nvPr/>
        </p:nvSpPr>
        <p:spPr>
          <a:xfrm>
            <a:off x="640080" y="3977640"/>
            <a:ext cx="7863840" cy="594360"/>
          </a:xfrm>
          <a:prstGeom prst="rect">
            <a:avLst/>
          </a:prstGeom>
          <a:noFill/>
          <a:ln/>
        </p:spPr>
        <p:txBody>
          <a:bodyPr wrap="square" lIns="0" tIns="0" rIns="0" bIns="0" rtlCol="0" anchor="ctr"/>
          <a:lstStyle/>
          <a:p>
            <a:pPr indent="0" marL="0">
              <a:buNone/>
            </a:pPr>
            <a:r>
              <a:rPr lang="en-US" sz="1500" b="1" dirty="0">
                <a:solidFill>
                  <a:srgbClr val="2F9E44"/>
                </a:solidFill>
                <a:latin typeface="Calibri" pitchFamily="34" charset="0"/>
                <a:ea typeface="Calibri" pitchFamily="34" charset="-122"/>
                <a:cs typeface="Calibri" pitchFamily="34" charset="-120"/>
              </a:rPr>
              <a:t>An error message that names the parameter and every candidate is worth more than a page of documentation.</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C:\Users\ayoub\AppData\Local\Temp\claude\C--Users-ayoub-Desktop-spring-app\fce785a8-6c80-4616-ac90-1d6e8a1fc6e3\scratchpad\diagrams\d4-proxy.png">    </p:cNvPr>
          <p:cNvPicPr>
            <a:picLocks noChangeAspect="1"/>
          </p:cNvPicPr>
          <p:nvPr/>
        </p:nvPicPr>
        <p:blipFill>
          <a:blip r:embed="rId1"/>
          <a:stretch>
            <a:fillRect/>
          </a:stretch>
        </p:blipFill>
        <p:spPr>
          <a:xfrm>
            <a:off x="457200" y="256032"/>
            <a:ext cx="8229600" cy="462686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3000" b="1" dirty="0">
                <a:solidFill>
                  <a:srgbClr val="22303C"/>
                </a:solidFill>
                <a:latin typeface="Cambria" pitchFamily="34" charset="0"/>
                <a:ea typeface="Cambria" pitchFamily="34" charset="-122"/>
                <a:cs typeface="Cambria" pitchFamily="34" charset="-120"/>
              </a:rPr>
              <a:t>The bug you have already hit</a:t>
            </a:r>
            <a:endParaRPr lang="en-US" sz="30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The most common @Transactional mistake in production</a:t>
            </a:r>
            <a:endParaRPr lang="en-US" sz="1500" dirty="0"/>
          </a:p>
        </p:txBody>
      </p:sp>
      <p:sp>
        <p:nvSpPr>
          <p:cNvPr id="4" name="Shape 2"/>
          <p:cNvSpPr/>
          <p:nvPr/>
        </p:nvSpPr>
        <p:spPr>
          <a:xfrm>
            <a:off x="457200" y="1371600"/>
            <a:ext cx="8229600" cy="1280160"/>
          </a:xfrm>
          <a:prstGeom prst="roundRect">
            <a:avLst>
              <a:gd name="adj" fmla="val 4286"/>
            </a:avLst>
          </a:prstGeom>
          <a:solidFill>
            <a:srgbClr val="F1F3F5"/>
          </a:solidFill>
          <a:ln w="12700">
            <a:solidFill>
              <a:srgbClr val="DEE2E6"/>
            </a:solidFill>
            <a:prstDash val="solid"/>
          </a:ln>
        </p:spPr>
      </p:sp>
      <p:sp>
        <p:nvSpPr>
          <p:cNvPr id="5" name="Text 3"/>
          <p:cNvSpPr txBox="1"/>
          <p:nvPr/>
        </p:nvSpPr>
        <p:spPr>
          <a:xfrm>
            <a:off x="621792" y="1481328"/>
            <a:ext cx="7900416" cy="1060704"/>
          </a:xfrm>
          <a:prstGeom prst="rect">
            <a:avLst/>
          </a:prstGeom>
          <a:noFill/>
          <a:ln/>
        </p:spPr>
        <p:txBody>
          <a:bodyPr wrap="square" lIns="0" tIns="0" rIns="0" bIns="0" rtlCol="0" anchor="ctr"/>
          <a:lstStyle/>
          <a:p>
            <a:pPr indent="0" marL="0">
              <a:lnSpc>
                <a:spcPct val="115000"/>
              </a:lnSpc>
              <a:buNone/>
            </a:pPr>
            <a:r>
              <a:rPr lang="en-US" sz="1300" dirty="0">
                <a:solidFill>
                  <a:srgbClr val="22303C"/>
                </a:solidFill>
                <a:latin typeface="Courier New" pitchFamily="34" charset="0"/>
                <a:ea typeface="Courier New" pitchFamily="34" charset="-122"/>
                <a:cs typeface="Courier New" pitchFamily="34" charset="-120"/>
              </a:rPr>
              <a:t>@Override</a:t>
            </a:r>
            <a:endParaRPr lang="en-US" sz="1300" dirty="0"/>
          </a:p>
          <a:p>
            <a:pPr indent="0" marL="0">
              <a:lnSpc>
                <a:spcPct val="115000"/>
              </a:lnSpc>
              <a:buNone/>
            </a:pPr>
            <a:r>
              <a:rPr lang="en-US" sz="1300" dirty="0">
                <a:solidFill>
                  <a:srgbClr val="22303C"/>
                </a:solidFill>
                <a:latin typeface="Courier New" pitchFamily="34" charset="0"/>
                <a:ea typeface="Courier New" pitchFamily="34" charset="-122"/>
                <a:cs typeface="Courier New" pitchFamily="34" charset="-120"/>
              </a:rPr>
              <a:t>public void placeAll(List&lt;String&gt; items) {</a:t>
            </a:r>
            <a:endParaRPr lang="en-US" sz="1300" dirty="0"/>
          </a:p>
          <a:p>
            <a:pPr indent="0" marL="0">
              <a:lnSpc>
                <a:spcPct val="115000"/>
              </a:lnSpc>
              <a:buNone/>
            </a:pPr>
            <a:r>
              <a:rPr lang="en-US" sz="1300" dirty="0">
                <a:solidFill>
                  <a:srgbClr val="22303C"/>
                </a:solidFill>
                <a:latin typeface="Courier New" pitchFamily="34" charset="0"/>
                <a:ea typeface="Courier New" pitchFamily="34" charset="-122"/>
                <a:cs typeface="Courier New" pitchFamily="34" charset="-120"/>
              </a:rPr>
              <a:t>    items.forEach(this::placeOrder);   // "this" is the bean, not the proxy</a:t>
            </a:r>
            <a:endParaRPr lang="en-US" sz="1300" dirty="0"/>
          </a:p>
          <a:p>
            <a:pPr indent="0" marL="0">
              <a:lnSpc>
                <a:spcPct val="115000"/>
              </a:lnSpc>
              <a:buNone/>
            </a:pPr>
            <a:r>
              <a:rPr lang="en-US" sz="1300" dirty="0">
                <a:solidFill>
                  <a:srgbClr val="22303C"/>
                </a:solidFill>
                <a:latin typeface="Courier New" pitchFamily="34" charset="0"/>
                <a:ea typeface="Courier New" pitchFamily="34" charset="-122"/>
                <a:cs typeface="Courier New" pitchFamily="34" charset="-120"/>
              </a:rPr>
              <a:t>}                                      // -&gt; no transaction, and no warning</a:t>
            </a:r>
            <a:endParaRPr lang="en-US" sz="1300" dirty="0"/>
          </a:p>
        </p:txBody>
      </p:sp>
      <p:sp>
        <p:nvSpPr>
          <p:cNvPr id="6" name="Text 4"/>
          <p:cNvSpPr txBox="1"/>
          <p:nvPr/>
        </p:nvSpPr>
        <p:spPr>
          <a:xfrm>
            <a:off x="457200" y="2788920"/>
            <a:ext cx="8229600" cy="274320"/>
          </a:xfrm>
          <a:prstGeom prst="rect">
            <a:avLst/>
          </a:prstGeom>
          <a:noFill/>
          <a:ln/>
        </p:spPr>
        <p:txBody>
          <a:bodyPr wrap="square" lIns="0" tIns="0" rIns="0" bIns="0" rtlCol="0" anchor="ctr"/>
          <a:lstStyle/>
          <a:p>
            <a:pPr indent="0" marL="0">
              <a:buNone/>
            </a:pPr>
            <a:r>
              <a:rPr lang="en-US" sz="1400" dirty="0">
                <a:solidFill>
                  <a:srgbClr val="5B6B7A"/>
                </a:solidFill>
                <a:latin typeface="Calibri" pitchFamily="34" charset="0"/>
                <a:ea typeface="Calibri" pitchFamily="34" charset="-122"/>
                <a:cs typeface="Calibri" pitchFamily="34" charset="-120"/>
              </a:rPr>
              <a:t>The test that pins it down:</a:t>
            </a:r>
            <a:endParaRPr lang="en-US" sz="1400" dirty="0"/>
          </a:p>
        </p:txBody>
      </p:sp>
      <p:sp>
        <p:nvSpPr>
          <p:cNvPr id="7" name="Shape 5"/>
          <p:cNvSpPr/>
          <p:nvPr/>
        </p:nvSpPr>
        <p:spPr>
          <a:xfrm>
            <a:off x="457200" y="3108960"/>
            <a:ext cx="8229600" cy="502920"/>
          </a:xfrm>
          <a:prstGeom prst="roundRect">
            <a:avLst>
              <a:gd name="adj" fmla="val 10909"/>
            </a:avLst>
          </a:prstGeom>
          <a:solidFill>
            <a:srgbClr val="F1F3F5"/>
          </a:solidFill>
          <a:ln w="12700">
            <a:solidFill>
              <a:srgbClr val="DEE2E6"/>
            </a:solidFill>
            <a:prstDash val="solid"/>
          </a:ln>
        </p:spPr>
      </p:sp>
      <p:sp>
        <p:nvSpPr>
          <p:cNvPr id="8" name="Text 6"/>
          <p:cNvSpPr txBox="1"/>
          <p:nvPr/>
        </p:nvSpPr>
        <p:spPr>
          <a:xfrm>
            <a:off x="621792" y="3218688"/>
            <a:ext cx="7900416" cy="283464"/>
          </a:xfrm>
          <a:prstGeom prst="rect">
            <a:avLst/>
          </a:prstGeom>
          <a:noFill/>
          <a:ln/>
        </p:spPr>
        <p:txBody>
          <a:bodyPr wrap="square" lIns="0" tIns="0" rIns="0" bIns="0" rtlCol="0" anchor="ctr"/>
          <a:lstStyle/>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void selfInvocationBypassesTheProxyAndStartsNoTransaction() { ... }</a:t>
            </a:r>
            <a:endParaRPr lang="en-US" sz="1200" dirty="0"/>
          </a:p>
        </p:txBody>
      </p:sp>
      <p:sp>
        <p:nvSpPr>
          <p:cNvPr id="9" name="Shape 7"/>
          <p:cNvSpPr/>
          <p:nvPr/>
        </p:nvSpPr>
        <p:spPr>
          <a:xfrm>
            <a:off x="457200" y="3840480"/>
            <a:ext cx="8229600" cy="594360"/>
          </a:xfrm>
          <a:prstGeom prst="roundRect">
            <a:avLst>
              <a:gd name="adj" fmla="val 12308"/>
            </a:avLst>
          </a:prstGeom>
          <a:solidFill>
            <a:srgbClr val="FFFFFF"/>
          </a:solidFill>
          <a:ln w="25400">
            <a:solidFill>
              <a:srgbClr val="E8590C"/>
            </a:solidFill>
            <a:prstDash val="solid"/>
          </a:ln>
        </p:spPr>
      </p:sp>
      <p:sp>
        <p:nvSpPr>
          <p:cNvPr id="10" name="Text 8"/>
          <p:cNvSpPr txBox="1"/>
          <p:nvPr/>
        </p:nvSpPr>
        <p:spPr>
          <a:xfrm>
            <a:off x="640080" y="3840480"/>
            <a:ext cx="7863840" cy="594360"/>
          </a:xfrm>
          <a:prstGeom prst="rect">
            <a:avLst/>
          </a:prstGeom>
          <a:noFill/>
          <a:ln/>
        </p:spPr>
        <p:txBody>
          <a:bodyPr wrap="square" lIns="0" tIns="0" rIns="0" bIns="0" rtlCol="0" anchor="ctr"/>
          <a:lstStyle/>
          <a:p>
            <a:pPr indent="0" marL="0">
              <a:buNone/>
            </a:pPr>
            <a:r>
              <a:rPr lang="en-US" sz="1500" b="1" dirty="0">
                <a:solidFill>
                  <a:srgbClr val="E8590C"/>
                </a:solidFill>
                <a:latin typeface="Calibri" pitchFamily="34" charset="0"/>
                <a:ea typeface="Calibri" pitchFamily="34" charset="-122"/>
                <a:cs typeface="Calibri" pitchFamily="34" charset="-120"/>
              </a:rPr>
              <a:t>Same behaviour in Spring, with JDK proxies and with CGLIB. Fifteen lines of your own code explain a day of debugging.</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C:\Users\ayoub\AppData\Local\Temp\claude\C--Users-ayoub-Desktop-spring-app\fce785a8-6c80-4616-ac90-1d6e8a1fc6e3\scratchpad\diagrams\d1-lifecycle.png">    </p:cNvPr>
          <p:cNvPicPr>
            <a:picLocks noChangeAspect="1"/>
          </p:cNvPicPr>
          <p:nvPr/>
        </p:nvPicPr>
        <p:blipFill>
          <a:blip r:embed="rId1"/>
          <a:stretch>
            <a:fillRect/>
          </a:stretch>
        </p:blipFill>
        <p:spPr>
          <a:xfrm>
            <a:off x="457200" y="256032"/>
            <a:ext cx="8229600" cy="4626864"/>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B2430"/>
        </a:solidFill>
      </p:bgPr>
    </p:bg>
    <p:spTree>
      <p:nvGrpSpPr>
        <p:cNvPr id="1" name=""/>
        <p:cNvGrpSpPr/>
        <p:nvPr/>
      </p:nvGrpSpPr>
      <p:grpSpPr>
        <a:xfrm>
          <a:off x="0" y="0"/>
          <a:ext cx="0" cy="0"/>
          <a:chOff x="0" y="0"/>
          <a:chExt cx="0" cy="0"/>
        </a:xfrm>
      </p:grpSpPr>
      <p:sp>
        <p:nvSpPr>
          <p:cNvPr id="2" name="Shape 0"/>
          <p:cNvSpPr/>
          <p:nvPr/>
        </p:nvSpPr>
        <p:spPr>
          <a:xfrm>
            <a:off x="822960" y="1920240"/>
            <a:ext cx="1005840" cy="1005840"/>
          </a:xfrm>
          <a:prstGeom prst="ellipse">
            <a:avLst/>
          </a:prstGeom>
          <a:solidFill>
            <a:srgbClr val="2F9E44"/>
          </a:solidFill>
          <a:ln/>
        </p:spPr>
      </p:sp>
      <p:sp>
        <p:nvSpPr>
          <p:cNvPr id="3" name="Text 1"/>
          <p:cNvSpPr txBox="1"/>
          <p:nvPr/>
        </p:nvSpPr>
        <p:spPr>
          <a:xfrm>
            <a:off x="822960" y="1920240"/>
            <a:ext cx="1005840" cy="10058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4" name="Text 2"/>
          <p:cNvSpPr txBox="1"/>
          <p:nvPr/>
        </p:nvSpPr>
        <p:spPr>
          <a:xfrm>
            <a:off x="2103120" y="1965960"/>
            <a:ext cx="6400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Invent your own annotation</a:t>
            </a:r>
            <a:endParaRPr lang="en-US" sz="3000" dirty="0"/>
          </a:p>
        </p:txBody>
      </p:sp>
      <p:sp>
        <p:nvSpPr>
          <p:cNvPr id="5" name="Text 3"/>
          <p:cNvSpPr txBox="1"/>
          <p:nvPr/>
        </p:nvSpPr>
        <p:spPr>
          <a:xfrm>
            <a:off x="2103120" y="2606040"/>
            <a:ext cx="6400800" cy="457200"/>
          </a:xfrm>
          <a:prstGeom prst="rect">
            <a:avLst/>
          </a:prstGeom>
          <a:noFill/>
          <a:ln/>
        </p:spPr>
        <p:txBody>
          <a:bodyPr wrap="square" lIns="0" tIns="0" rIns="0" bIns="0" rtlCol="0" anchor="ctr"/>
          <a:lstStyle/>
          <a:p>
            <a:pPr indent="0" marL="0">
              <a:buNone/>
            </a:pPr>
            <a:r>
              <a:rPr lang="en-US" sz="1600" dirty="0">
                <a:solidFill>
                  <a:srgbClr val="C7D2DD"/>
                </a:solidFill>
                <a:latin typeface="Calibri" pitchFamily="34" charset="0"/>
                <a:ea typeface="Calibri" pitchFamily="34" charset="-122"/>
                <a:cs typeface="Calibri" pitchFamily="34" charset="-120"/>
              </a:rPr>
              <a:t>The moment this stops being someone else's framework</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3000" b="1" dirty="0">
                <a:solidFill>
                  <a:srgbClr val="22303C"/>
                </a:solidFill>
                <a:latin typeface="Cambria" pitchFamily="34" charset="0"/>
                <a:ea typeface="Cambria" pitchFamily="34" charset="-122"/>
                <a:cs typeface="Cambria" pitchFamily="34" charset="-120"/>
              </a:rPr>
              <a:t>@Timed, in three steps</a:t>
            </a:r>
            <a:endParaRPr lang="en-US" sz="30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The same pattern as @Transactional</a:t>
            </a:r>
            <a:endParaRPr lang="en-US" sz="1500" dirty="0"/>
          </a:p>
        </p:txBody>
      </p:sp>
      <p:sp>
        <p:nvSpPr>
          <p:cNvPr id="4" name="Shape 2"/>
          <p:cNvSpPr/>
          <p:nvPr/>
        </p:nvSpPr>
        <p:spPr>
          <a:xfrm>
            <a:off x="457200" y="1325880"/>
            <a:ext cx="8229600" cy="685800"/>
          </a:xfrm>
          <a:prstGeom prst="roundRect">
            <a:avLst>
              <a:gd name="adj" fmla="val 8000"/>
            </a:avLst>
          </a:prstGeom>
          <a:solidFill>
            <a:srgbClr val="F1F3F5"/>
          </a:solidFill>
          <a:ln w="12700">
            <a:solidFill>
              <a:srgbClr val="DEE2E6"/>
            </a:solidFill>
            <a:prstDash val="solid"/>
          </a:ln>
        </p:spPr>
      </p:sp>
      <p:sp>
        <p:nvSpPr>
          <p:cNvPr id="5" name="Text 3"/>
          <p:cNvSpPr txBox="1"/>
          <p:nvPr/>
        </p:nvSpPr>
        <p:spPr>
          <a:xfrm>
            <a:off x="621792" y="1435608"/>
            <a:ext cx="7900416" cy="466344"/>
          </a:xfrm>
          <a:prstGeom prst="rect">
            <a:avLst/>
          </a:prstGeom>
          <a:noFill/>
          <a:ln/>
        </p:spPr>
        <p:txBody>
          <a:bodyPr wrap="square" lIns="0" tIns="0" rIns="0" bIns="0" rtlCol="0" anchor="ctr"/>
          <a:lstStyle/>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@Retention(RUNTIME) @Target(METHOD)</a:t>
            </a: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public @interface Timed { }</a:t>
            </a:r>
            <a:endParaRPr lang="en-US" sz="1200" dirty="0"/>
          </a:p>
        </p:txBody>
      </p:sp>
      <p:sp>
        <p:nvSpPr>
          <p:cNvPr id="6" name="Text 4"/>
          <p:cNvSpPr txBox="1"/>
          <p:nvPr/>
        </p:nvSpPr>
        <p:spPr>
          <a:xfrm>
            <a:off x="457200" y="2057400"/>
            <a:ext cx="3657600" cy="256032"/>
          </a:xfrm>
          <a:prstGeom prst="rect">
            <a:avLst/>
          </a:prstGeom>
          <a:noFill/>
          <a:ln/>
        </p:spPr>
        <p:txBody>
          <a:bodyPr wrap="square" lIns="0" tIns="0" rIns="0" bIns="0" rtlCol="0" anchor="ctr"/>
          <a:lstStyle/>
          <a:p>
            <a:pPr indent="0" marL="0">
              <a:buNone/>
            </a:pPr>
            <a:r>
              <a:rPr lang="en-US" sz="1200" b="1" dirty="0">
                <a:solidFill>
                  <a:srgbClr val="2F9E44"/>
                </a:solidFill>
                <a:latin typeface="Calibri" pitchFamily="34" charset="0"/>
                <a:ea typeface="Calibri" pitchFamily="34" charset="-122"/>
                <a:cs typeface="Calibri" pitchFamily="34" charset="-120"/>
              </a:rPr>
              <a:t>1. The sticker</a:t>
            </a:r>
            <a:endParaRPr lang="en-US" sz="1200" dirty="0"/>
          </a:p>
        </p:txBody>
      </p:sp>
      <p:sp>
        <p:nvSpPr>
          <p:cNvPr id="7" name="Shape 5"/>
          <p:cNvSpPr/>
          <p:nvPr/>
        </p:nvSpPr>
        <p:spPr>
          <a:xfrm>
            <a:off x="457200" y="2377440"/>
            <a:ext cx="8229600" cy="1097280"/>
          </a:xfrm>
          <a:prstGeom prst="roundRect">
            <a:avLst>
              <a:gd name="adj" fmla="val 5000"/>
            </a:avLst>
          </a:prstGeom>
          <a:solidFill>
            <a:srgbClr val="F1F3F5"/>
          </a:solidFill>
          <a:ln w="12700">
            <a:solidFill>
              <a:srgbClr val="DEE2E6"/>
            </a:solidFill>
            <a:prstDash val="solid"/>
          </a:ln>
        </p:spPr>
      </p:sp>
      <p:sp>
        <p:nvSpPr>
          <p:cNvPr id="8" name="Text 6"/>
          <p:cNvSpPr txBox="1"/>
          <p:nvPr/>
        </p:nvSpPr>
        <p:spPr>
          <a:xfrm>
            <a:off x="621792" y="2487168"/>
            <a:ext cx="7900416" cy="877824"/>
          </a:xfrm>
          <a:prstGeom prst="rect">
            <a:avLst/>
          </a:prstGeom>
          <a:noFill/>
          <a:ln/>
        </p:spPr>
        <p:txBody>
          <a:bodyPr wrap="square" lIns="0" tIns="0" rIns="0" bIns="0" rtlCol="0" anchor="ctr"/>
          <a:lstStyle/>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public Object postProcessAfterInitialization(Object bean, String name) {</a:t>
            </a: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    // if a method carries @Timed, return a proxy that measures the call</a:t>
            </a: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    return Proxy.newProxyInstance(loader, interfaces, handler);</a:t>
            </a: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a:t>
            </a:r>
            <a:endParaRPr lang="en-US" sz="1200" dirty="0"/>
          </a:p>
        </p:txBody>
      </p:sp>
      <p:sp>
        <p:nvSpPr>
          <p:cNvPr id="9" name="Text 7"/>
          <p:cNvSpPr txBox="1"/>
          <p:nvPr/>
        </p:nvSpPr>
        <p:spPr>
          <a:xfrm>
            <a:off x="457200" y="3520440"/>
            <a:ext cx="8229600" cy="274320"/>
          </a:xfrm>
          <a:prstGeom prst="rect">
            <a:avLst/>
          </a:prstGeom>
          <a:noFill/>
          <a:ln/>
        </p:spPr>
        <p:txBody>
          <a:bodyPr wrap="square" lIns="0" tIns="0" rIns="0" bIns="0" rtlCol="0" anchor="ctr"/>
          <a:lstStyle/>
          <a:p>
            <a:pPr indent="0" marL="0">
              <a:buNone/>
            </a:pPr>
            <a:r>
              <a:rPr lang="en-US" sz="1200" b="1" dirty="0">
                <a:solidFill>
                  <a:srgbClr val="2F9E44"/>
                </a:solidFill>
                <a:latin typeface="Calibri" pitchFamily="34" charset="0"/>
                <a:ea typeface="Calibri" pitchFamily="34" charset="-122"/>
                <a:cs typeface="Calibri" pitchFamily="34" charset="-120"/>
              </a:rPr>
              <a:t>2. A BeanPostProcessor that wraps the bean   ·   3. A test that proves the duration is logged</a:t>
            </a:r>
            <a:endParaRPr lang="en-US" sz="1200" dirty="0"/>
          </a:p>
        </p:txBody>
      </p:sp>
      <p:sp>
        <p:nvSpPr>
          <p:cNvPr id="10" name="Shape 8"/>
          <p:cNvSpPr/>
          <p:nvPr/>
        </p:nvSpPr>
        <p:spPr>
          <a:xfrm>
            <a:off x="457200" y="3931920"/>
            <a:ext cx="8229600" cy="594360"/>
          </a:xfrm>
          <a:prstGeom prst="roundRect">
            <a:avLst>
              <a:gd name="adj" fmla="val 12308"/>
            </a:avLst>
          </a:prstGeom>
          <a:solidFill>
            <a:srgbClr val="FFFFFF"/>
          </a:solidFill>
          <a:ln w="25400">
            <a:solidFill>
              <a:srgbClr val="2F9E44"/>
            </a:solidFill>
            <a:prstDash val="solid"/>
          </a:ln>
        </p:spPr>
      </p:sp>
      <p:sp>
        <p:nvSpPr>
          <p:cNvPr id="11" name="Text 9"/>
          <p:cNvSpPr txBox="1"/>
          <p:nvPr/>
        </p:nvSpPr>
        <p:spPr>
          <a:xfrm>
            <a:off x="640080" y="3931920"/>
            <a:ext cx="7863840" cy="594360"/>
          </a:xfrm>
          <a:prstGeom prst="rect">
            <a:avLst/>
          </a:prstGeom>
          <a:noFill/>
          <a:ln/>
        </p:spPr>
        <p:txBody>
          <a:bodyPr wrap="square" lIns="0" tIns="0" rIns="0" bIns="0" rtlCol="0" anchor="ctr"/>
          <a:lstStyle/>
          <a:p>
            <a:pPr indent="0" marL="0">
              <a:buNone/>
            </a:pPr>
            <a:r>
              <a:rPr lang="en-US" sz="1500" b="1" dirty="0">
                <a:solidFill>
                  <a:srgbClr val="2F9E44"/>
                </a:solidFill>
                <a:latin typeface="Calibri" pitchFamily="34" charset="0"/>
                <a:ea typeface="Calibri" pitchFamily="34" charset="-122"/>
                <a:cs typeface="Calibri" pitchFamily="34" charset="-120"/>
              </a:rPr>
              <a:t>Thirty lines. You have just written the mechanism behind @Cacheable, @Retry and @Async.</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B2430"/>
        </a:solidFill>
      </p:bgPr>
    </p:bg>
    <p:spTree>
      <p:nvGrpSpPr>
        <p:cNvPr id="1" name=""/>
        <p:cNvGrpSpPr/>
        <p:nvPr/>
      </p:nvGrpSpPr>
      <p:grpSpPr>
        <a:xfrm>
          <a:off x="0" y="0"/>
          <a:ext cx="0" cy="0"/>
          <a:chOff x="0" y="0"/>
          <a:chExt cx="0" cy="0"/>
        </a:xfrm>
      </p:grpSpPr>
      <p:sp>
        <p:nvSpPr>
          <p:cNvPr id="2" name="Shape 0"/>
          <p:cNvSpPr/>
          <p:nvPr/>
        </p:nvSpPr>
        <p:spPr>
          <a:xfrm>
            <a:off x="822960" y="1920240"/>
            <a:ext cx="1005840" cy="1005840"/>
          </a:xfrm>
          <a:prstGeom prst="ellipse">
            <a:avLst/>
          </a:prstGeom>
          <a:solidFill>
            <a:srgbClr val="2F9E44"/>
          </a:solidFill>
          <a:ln/>
        </p:spPr>
      </p:sp>
      <p:sp>
        <p:nvSpPr>
          <p:cNvPr id="3" name="Text 1"/>
          <p:cNvSpPr txBox="1"/>
          <p:nvPr/>
        </p:nvSpPr>
        <p:spPr>
          <a:xfrm>
            <a:off x="822960" y="1920240"/>
            <a:ext cx="1005840" cy="10058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4" name="Text 2"/>
          <p:cNvSpPr txBox="1"/>
          <p:nvPr/>
        </p:nvSpPr>
        <p:spPr>
          <a:xfrm>
            <a:off x="2103120" y="1965960"/>
            <a:ext cx="6400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Boot layer: auto-configuration</a:t>
            </a:r>
            <a:endParaRPr lang="en-US" sz="3000" dirty="0"/>
          </a:p>
        </p:txBody>
      </p:sp>
      <p:sp>
        <p:nvSpPr>
          <p:cNvPr id="5" name="Text 3"/>
          <p:cNvSpPr txBox="1"/>
          <p:nvPr/>
        </p:nvSpPr>
        <p:spPr>
          <a:xfrm>
            <a:off x="2103120" y="2606040"/>
            <a:ext cx="6400800" cy="457200"/>
          </a:xfrm>
          <a:prstGeom prst="rect">
            <a:avLst/>
          </a:prstGeom>
          <a:noFill/>
          <a:ln/>
        </p:spPr>
        <p:txBody>
          <a:bodyPr wrap="square" lIns="0" tIns="0" rIns="0" bIns="0" rtlCol="0" anchor="ctr"/>
          <a:lstStyle/>
          <a:p>
            <a:pPr indent="0" marL="0">
              <a:buNone/>
            </a:pPr>
            <a:r>
              <a:rPr lang="en-US" sz="1600" dirty="0">
                <a:solidFill>
                  <a:srgbClr val="C7D2DD"/>
                </a:solidFill>
                <a:latin typeface="Calibri" pitchFamily="34" charset="0"/>
                <a:ea typeface="Calibri" pitchFamily="34" charset="-122"/>
                <a:cs typeface="Calibri" pitchFamily="34" charset="-120"/>
              </a:rPr>
              <a:t>How @Conditional decides what gets wired</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C:\Users\ayoub\AppData\Local\Temp\claude\C--Users-ayoub-Desktop-spring-app\fce785a8-6c80-4616-ac90-1d6e8a1fc6e3\scratchpad\diagrams\d5-autoconfig.png">    </p:cNvPr>
          <p:cNvPicPr>
            <a:picLocks noChangeAspect="1"/>
          </p:cNvPicPr>
          <p:nvPr/>
        </p:nvPicPr>
        <p:blipFill>
          <a:blip r:embed="rId1"/>
          <a:stretch>
            <a:fillRect/>
          </a:stretch>
        </p:blipFill>
        <p:spPr>
          <a:xfrm>
            <a:off x="457200" y="256032"/>
            <a:ext cx="8229600" cy="4626864"/>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3000" b="1" dirty="0">
                <a:solidFill>
                  <a:srgbClr val="22303C"/>
                </a:solidFill>
                <a:latin typeface="Cambria" pitchFamily="34" charset="0"/>
                <a:ea typeface="Cambria" pitchFamily="34" charset="-122"/>
                <a:cs typeface="Cambria" pitchFamily="34" charset="-120"/>
              </a:rPr>
              <a:t>Two rules, and everything follows</a:t>
            </a:r>
            <a:endParaRPr lang="en-US" sz="3000" dirty="0"/>
          </a:p>
        </p:txBody>
      </p:sp>
      <p:sp>
        <p:nvSpPr>
          <p:cNvPr id="3" name="Shape 1"/>
          <p:cNvSpPr/>
          <p:nvPr/>
        </p:nvSpPr>
        <p:spPr>
          <a:xfrm>
            <a:off x="457200" y="1371600"/>
            <a:ext cx="3977640" cy="1371600"/>
          </a:xfrm>
          <a:prstGeom prst="roundRect">
            <a:avLst>
              <a:gd name="adj" fmla="val 5333"/>
            </a:avLst>
          </a:prstGeom>
          <a:solidFill>
            <a:srgbClr val="F1F3F5"/>
          </a:solidFill>
          <a:ln w="12700">
            <a:solidFill>
              <a:srgbClr val="DEE2E6"/>
            </a:solidFill>
            <a:prstDash val="solid"/>
          </a:ln>
        </p:spPr>
      </p:sp>
      <p:sp>
        <p:nvSpPr>
          <p:cNvPr id="4" name="Text 2"/>
          <p:cNvSpPr txBox="1"/>
          <p:nvPr/>
        </p:nvSpPr>
        <p:spPr>
          <a:xfrm>
            <a:off x="640080" y="1508760"/>
            <a:ext cx="3657600" cy="640080"/>
          </a:xfrm>
          <a:prstGeom prst="rect">
            <a:avLst/>
          </a:prstGeom>
          <a:noFill/>
          <a:ln/>
        </p:spPr>
        <p:txBody>
          <a:bodyPr wrap="square" lIns="0" tIns="0" rIns="0" bIns="0" rtlCol="0" anchor="ctr"/>
          <a:lstStyle/>
          <a:p>
            <a:pPr indent="0" marL="0">
              <a:buNone/>
            </a:pPr>
            <a:r>
              <a:rPr lang="en-US" sz="1600" b="1" dirty="0">
                <a:solidFill>
                  <a:srgbClr val="22303C"/>
                </a:solidFill>
                <a:latin typeface="Calibri" pitchFamily="34" charset="0"/>
                <a:ea typeface="Calibri" pitchFamily="34" charset="-122"/>
                <a:cs typeface="Calibri" pitchFamily="34" charset="-120"/>
              </a:rPr>
              <a:t>1. Conditions read definitions,</a:t>
            </a:r>
            <a:endParaRPr lang="en-US" sz="1600" dirty="0"/>
          </a:p>
          <a:p>
            <a:pPr indent="0" marL="0">
              <a:buNone/>
            </a:pPr>
            <a:r>
              <a:rPr lang="en-US" sz="1600" b="1" dirty="0">
                <a:solidFill>
                  <a:srgbClr val="22303C"/>
                </a:solidFill>
                <a:latin typeface="Calibri" pitchFamily="34" charset="0"/>
                <a:ea typeface="Calibri" pitchFamily="34" charset="-122"/>
                <a:cs typeface="Calibri" pitchFamily="34" charset="-120"/>
              </a:rPr>
              <a:t>never instances</a:t>
            </a:r>
            <a:endParaRPr lang="en-US" sz="1600" dirty="0"/>
          </a:p>
        </p:txBody>
      </p:sp>
      <p:sp>
        <p:nvSpPr>
          <p:cNvPr id="5" name="Text 3"/>
          <p:cNvSpPr txBox="1"/>
          <p:nvPr/>
        </p:nvSpPr>
        <p:spPr>
          <a:xfrm>
            <a:off x="640080" y="2148840"/>
            <a:ext cx="3657600" cy="548640"/>
          </a:xfrm>
          <a:prstGeom prst="rect">
            <a:avLst/>
          </a:prstGeom>
          <a:noFill/>
          <a:ln/>
        </p:spPr>
        <p:txBody>
          <a:bodyPr wrap="square" lIns="0" tIns="0" rIns="0" bIns="0" rtlCol="0" anchor="ctr"/>
          <a:lstStyle/>
          <a:p>
            <a:pPr indent="0" marL="0">
              <a:buNone/>
            </a:pPr>
            <a:r>
              <a:rPr lang="en-US" sz="1300" dirty="0">
                <a:solidFill>
                  <a:srgbClr val="5B6B7A"/>
                </a:solidFill>
                <a:latin typeface="Calibri" pitchFamily="34" charset="0"/>
                <a:ea typeface="Calibri" pitchFamily="34" charset="-122"/>
                <a:cs typeface="Calibri" pitchFamily="34" charset="-120"/>
              </a:rPr>
              <a:t>Deciding whether a bean should exist must not create beans, or the question answers itself.</a:t>
            </a:r>
            <a:endParaRPr lang="en-US" sz="1300" dirty="0"/>
          </a:p>
        </p:txBody>
      </p:sp>
      <p:sp>
        <p:nvSpPr>
          <p:cNvPr id="6" name="Shape 4"/>
          <p:cNvSpPr/>
          <p:nvPr/>
        </p:nvSpPr>
        <p:spPr>
          <a:xfrm>
            <a:off x="4709160" y="1371600"/>
            <a:ext cx="3977640" cy="1371600"/>
          </a:xfrm>
          <a:prstGeom prst="roundRect">
            <a:avLst>
              <a:gd name="adj" fmla="val 5333"/>
            </a:avLst>
          </a:prstGeom>
          <a:solidFill>
            <a:srgbClr val="F1F3F5"/>
          </a:solidFill>
          <a:ln w="12700">
            <a:solidFill>
              <a:srgbClr val="DEE2E6"/>
            </a:solidFill>
            <a:prstDash val="solid"/>
          </a:ln>
        </p:spPr>
      </p:sp>
      <p:sp>
        <p:nvSpPr>
          <p:cNvPr id="7" name="Text 5"/>
          <p:cNvSpPr txBox="1"/>
          <p:nvPr/>
        </p:nvSpPr>
        <p:spPr>
          <a:xfrm>
            <a:off x="4892040" y="1508760"/>
            <a:ext cx="3657600" cy="640080"/>
          </a:xfrm>
          <a:prstGeom prst="rect">
            <a:avLst/>
          </a:prstGeom>
          <a:noFill/>
          <a:ln/>
        </p:spPr>
        <p:txBody>
          <a:bodyPr wrap="square" lIns="0" tIns="0" rIns="0" bIns="0" rtlCol="0" anchor="ctr"/>
          <a:lstStyle/>
          <a:p>
            <a:pPr indent="0" marL="0">
              <a:buNone/>
            </a:pPr>
            <a:r>
              <a:rPr lang="en-US" sz="1600" b="1" dirty="0">
                <a:solidFill>
                  <a:srgbClr val="22303C"/>
                </a:solidFill>
                <a:latin typeface="Calibri" pitchFamily="34" charset="0"/>
                <a:ea typeface="Calibri" pitchFamily="34" charset="-122"/>
                <a:cs typeface="Calibri" pitchFamily="34" charset="-120"/>
              </a:rPr>
              <a:t>2. Auto-configurations</a:t>
            </a:r>
            <a:endParaRPr lang="en-US" sz="1600" dirty="0"/>
          </a:p>
          <a:p>
            <a:pPr indent="0" marL="0">
              <a:buNone/>
            </a:pPr>
            <a:r>
              <a:rPr lang="en-US" sz="1600" b="1" dirty="0">
                <a:solidFill>
                  <a:srgbClr val="22303C"/>
                </a:solidFill>
                <a:latin typeface="Calibri" pitchFamily="34" charset="0"/>
                <a:ea typeface="Calibri" pitchFamily="34" charset="-122"/>
                <a:cs typeface="Calibri" pitchFamily="34" charset="-120"/>
              </a:rPr>
              <a:t>register last</a:t>
            </a:r>
            <a:endParaRPr lang="en-US" sz="1600" dirty="0"/>
          </a:p>
        </p:txBody>
      </p:sp>
      <p:sp>
        <p:nvSpPr>
          <p:cNvPr id="8" name="Text 6"/>
          <p:cNvSpPr txBox="1"/>
          <p:nvPr/>
        </p:nvSpPr>
        <p:spPr>
          <a:xfrm>
            <a:off x="4892040" y="2148840"/>
            <a:ext cx="3657600" cy="548640"/>
          </a:xfrm>
          <a:prstGeom prst="rect">
            <a:avLst/>
          </a:prstGeom>
          <a:noFill/>
          <a:ln/>
        </p:spPr>
        <p:txBody>
          <a:bodyPr wrap="square" lIns="0" tIns="0" rIns="0" bIns="0" rtlCol="0" anchor="ctr"/>
          <a:lstStyle/>
          <a:p>
            <a:pPr indent="0" marL="0">
              <a:buNone/>
            </a:pPr>
            <a:r>
              <a:rPr lang="en-US" sz="1300" dirty="0">
                <a:solidFill>
                  <a:srgbClr val="5B6B7A"/>
                </a:solidFill>
                <a:latin typeface="Calibri" pitchFamily="34" charset="0"/>
                <a:ea typeface="Calibri" pitchFamily="34" charset="-122"/>
                <a:cs typeface="Calibri" pitchFamily="34" charset="-120"/>
              </a:rPr>
              <a:t>Only then can @ConditionalOnMissingBean mean "unless you declared your own".</a:t>
            </a:r>
            <a:endParaRPr lang="en-US" sz="1300" dirty="0"/>
          </a:p>
        </p:txBody>
      </p:sp>
      <p:sp>
        <p:nvSpPr>
          <p:cNvPr id="9" name="Shape 7"/>
          <p:cNvSpPr/>
          <p:nvPr/>
        </p:nvSpPr>
        <p:spPr>
          <a:xfrm>
            <a:off x="457200" y="2926080"/>
            <a:ext cx="8229600" cy="960120"/>
          </a:xfrm>
          <a:prstGeom prst="roundRect">
            <a:avLst>
              <a:gd name="adj" fmla="val 5714"/>
            </a:avLst>
          </a:prstGeom>
          <a:solidFill>
            <a:srgbClr val="F1F3F5"/>
          </a:solidFill>
          <a:ln w="12700">
            <a:solidFill>
              <a:srgbClr val="DEE2E6"/>
            </a:solidFill>
            <a:prstDash val="solid"/>
          </a:ln>
        </p:spPr>
      </p:sp>
      <p:sp>
        <p:nvSpPr>
          <p:cNvPr id="10" name="Text 8"/>
          <p:cNvSpPr txBox="1"/>
          <p:nvPr/>
        </p:nvSpPr>
        <p:spPr>
          <a:xfrm>
            <a:off x="621792" y="3035808"/>
            <a:ext cx="7900416" cy="740664"/>
          </a:xfrm>
          <a:prstGeom prst="rect">
            <a:avLst/>
          </a:prstGeom>
          <a:noFill/>
          <a:ln/>
        </p:spPr>
        <p:txBody>
          <a:bodyPr wrap="square" lIns="0" tIns="0" rIns="0" bIns="0" rtlCol="0" anchor="ctr"/>
          <a:lstStyle/>
          <a:p>
            <a:pPr indent="0" marL="0">
              <a:lnSpc>
                <a:spcPct val="115000"/>
              </a:lnSpc>
              <a:buNone/>
            </a:pPr>
            <a:r>
              <a:rPr lang="en-US" sz="1100" dirty="0">
                <a:solidFill>
                  <a:srgbClr val="22303C"/>
                </a:solidFill>
                <a:latin typeface="Courier New" pitchFamily="34" charset="0"/>
                <a:ea typeface="Courier New" pitchFamily="34" charset="-122"/>
                <a:cs typeface="Courier New" pitchFamily="34" charset="-120"/>
              </a:rPr>
              <a:t>@Bean</a:t>
            </a:r>
            <a:endParaRPr lang="en-US" sz="1100" dirty="0"/>
          </a:p>
          <a:p>
            <a:pPr indent="0" marL="0">
              <a:lnSpc>
                <a:spcPct val="115000"/>
              </a:lnSpc>
              <a:buNone/>
            </a:pPr>
            <a:r>
              <a:rPr lang="en-US" sz="1100" dirty="0">
                <a:solidFill>
                  <a:srgbClr val="22303C"/>
                </a:solidFill>
                <a:latin typeface="Courier New" pitchFamily="34" charset="0"/>
                <a:ea typeface="Courier New" pitchFamily="34" charset="-122"/>
                <a:cs typeface="Courier New" pitchFamily="34" charset="-120"/>
              </a:rPr>
              <a:t>@ConditionalOnMissingBean</a:t>
            </a:r>
            <a:endParaRPr lang="en-US" sz="1100" dirty="0"/>
          </a:p>
          <a:p>
            <a:pPr indent="0" marL="0">
              <a:lnSpc>
                <a:spcPct val="115000"/>
              </a:lnSpc>
              <a:buNone/>
            </a:pPr>
            <a:r>
              <a:rPr lang="en-US" sz="1100" dirty="0">
                <a:solidFill>
                  <a:srgbClr val="22303C"/>
                </a:solidFill>
                <a:latin typeface="Courier New" pitchFamily="34" charset="0"/>
                <a:ea typeface="Courier New" pitchFamily="34" charset="-122"/>
                <a:cs typeface="Courier New" pitchFamily="34" charset="-120"/>
              </a:rPr>
              <a:t>public Notifier notifier() { return message -&gt; System.out.println("NOTIFY   " + message); }</a:t>
            </a:r>
            <a:endParaRPr lang="en-US" sz="1100" dirty="0"/>
          </a:p>
        </p:txBody>
      </p:sp>
      <p:sp>
        <p:nvSpPr>
          <p:cNvPr id="11" name="Shape 9"/>
          <p:cNvSpPr/>
          <p:nvPr/>
        </p:nvSpPr>
        <p:spPr>
          <a:xfrm>
            <a:off x="457200" y="4069080"/>
            <a:ext cx="8229600" cy="594360"/>
          </a:xfrm>
          <a:prstGeom prst="roundRect">
            <a:avLst>
              <a:gd name="adj" fmla="val 12308"/>
            </a:avLst>
          </a:prstGeom>
          <a:solidFill>
            <a:srgbClr val="FFFFFF"/>
          </a:solidFill>
          <a:ln w="25400">
            <a:solidFill>
              <a:srgbClr val="E8590C"/>
            </a:solidFill>
            <a:prstDash val="solid"/>
          </a:ln>
        </p:spPr>
      </p:sp>
      <p:sp>
        <p:nvSpPr>
          <p:cNvPr id="12" name="Text 10"/>
          <p:cNvSpPr txBox="1"/>
          <p:nvPr/>
        </p:nvSpPr>
        <p:spPr>
          <a:xfrm>
            <a:off x="640080" y="4069080"/>
            <a:ext cx="7863840" cy="594360"/>
          </a:xfrm>
          <a:prstGeom prst="rect">
            <a:avLst/>
          </a:prstGeom>
          <a:noFill/>
          <a:ln/>
        </p:spPr>
        <p:txBody>
          <a:bodyPr wrap="square" lIns="0" tIns="0" rIns="0" bIns="0" rtlCol="0" anchor="ctr"/>
          <a:lstStyle/>
          <a:p>
            <a:pPr indent="0" marL="0">
              <a:buNone/>
            </a:pPr>
            <a:r>
              <a:rPr lang="en-US" sz="1500" b="1" dirty="0">
                <a:solidFill>
                  <a:srgbClr val="E8590C"/>
                </a:solidFill>
                <a:latin typeface="Calibri" pitchFamily="34" charset="0"/>
                <a:ea typeface="Calibri" pitchFamily="34" charset="-122"/>
                <a:cs typeface="Calibri" pitchFamily="34" charset="-120"/>
              </a:rPr>
              <a:t>Same classes, opposite registration order, different application. There is a test for it.</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3000" b="1" dirty="0">
                <a:solidFill>
                  <a:srgbClr val="22303C"/>
                </a:solidFill>
                <a:latin typeface="Cambria" pitchFamily="34" charset="0"/>
                <a:ea typeface="Cambria" pitchFamily="34" charset="-122"/>
                <a:cs typeface="Cambria" pitchFamily="34" charset="-120"/>
              </a:rPr>
              <a:t>"Why is my bean not there?"</a:t>
            </a:r>
            <a:endParaRPr lang="en-US" sz="30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Every decision is recorded, with its reason</a:t>
            </a:r>
            <a:endParaRPr lang="en-US" sz="1500" dirty="0"/>
          </a:p>
        </p:txBody>
      </p:sp>
      <p:sp>
        <p:nvSpPr>
          <p:cNvPr id="4" name="Shape 2"/>
          <p:cNvSpPr/>
          <p:nvPr/>
        </p:nvSpPr>
        <p:spPr>
          <a:xfrm>
            <a:off x="457200" y="1371600"/>
            <a:ext cx="8229600" cy="2286000"/>
          </a:xfrm>
          <a:prstGeom prst="roundRect">
            <a:avLst>
              <a:gd name="adj" fmla="val 2400"/>
            </a:avLst>
          </a:prstGeom>
          <a:solidFill>
            <a:srgbClr val="F1F3F5"/>
          </a:solidFill>
          <a:ln w="12700">
            <a:solidFill>
              <a:srgbClr val="DEE2E6"/>
            </a:solidFill>
            <a:prstDash val="solid"/>
          </a:ln>
        </p:spPr>
      </p:sp>
      <p:sp>
        <p:nvSpPr>
          <p:cNvPr id="5" name="Text 3"/>
          <p:cNvSpPr txBox="1"/>
          <p:nvPr/>
        </p:nvSpPr>
        <p:spPr>
          <a:xfrm>
            <a:off x="621792" y="1481328"/>
            <a:ext cx="7900416" cy="2066544"/>
          </a:xfrm>
          <a:prstGeom prst="rect">
            <a:avLst/>
          </a:prstGeom>
          <a:noFill/>
          <a:ln/>
        </p:spPr>
        <p:txBody>
          <a:bodyPr wrap="square" lIns="0" tIns="0" rIns="0" bIns="0" rtlCol="0" anchor="ctr"/>
          <a:lstStyle/>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CONDITION EVALUATION REPORT</a:t>
            </a:r>
            <a:endParaRPr lang="en-US" sz="1200" dirty="0"/>
          </a:p>
          <a:p>
            <a:pPr indent="0" marL="0">
              <a:lnSpc>
                <a:spcPct val="115000"/>
              </a:lnSpc>
              <a:buNone/>
            </a:pP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Positive matches:</a:t>
            </a: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  none</a:t>
            </a:r>
            <a:endParaRPr lang="en-US" sz="1200" dirty="0"/>
          </a:p>
          <a:p>
            <a:pPr indent="0" marL="0">
              <a:lnSpc>
                <a:spcPct val="115000"/>
              </a:lnSpc>
              <a:buNone/>
            </a:pP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Negative matches:</a:t>
            </a: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  NotifierAutoConfiguration</a:t>
            </a: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    - property 'minispring.notifier.enabled' is 'false', expected 'true'</a:t>
            </a:r>
            <a:endParaRPr lang="en-US" sz="1200" dirty="0"/>
          </a:p>
        </p:txBody>
      </p:sp>
      <p:sp>
        <p:nvSpPr>
          <p:cNvPr id="6" name="Shape 4"/>
          <p:cNvSpPr/>
          <p:nvPr/>
        </p:nvSpPr>
        <p:spPr>
          <a:xfrm>
            <a:off x="457200" y="3840480"/>
            <a:ext cx="8229600" cy="594360"/>
          </a:xfrm>
          <a:prstGeom prst="roundRect">
            <a:avLst>
              <a:gd name="adj" fmla="val 12308"/>
            </a:avLst>
          </a:prstGeom>
          <a:solidFill>
            <a:srgbClr val="FFFFFF"/>
          </a:solidFill>
          <a:ln w="25400">
            <a:solidFill>
              <a:srgbClr val="2F9E44"/>
            </a:solidFill>
            <a:prstDash val="solid"/>
          </a:ln>
        </p:spPr>
      </p:sp>
      <p:sp>
        <p:nvSpPr>
          <p:cNvPr id="7" name="Text 5"/>
          <p:cNvSpPr txBox="1"/>
          <p:nvPr/>
        </p:nvSpPr>
        <p:spPr>
          <a:xfrm>
            <a:off x="640080" y="3840480"/>
            <a:ext cx="7863840" cy="594360"/>
          </a:xfrm>
          <a:prstGeom prst="rect">
            <a:avLst/>
          </a:prstGeom>
          <a:noFill/>
          <a:ln/>
        </p:spPr>
        <p:txBody>
          <a:bodyPr wrap="square" lIns="0" tIns="0" rIns="0" bIns="0" rtlCol="0" anchor="ctr"/>
          <a:lstStyle/>
          <a:p>
            <a:pPr indent="0" marL="0">
              <a:buNone/>
            </a:pPr>
            <a:r>
              <a:rPr lang="en-US" sz="1500" b="1" dirty="0">
                <a:solidFill>
                  <a:srgbClr val="2F9E44"/>
                </a:solidFill>
                <a:latin typeface="Calibri" pitchFamily="34" charset="0"/>
                <a:ea typeface="Calibri" pitchFamily="34" charset="-122"/>
                <a:cs typeface="Calibri" pitchFamily="34" charset="-120"/>
              </a:rPr>
              <a:t>In Spring Boot: start with --debug. In minispring: minispring.autoconfigure.report=true.</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B2430"/>
        </a:solidFill>
      </p:bgPr>
    </p:bg>
    <p:spTree>
      <p:nvGrpSpPr>
        <p:cNvPr id="1" name=""/>
        <p:cNvGrpSpPr/>
        <p:nvPr/>
      </p:nvGrpSpPr>
      <p:grpSpPr>
        <a:xfrm>
          <a:off x="0" y="0"/>
          <a:ext cx="0" cy="0"/>
          <a:chOff x="0" y="0"/>
          <a:chExt cx="0" cy="0"/>
        </a:xfrm>
      </p:grpSpPr>
      <p:sp>
        <p:nvSpPr>
          <p:cNvPr id="2" name="Shape 0"/>
          <p:cNvSpPr/>
          <p:nvPr/>
        </p:nvSpPr>
        <p:spPr>
          <a:xfrm>
            <a:off x="822960" y="1920240"/>
            <a:ext cx="1005840" cy="1005840"/>
          </a:xfrm>
          <a:prstGeom prst="ellipse">
            <a:avLst/>
          </a:prstGeom>
          <a:solidFill>
            <a:srgbClr val="2F9E44"/>
          </a:solidFill>
          <a:ln/>
        </p:spPr>
      </p:sp>
      <p:sp>
        <p:nvSpPr>
          <p:cNvPr id="3" name="Text 1"/>
          <p:cNvSpPr txBox="1"/>
          <p:nvPr/>
        </p:nvSpPr>
        <p:spPr>
          <a:xfrm>
            <a:off x="822960" y="1920240"/>
            <a:ext cx="1005840" cy="10058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7</a:t>
            </a:r>
            <a:endParaRPr lang="en-US" sz="4000" dirty="0"/>
          </a:p>
        </p:txBody>
      </p:sp>
      <p:sp>
        <p:nvSpPr>
          <p:cNvPr id="4" name="Text 2"/>
          <p:cNvSpPr txBox="1"/>
          <p:nvPr/>
        </p:nvSpPr>
        <p:spPr>
          <a:xfrm>
            <a:off x="2103120" y="1965960"/>
            <a:ext cx="6400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it costs</a:t>
            </a:r>
            <a:endParaRPr lang="en-US" sz="3000" dirty="0"/>
          </a:p>
        </p:txBody>
      </p:sp>
      <p:sp>
        <p:nvSpPr>
          <p:cNvPr id="5" name="Text 3"/>
          <p:cNvSpPr txBox="1"/>
          <p:nvPr/>
        </p:nvSpPr>
        <p:spPr>
          <a:xfrm>
            <a:off x="2103120" y="2606040"/>
            <a:ext cx="6400800" cy="457200"/>
          </a:xfrm>
          <a:prstGeom prst="rect">
            <a:avLst/>
          </a:prstGeom>
          <a:noFill/>
          <a:ln/>
        </p:spPr>
        <p:txBody>
          <a:bodyPr wrap="square" lIns="0" tIns="0" rIns="0" bIns="0" rtlCol="0" anchor="ctr"/>
          <a:lstStyle/>
          <a:p>
            <a:pPr indent="0" marL="0">
              <a:buNone/>
            </a:pPr>
            <a:r>
              <a:rPr lang="en-US" sz="1600" dirty="0">
                <a:solidFill>
                  <a:srgbClr val="C7D2DD"/>
                </a:solidFill>
                <a:latin typeface="Calibri" pitchFamily="34" charset="0"/>
                <a:ea typeface="Calibri" pitchFamily="34" charset="-122"/>
                <a:cs typeface="Calibri" pitchFamily="34" charset="-120"/>
              </a:rPr>
              <a:t>The honest slide</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2600" b="1" dirty="0">
                <a:solidFill>
                  <a:srgbClr val="22303C"/>
                </a:solidFill>
                <a:latin typeface="Cambria" pitchFamily="34" charset="0"/>
                <a:ea typeface="Cambria" pitchFamily="34" charset="-122"/>
                <a:cs typeface="Cambria" pitchFamily="34" charset="-120"/>
              </a:rPr>
              <a:t>100 ms against 1.7 s, and why that is fair</a:t>
            </a:r>
            <a:endParaRPr lang="en-US" sz="26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The same application, on both containers</a:t>
            </a:r>
            <a:endParaRPr lang="en-US" sz="15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8229600" cy="914400"/>
        </p:xfrm>
        <a:graphic>
          <a:graphicData uri="http://schemas.openxmlformats.org/drawingml/2006/table">
            <a:tbl>
              <a:tblPr/>
              <a:tblGrid>
                <a:gridCol w="4572000"/>
                <a:gridCol w="36576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Spring Boot does this</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minispring does not</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r>
              <a:tr h="310896">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Evaluates hundreds of conditional auto-configurations</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reads one small index file</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Reads annotation metadata from the whole classpath with ASM</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reflects over one package</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Builds an Environment from many property sources</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four sources, in order</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Initialises a logging system, generates CGLIB subclasses</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neither</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Runs a real servlet container</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a 100-line HTTP dispatcher</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bl>
          </a:graphicData>
        </a:graphic>
      </p:graphicFrame>
      <p:sp>
        <p:nvSpPr>
          <p:cNvPr id="5" name="Shape 2"/>
          <p:cNvSpPr/>
          <p:nvPr/>
        </p:nvSpPr>
        <p:spPr>
          <a:xfrm>
            <a:off x="457200" y="4023360"/>
            <a:ext cx="8229600" cy="594360"/>
          </a:xfrm>
          <a:prstGeom prst="roundRect">
            <a:avLst>
              <a:gd name="adj" fmla="val 12308"/>
            </a:avLst>
          </a:prstGeom>
          <a:solidFill>
            <a:srgbClr val="FFFFFF"/>
          </a:solidFill>
          <a:ln w="25400">
            <a:solidFill>
              <a:srgbClr val="2F9E44"/>
            </a:solidFill>
            <a:prstDash val="solid"/>
          </a:ln>
        </p:spPr>
      </p:sp>
      <p:sp>
        <p:nvSpPr>
          <p:cNvPr id="6" name="Text 3"/>
          <p:cNvSpPr txBox="1"/>
          <p:nvPr/>
        </p:nvSpPr>
        <p:spPr>
          <a:xfrm>
            <a:off x="640080" y="4023360"/>
            <a:ext cx="7863840" cy="594360"/>
          </a:xfrm>
          <a:prstGeom prst="rect">
            <a:avLst/>
          </a:prstGeom>
          <a:noFill/>
          <a:ln/>
        </p:spPr>
        <p:txBody>
          <a:bodyPr wrap="square" lIns="0" tIns="0" rIns="0" bIns="0" rtlCol="0" anchor="ctr"/>
          <a:lstStyle/>
          <a:p>
            <a:pPr indent="0" marL="0">
              <a:buNone/>
            </a:pPr>
            <a:r>
              <a:rPr lang="en-US" sz="1500" b="1" dirty="0">
                <a:solidFill>
                  <a:srgbClr val="2F9E44"/>
                </a:solidFill>
                <a:latin typeface="Calibri" pitchFamily="34" charset="0"/>
                <a:ea typeface="Calibri" pitchFamily="34" charset="-122"/>
                <a:cs typeface="Calibri" pitchFamily="34" charset="-120"/>
              </a:rPr>
              <a:t>The gap is not a flaw in Spring. It is the price of the features I chose not to build.</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B2430"/>
        </a:solidFill>
      </p:bgPr>
    </p:bg>
    <p:spTree>
      <p:nvGrpSpPr>
        <p:cNvPr id="1" name=""/>
        <p:cNvGrpSpPr/>
        <p:nvPr/>
      </p:nvGrpSpPr>
      <p:grpSpPr>
        <a:xfrm>
          <a:off x="0" y="0"/>
          <a:ext cx="0" cy="0"/>
          <a:chOff x="0" y="0"/>
          <a:chExt cx="0" cy="0"/>
        </a:xfrm>
      </p:grpSpPr>
      <p:sp>
        <p:nvSpPr>
          <p:cNvPr id="2" name="Text 0"/>
          <p:cNvSpPr txBox="1"/>
          <p:nvPr/>
        </p:nvSpPr>
        <p:spPr>
          <a:xfrm>
            <a:off x="640080" y="548640"/>
            <a:ext cx="786384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Three things to take home</a:t>
            </a:r>
            <a:endParaRPr lang="en-US" sz="3000" dirty="0"/>
          </a:p>
        </p:txBody>
      </p:sp>
      <p:sp>
        <p:nvSpPr>
          <p:cNvPr id="3" name="Shape 1"/>
          <p:cNvSpPr/>
          <p:nvPr/>
        </p:nvSpPr>
        <p:spPr>
          <a:xfrm>
            <a:off x="640080" y="1371600"/>
            <a:ext cx="457200" cy="457200"/>
          </a:xfrm>
          <a:prstGeom prst="ellipse">
            <a:avLst/>
          </a:prstGeom>
          <a:solidFill>
            <a:srgbClr val="2F9E44"/>
          </a:solidFill>
          <a:ln/>
        </p:spPr>
      </p:sp>
      <p:sp>
        <p:nvSpPr>
          <p:cNvPr id="4" name="Text 2"/>
          <p:cNvSpPr txBox="1"/>
          <p:nvPr/>
        </p:nvSpPr>
        <p:spPr>
          <a:xfrm>
            <a:off x="640080" y="1371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1280160" y="1325880"/>
            <a:ext cx="7315200" cy="3200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An annotation does nothing</a:t>
            </a:r>
            <a:endParaRPr lang="en-US" sz="1800" dirty="0"/>
          </a:p>
        </p:txBody>
      </p:sp>
      <p:sp>
        <p:nvSpPr>
          <p:cNvPr id="6" name="Text 4"/>
          <p:cNvSpPr txBox="1"/>
          <p:nvPr/>
        </p:nvSpPr>
        <p:spPr>
          <a:xfrm>
            <a:off x="1280160" y="1645920"/>
            <a:ext cx="7315200" cy="365760"/>
          </a:xfrm>
          <a:prstGeom prst="rect">
            <a:avLst/>
          </a:prstGeom>
          <a:noFill/>
          <a:ln/>
        </p:spPr>
        <p:txBody>
          <a:bodyPr wrap="square" lIns="0" tIns="0" rIns="0" bIns="0" rtlCol="0" anchor="ctr"/>
          <a:lstStyle/>
          <a:p>
            <a:pPr indent="0" marL="0">
              <a:buNone/>
            </a:pPr>
            <a:r>
              <a:rPr lang="en-US" sz="1300" dirty="0">
                <a:solidFill>
                  <a:srgbClr val="9FB3C8"/>
                </a:solidFill>
                <a:latin typeface="Calibri" pitchFamily="34" charset="0"/>
                <a:ea typeface="Calibri" pitchFamily="34" charset="-122"/>
                <a:cs typeface="Calibri" pitchFamily="34" charset="-120"/>
              </a:rPr>
              <a:t>Something has to read it. That something is now readable code, not magic.</a:t>
            </a:r>
            <a:endParaRPr lang="en-US" sz="1300" dirty="0"/>
          </a:p>
        </p:txBody>
      </p:sp>
      <p:sp>
        <p:nvSpPr>
          <p:cNvPr id="7" name="Shape 5"/>
          <p:cNvSpPr/>
          <p:nvPr/>
        </p:nvSpPr>
        <p:spPr>
          <a:xfrm>
            <a:off x="640080" y="2331720"/>
            <a:ext cx="457200" cy="457200"/>
          </a:xfrm>
          <a:prstGeom prst="ellipse">
            <a:avLst/>
          </a:prstGeom>
          <a:solidFill>
            <a:srgbClr val="2F9E44"/>
          </a:solidFill>
          <a:ln/>
        </p:spPr>
      </p:sp>
      <p:sp>
        <p:nvSpPr>
          <p:cNvPr id="8" name="Text 6"/>
          <p:cNvSpPr txBox="1"/>
          <p:nvPr/>
        </p:nvSpPr>
        <p:spPr>
          <a:xfrm>
            <a:off x="640080" y="23317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280160" y="2286000"/>
            <a:ext cx="7315200" cy="3200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The container is a Map and a few rules</a:t>
            </a:r>
            <a:endParaRPr lang="en-US" sz="1800" dirty="0"/>
          </a:p>
        </p:txBody>
      </p:sp>
      <p:sp>
        <p:nvSpPr>
          <p:cNvPr id="10" name="Text 8"/>
          <p:cNvSpPr txBox="1"/>
          <p:nvPr/>
        </p:nvSpPr>
        <p:spPr>
          <a:xfrm>
            <a:off x="1280160" y="2606040"/>
            <a:ext cx="7315200" cy="365760"/>
          </a:xfrm>
          <a:prstGeom prst="rect">
            <a:avLst/>
          </a:prstGeom>
          <a:noFill/>
          <a:ln/>
        </p:spPr>
        <p:txBody>
          <a:bodyPr wrap="square" lIns="0" tIns="0" rIns="0" bIns="0" rtlCol="0" anchor="ctr"/>
          <a:lstStyle/>
          <a:p>
            <a:pPr indent="0" marL="0">
              <a:buNone/>
            </a:pPr>
            <a:r>
              <a:rPr lang="en-US" sz="1300" dirty="0">
                <a:solidFill>
                  <a:srgbClr val="9FB3C8"/>
                </a:solidFill>
                <a:latin typeface="Calibri" pitchFamily="34" charset="0"/>
                <a:ea typeface="Calibri" pitchFamily="34" charset="-122"/>
                <a:cs typeface="Calibri" pitchFamily="34" charset="-120"/>
              </a:rPr>
              <a:t>Definitions first, instances second. Every feature follows that order.</a:t>
            </a:r>
            <a:endParaRPr lang="en-US" sz="1300" dirty="0"/>
          </a:p>
        </p:txBody>
      </p:sp>
      <p:sp>
        <p:nvSpPr>
          <p:cNvPr id="11" name="Shape 9"/>
          <p:cNvSpPr/>
          <p:nvPr/>
        </p:nvSpPr>
        <p:spPr>
          <a:xfrm>
            <a:off x="640080" y="3291840"/>
            <a:ext cx="457200" cy="457200"/>
          </a:xfrm>
          <a:prstGeom prst="ellipse">
            <a:avLst/>
          </a:prstGeom>
          <a:solidFill>
            <a:srgbClr val="2F9E44"/>
          </a:solidFill>
          <a:ln/>
        </p:spPr>
      </p:sp>
      <p:sp>
        <p:nvSpPr>
          <p:cNvPr id="12" name="Text 10"/>
          <p:cNvSpPr txBox="1"/>
          <p:nvPr/>
        </p:nvSpPr>
        <p:spPr>
          <a:xfrm>
            <a:off x="640080" y="32918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1"/>
          <p:cNvSpPr txBox="1"/>
          <p:nvPr/>
        </p:nvSpPr>
        <p:spPr>
          <a:xfrm>
            <a:off x="1280160" y="3246120"/>
            <a:ext cx="7315200" cy="3200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You can write your own</a:t>
            </a:r>
            <a:endParaRPr lang="en-US" sz="1800" dirty="0"/>
          </a:p>
        </p:txBody>
      </p:sp>
      <p:sp>
        <p:nvSpPr>
          <p:cNvPr id="14" name="Text 12"/>
          <p:cNvSpPr txBox="1"/>
          <p:nvPr/>
        </p:nvSpPr>
        <p:spPr>
          <a:xfrm>
            <a:off x="1280160" y="3566160"/>
            <a:ext cx="7315200" cy="365760"/>
          </a:xfrm>
          <a:prstGeom prst="rect">
            <a:avLst/>
          </a:prstGeom>
          <a:noFill/>
          <a:ln/>
        </p:spPr>
        <p:txBody>
          <a:bodyPr wrap="square" lIns="0" tIns="0" rIns="0" bIns="0" rtlCol="0" anchor="ctr"/>
          <a:lstStyle/>
          <a:p>
            <a:pPr indent="0" marL="0">
              <a:buNone/>
            </a:pPr>
            <a:r>
              <a:rPr lang="en-US" sz="1300" dirty="0">
                <a:solidFill>
                  <a:srgbClr val="9FB3C8"/>
                </a:solidFill>
                <a:latin typeface="Calibri" pitchFamily="34" charset="0"/>
                <a:ea typeface="Calibri" pitchFamily="34" charset="-122"/>
                <a:cs typeface="Calibri" pitchFamily="34" charset="-120"/>
              </a:rPr>
              <a:t>Thirty lines gives you @Timed. The rest is edge cases.</a:t>
            </a:r>
            <a:endParaRPr lang="en-US" sz="1300" dirty="0"/>
          </a:p>
        </p:txBody>
      </p:sp>
      <p:sp>
        <p:nvSpPr>
          <p:cNvPr id="15" name="Shape 13"/>
          <p:cNvSpPr/>
          <p:nvPr/>
        </p:nvSpPr>
        <p:spPr>
          <a:xfrm>
            <a:off x="640080" y="4251960"/>
            <a:ext cx="4754880" cy="502920"/>
          </a:xfrm>
          <a:prstGeom prst="roundRect">
            <a:avLst>
              <a:gd name="adj" fmla="val 18182"/>
            </a:avLst>
          </a:prstGeom>
          <a:solidFill>
            <a:srgbClr val="2F9E44"/>
          </a:solidFill>
          <a:ln/>
        </p:spPr>
      </p:sp>
      <p:sp>
        <p:nvSpPr>
          <p:cNvPr id="16" name="Text 14"/>
          <p:cNvSpPr txBox="1"/>
          <p:nvPr/>
        </p:nvSpPr>
        <p:spPr>
          <a:xfrm>
            <a:off x="640080" y="4251960"/>
            <a:ext cx="4754880" cy="502920"/>
          </a:xfrm>
          <a:prstGeom prst="rect">
            <a:avLst/>
          </a:prstGeom>
          <a:noFill/>
          <a:ln/>
        </p:spPr>
        <p:txBody>
          <a:bodyPr wrap="square" lIns="0" tIns="0" rIns="0" bIns="0" rtlCol="0" anchor="ctr"/>
          <a:lstStyle/>
          <a:p>
            <a:pPr algn="ctr" indent="0" marL="0">
              <a:buNone/>
            </a:pPr>
            <a:r>
              <a:rPr lang="en-US" sz="1300" dirty="0">
                <a:solidFill>
                  <a:srgbClr val="FFFFFF"/>
                </a:solidFill>
                <a:latin typeface="Courier New" pitchFamily="34" charset="0"/>
                <a:ea typeface="Courier New" pitchFamily="34" charset="-122"/>
                <a:cs typeface="Courier New" pitchFamily="34" charset="-120"/>
              </a:rPr>
              <a:t>github.com/ELMAALMIA/minispring</a:t>
            </a:r>
            <a:endParaRPr lang="en-US" sz="1300" dirty="0"/>
          </a:p>
        </p:txBody>
      </p:sp>
      <p:sp>
        <p:nvSpPr>
          <p:cNvPr id="17" name="Text 15"/>
          <p:cNvSpPr txBox="1"/>
          <p:nvPr/>
        </p:nvSpPr>
        <p:spPr>
          <a:xfrm>
            <a:off x="5577840" y="4315968"/>
            <a:ext cx="3108960" cy="411480"/>
          </a:xfrm>
          <a:prstGeom prst="rect">
            <a:avLst/>
          </a:prstGeom>
          <a:noFill/>
          <a:ln/>
        </p:spPr>
        <p:txBody>
          <a:bodyPr wrap="square" lIns="0" tIns="0" rIns="0" bIns="0" rtlCol="0" anchor="ctr"/>
          <a:lstStyle/>
          <a:p>
            <a:pPr indent="0" marL="0">
              <a:buNone/>
            </a:pPr>
            <a:r>
              <a:rPr lang="en-US" sz="1200" dirty="0">
                <a:solidFill>
                  <a:srgbClr val="9FB3C8"/>
                </a:solidFill>
                <a:latin typeface="Calibri" pitchFamily="34" charset="0"/>
                <a:ea typeface="Calibri" pitchFamily="34" charset="-122"/>
                <a:cs typeface="Calibri" pitchFamily="34" charset="-120"/>
              </a:rPr>
              <a:t>Read it commit by commit: one concept each, all green.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Spring is not magic</dc:title>
  <dc:subject>PptxGenJS Presentation</dc:subject>
  <dc:creator>Ayoub EL Maalmi</dc:creator>
  <cp:lastModifiedBy>Ayoub EL Maalmi</cp:lastModifiedBy>
  <cp:revision>1</cp:revision>
  <dcterms:created xsi:type="dcterms:W3CDTF">2026-09-27T12:40:13Z</dcterms:created>
  <dcterms:modified xsi:type="dcterms:W3CDTF">2026-09-27T12:40:13Z</dcterms:modified>
</cp:coreProperties>
</file>